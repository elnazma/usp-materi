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webp" ContentType="image/webp"/>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414" r:id="rId3"/>
    <p:sldId id="416" r:id="rId4"/>
    <p:sldId id="415" r:id="rId5"/>
    <p:sldId id="391" r:id="rId6"/>
    <p:sldId id="392" r:id="rId7"/>
    <p:sldId id="294" r:id="rId8"/>
    <p:sldId id="412" r:id="rId9"/>
    <p:sldId id="298" r:id="rId10"/>
    <p:sldId id="299" r:id="rId11"/>
    <p:sldId id="301" r:id="rId12"/>
    <p:sldId id="401" r:id="rId13"/>
    <p:sldId id="403" r:id="rId14"/>
    <p:sldId id="402" r:id="rId15"/>
    <p:sldId id="404" r:id="rId16"/>
    <p:sldId id="405" r:id="rId17"/>
    <p:sldId id="399" r:id="rId18"/>
    <p:sldId id="400" r:id="rId19"/>
    <p:sldId id="410" r:id="rId20"/>
    <p:sldId id="293" r:id="rId21"/>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0" userDrawn="1">
          <p15:clr>
            <a:srgbClr val="A4A3A4"/>
          </p15:clr>
        </p15:guide>
        <p15:guide id="2" pos="449" userDrawn="1">
          <p15:clr>
            <a:srgbClr val="A4A3A4"/>
          </p15:clr>
        </p15:guide>
        <p15:guide id="3" orient="horz" pos="2616" userDrawn="1">
          <p15:clr>
            <a:srgbClr val="A4A3A4"/>
          </p15:clr>
        </p15:guide>
        <p15:guide id="4" orient="horz" pos="3264" userDrawn="1">
          <p15:clr>
            <a:srgbClr val="A4A3A4"/>
          </p15:clr>
        </p15:guide>
        <p15:guide id="5" pos="6894" userDrawn="1">
          <p15:clr>
            <a:srgbClr val="A4A3A4"/>
          </p15:clr>
        </p15:guide>
        <p15:guide id="6" orient="horz" pos="2160" userDrawn="1">
          <p15:clr>
            <a:srgbClr val="A4A3A4"/>
          </p15:clr>
        </p15:guide>
        <p15:guide id="7" orient="horz" pos="3968" userDrawn="1">
          <p15:clr>
            <a:srgbClr val="A4A3A4"/>
          </p15:clr>
        </p15:guide>
        <p15:guide id="8" orient="horz" pos="1141" userDrawn="1">
          <p15:clr>
            <a:srgbClr val="A4A3A4"/>
          </p15:clr>
        </p15:guide>
        <p15:guide id="9" orient="horz" pos="2325" userDrawn="1">
          <p15:clr>
            <a:srgbClr val="A4A3A4"/>
          </p15:clr>
        </p15:guide>
        <p15:guide id="10" orient="horz" pos="1575"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094" userDrawn="1">
          <p15:clr>
            <a:srgbClr val="A4A3A4"/>
          </p15:clr>
        </p15:guide>
        <p15:guide id="16" pos="2738" userDrawn="1">
          <p15:clr>
            <a:srgbClr val="A4A3A4"/>
          </p15:clr>
        </p15:guide>
        <p15:guide id="17" pos="3264" userDrawn="1">
          <p15:clr>
            <a:srgbClr val="A4A3A4"/>
          </p15:clr>
        </p15:guide>
        <p15:guide id="18" pos="405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88" userDrawn="1">
          <p15:clr>
            <a:srgbClr val="A4A3A4"/>
          </p15:clr>
        </p15:guide>
        <p15:guide id="24" orient="horz" pos="960" userDrawn="1">
          <p15:clr>
            <a:srgbClr val="A4A3A4"/>
          </p15:clr>
        </p15:guide>
        <p15:guide id="25" pos="5273" userDrawn="1">
          <p15:clr>
            <a:srgbClr val="A4A3A4"/>
          </p15:clr>
        </p15:guide>
        <p15:guide id="26" pos="72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09" autoAdjust="0"/>
  </p:normalViewPr>
  <p:slideViewPr>
    <p:cSldViewPr snapToGrid="0" snapToObjects="1" showGuides="1">
      <p:cViewPr>
        <p:scale>
          <a:sx n="51" d="100"/>
          <a:sy n="51" d="100"/>
        </p:scale>
        <p:origin x="1220" y="376"/>
      </p:cViewPr>
      <p:guideLst>
        <p:guide/>
        <p:guide pos="449"/>
        <p:guide orient="horz" pos="2616"/>
        <p:guide orient="horz" pos="3264"/>
        <p:guide pos="6894"/>
        <p:guide orient="horz" pos="2160"/>
        <p:guide orient="horz" pos="3968"/>
        <p:guide orient="horz" pos="1141"/>
        <p:guide orient="horz" pos="2325"/>
        <p:guide orient="horz" pos="1575"/>
        <p:guide pos="7680"/>
        <p:guide pos="6696"/>
        <p:guide pos="1008"/>
        <p:guide pos="1584"/>
        <p:guide pos="2094"/>
        <p:guide pos="2738"/>
        <p:guide pos="3264"/>
        <p:guide pos="4052"/>
        <p:guide pos="4392"/>
        <p:guide pos="4944"/>
        <p:guide pos="5544"/>
        <p:guide pos="6072"/>
        <p:guide orient="horz" pos="2488"/>
        <p:guide orient="horz" pos="960"/>
        <p:guide pos="5273"/>
        <p:guide pos="72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8" name="Freeform: Shape 17"/>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p:cNvGrpSpPr/>
          <p:nvPr userDrawn="1"/>
        </p:nvGrpSpPr>
        <p:grpSpPr>
          <a:xfrm>
            <a:off x="6452303" y="3405019"/>
            <a:ext cx="5739697" cy="3467971"/>
            <a:chOff x="5009037" y="2525712"/>
            <a:chExt cx="7170193" cy="4332288"/>
          </a:xfrm>
        </p:grpSpPr>
        <p:sp>
          <p:nvSpPr>
            <p:cNvPr id="7" name="Freeform 7"/>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noAutofit/>
            </a:bodyPr>
            <a:lstStyle/>
            <a:p>
              <a:endParaRPr lang="en-US" dirty="0"/>
            </a:p>
          </p:txBody>
        </p:sp>
        <p:sp>
          <p:nvSpPr>
            <p:cNvPr id="8" name="Freeform 6"/>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noAutofit/>
            </a:bodyPr>
            <a:lstStyle/>
            <a:p>
              <a:endParaRPr lang="en-US" dirty="0"/>
            </a:p>
          </p:txBody>
        </p:sp>
      </p:grpSp>
      <p:grpSp>
        <p:nvGrpSpPr>
          <p:cNvPr id="9" name="Group 8"/>
          <p:cNvGrpSpPr/>
          <p:nvPr userDrawn="1"/>
        </p:nvGrpSpPr>
        <p:grpSpPr>
          <a:xfrm flipH="1" flipV="1">
            <a:off x="6465610" y="0"/>
            <a:ext cx="5739697" cy="3467971"/>
            <a:chOff x="5183405" y="2678112"/>
            <a:chExt cx="7170193" cy="4332288"/>
          </a:xfrm>
        </p:grpSpPr>
        <p:sp>
          <p:nvSpPr>
            <p:cNvPr id="10" name="Freeform 7"/>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noAutofit/>
            </a:bodyPr>
            <a:lstStyle/>
            <a:p>
              <a:endParaRPr lang="en-US" dirty="0"/>
            </a:p>
          </p:txBody>
        </p:sp>
        <p:sp>
          <p:nvSpPr>
            <p:cNvPr id="11" name="Freeform 6"/>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noAutofit/>
            </a:bodyPr>
            <a:lstStyle/>
            <a:p>
              <a:endParaRPr lang="en-US" dirty="0"/>
            </a:p>
          </p:txBody>
        </p:sp>
      </p:grpSp>
      <p:sp>
        <p:nvSpPr>
          <p:cNvPr id="14" name="Image 2" descr="preencoded.png"/>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345">
              <a:lnSpc>
                <a:spcPct val="150000"/>
              </a:lnSpc>
              <a:spcBef>
                <a:spcPts val="0"/>
              </a:spcBef>
              <a:defRPr sz="2000"/>
            </a:lvl2pPr>
            <a:lvl3pPr marL="685800">
              <a:lnSpc>
                <a:spcPct val="150000"/>
              </a:lnSpc>
              <a:spcBef>
                <a:spcPts val="0"/>
              </a:spcBef>
              <a:defRPr sz="1800"/>
            </a:lvl3pPr>
          </a:lstStyle>
          <a:p>
            <a:pPr lvl="0"/>
            <a:r>
              <a:rPr lang="en-US"/>
              <a:t>Click to edit Master text styles</a:t>
            </a:r>
            <a:endParaRPr lang="en-US"/>
          </a:p>
          <a:p>
            <a:pPr lvl="1"/>
            <a:r>
              <a:rPr lang="en-US"/>
              <a:t>Second level</a:t>
            </a:r>
            <a:endParaRPr lang="en-US"/>
          </a:p>
          <a:p>
            <a:pPr lvl="2"/>
            <a:r>
              <a:rPr lang="en-US"/>
              <a:t>Third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0" name="Freeform: Shape 19"/>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4" name="Freeform: Shape 13"/>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fld>
            <a:endParaRPr lang="en-US" dirty="0"/>
          </a:p>
        </p:txBody>
      </p:sp>
      <p:sp>
        <p:nvSpPr>
          <p:cNvPr id="17" name="Freeform: Shape 16"/>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6" name="Freeform: Shape 45"/>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43" name="Freeform: Shape 42"/>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49" name="Freeform: Shape 48"/>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40" name="Freeform: Shape 39"/>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37" name="Freeform: Shape 36"/>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endParaRPr lang="en-US" dirty="0"/>
          </a:p>
        </p:txBody>
      </p:sp>
      <p:sp>
        <p:nvSpPr>
          <p:cNvPr id="55" name="Text Placeholder 54"/>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endParaRPr lang="en-US"/>
          </a:p>
        </p:txBody>
      </p:sp>
      <p:sp>
        <p:nvSpPr>
          <p:cNvPr id="56" name="Text Placeholder 54"/>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endParaRPr lang="en-US" dirty="0"/>
          </a:p>
        </p:txBody>
      </p:sp>
      <p:sp>
        <p:nvSpPr>
          <p:cNvPr id="32" name="Image 1" descr="preencoded.png"/>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noAutofit/>
          </a:bodyPr>
          <a:lstStyle/>
          <a:p>
            <a:endParaRPr lang="en-US" dirty="0"/>
          </a:p>
        </p:txBody>
      </p:sp>
      <p:sp>
        <p:nvSpPr>
          <p:cNvPr id="31" name="Freeform 70"/>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17" name="Picture Placeholder 16"/>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1" name="Text Placeholder 20"/>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endParaRPr lang="en-US" dirty="0"/>
          </a:p>
        </p:txBody>
      </p:sp>
      <p:sp>
        <p:nvSpPr>
          <p:cNvPr id="23" name="Picture Placeholder 16"/>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4" name="Text Placeholder 20"/>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endParaRPr lang="en-US" dirty="0"/>
          </a:p>
        </p:txBody>
      </p:sp>
      <p:sp>
        <p:nvSpPr>
          <p:cNvPr id="26" name="Picture Placeholder 16"/>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7" name="Text Placeholder 20"/>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endParaRPr lang="en-US" dirty="0"/>
          </a:p>
        </p:txBody>
      </p:sp>
      <p:sp>
        <p:nvSpPr>
          <p:cNvPr id="29" name="Picture Placeholder 16"/>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0" name="Text Placeholder 20"/>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17" name="Picture Placeholder 16"/>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1" name="Text Placeholder 20"/>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0" name="Picture Placeholder 16"/>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15" name="Text Placeholder 20"/>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23" name="Picture Placeholder 16"/>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4" name="Text Placeholder 20"/>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1" name="Picture Placeholder 16"/>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18" name="Text Placeholder 20"/>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26" name="Picture Placeholder 16"/>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7" name="Text Placeholder 20"/>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2" name="Picture Placeholder 16"/>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1" name="Text Placeholder 20"/>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29" name="Picture Placeholder 16"/>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0" name="Text Placeholder 20"/>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3" name="Picture Placeholder 16"/>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3" name="Text Placeholder 20"/>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46" name="Text Placeholder 2"/>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4" name="Picture Placeholder 62"/>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47" name="Text Placeholder 4"/>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8" name="Picture Placeholder 62"/>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48" name="Text Placeholder 4"/>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7" name="Picture Placeholder 62"/>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49" name="Text Placeholder 4"/>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6" name="Picture Placeholder 62"/>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50" name="Text Placeholder 4"/>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5" name="Picture Placeholder 62"/>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noAutofit/>
          </a:bodyPr>
          <a:lstStyle/>
          <a:p>
            <a:pPr lvl="0"/>
            <a:endParaRPr lang="en-US" dirty="0"/>
          </a:p>
        </p:txBody>
      </p:sp>
      <p:sp>
        <p:nvSpPr>
          <p:cNvPr id="26" name="Freeform: Shape 25"/>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6" name="Freeform: Shape 15"/>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 name="Title 1"/>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sp>
        <p:nvSpPr>
          <p:cNvPr id="30" name="Image 2" descr="preencoded.png"/>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2" name="Text Placeholder 4"/>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3" name="Text Placeholder 4"/>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4" name="Text Placeholder 4"/>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5" name="Text Placeholder 4"/>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6" name="Text Placeholder 51"/>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37" name="Text Placeholder 51"/>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38" name="Text Placeholder 51"/>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39" name="Text Placeholder 51"/>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40" name="Text Placeholder 51"/>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cxnSp>
        <p:nvCxnSpPr>
          <p:cNvPr id="42" name="Straight Connector 41"/>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1703311" y="-2784"/>
            <a:ext cx="1734410" cy="5167313"/>
          </a:xfrm>
          <a:prstGeom prst="rect">
            <a:avLst/>
          </a:prstGeom>
        </p:spPr>
      </p:pic>
      <p:sp>
        <p:nvSpPr>
          <p:cNvPr id="39" name="Freeform: Shape 38"/>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p:cNvPicPr>
            <a:picLocks noChangeAspect="1"/>
          </p:cNvPicPr>
          <p:nvPr userDrawn="1"/>
        </p:nvPicPr>
        <p:blipFill>
          <a:blip r:embed="rId4" cstate="screen">
            <a:extLst>
              <a:ext uri="{96DAC541-7B7A-43D3-8B79-37D633B846F1}">
                <asvg:svgBlip xmlns:asvg="http://schemas.microsoft.com/office/drawing/2016/SVG/main" r:embed="rId5"/>
              </a:ext>
            </a:extLst>
          </a:blip>
          <a:srcRect/>
          <a:stretch>
            <a:fill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46" name="Text Placeholder 2"/>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4" name="Picture Placeholder 62"/>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p:cNvSpPr>
            <a:spLocks noGrp="1"/>
          </p:cNvSpPr>
          <p:nvPr>
            <p:ph type="body" sz="quarter" idx="18"/>
          </p:nvPr>
        </p:nvSpPr>
        <p:spPr>
          <a:xfrm>
            <a:off x="992124" y="3950208"/>
            <a:ext cx="2770632" cy="2206752"/>
          </a:xfrm>
          <a:noFill/>
        </p:spPr>
        <p:txBody>
          <a:bodyPr lIns="91440" rIns="91440" anchor="t">
            <a:noAutofit/>
          </a:bodyPr>
          <a:lstStyle>
            <a:lvl1pPr marL="347345" indent="-347345" algn="l">
              <a:spcBef>
                <a:spcPts val="360"/>
              </a:spcBef>
              <a:buFont typeface="Arial" panose="020B0604020202020204" pitchFamily="34" charset="0"/>
              <a:buChar char="•"/>
              <a:defRPr sz="1500"/>
            </a:lvl1pPr>
          </a:lstStyle>
          <a:p>
            <a:pPr lvl="0"/>
            <a:r>
              <a:rPr lang="en-US"/>
              <a:t>Click to edit Master text styles</a:t>
            </a:r>
            <a:endParaRPr lang="en-US"/>
          </a:p>
        </p:txBody>
      </p:sp>
      <p:sp>
        <p:nvSpPr>
          <p:cNvPr id="49" name="Text Placeholder 4"/>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6" name="Picture Placeholder 62"/>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p:cNvSpPr>
            <a:spLocks noGrp="1"/>
          </p:cNvSpPr>
          <p:nvPr>
            <p:ph type="body" sz="quarter" idx="21"/>
          </p:nvPr>
        </p:nvSpPr>
        <p:spPr>
          <a:xfrm>
            <a:off x="4722876" y="3950208"/>
            <a:ext cx="2770632" cy="2206752"/>
          </a:xfrm>
          <a:noFill/>
        </p:spPr>
        <p:txBody>
          <a:bodyPr lIns="91440" rIns="91440" anchor="t">
            <a:noAutofit/>
          </a:bodyPr>
          <a:lstStyle>
            <a:lvl1pPr marL="347345" indent="-347345" algn="l">
              <a:spcBef>
                <a:spcPts val="360"/>
              </a:spcBef>
              <a:buFont typeface="Arial" panose="020B0604020202020204" pitchFamily="34" charset="0"/>
              <a:buChar char="•"/>
              <a:defRPr sz="1500"/>
            </a:lvl1pPr>
          </a:lstStyle>
          <a:p>
            <a:pPr lvl="0"/>
            <a:r>
              <a:rPr lang="en-US"/>
              <a:t>Click to edit Master text styles</a:t>
            </a:r>
            <a:endParaRPr lang="en-US"/>
          </a:p>
        </p:txBody>
      </p:sp>
      <p:sp>
        <p:nvSpPr>
          <p:cNvPr id="50" name="Text Placeholder 4"/>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5" name="Picture Placeholder 62"/>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p:cNvSpPr>
            <a:spLocks noGrp="1"/>
          </p:cNvSpPr>
          <p:nvPr>
            <p:ph type="body" sz="quarter" idx="22"/>
          </p:nvPr>
        </p:nvSpPr>
        <p:spPr>
          <a:xfrm>
            <a:off x="8371332" y="3950208"/>
            <a:ext cx="2770632" cy="2206752"/>
          </a:xfrm>
          <a:noFill/>
        </p:spPr>
        <p:txBody>
          <a:bodyPr lIns="91440" rIns="91440" anchor="t">
            <a:noAutofit/>
          </a:bodyPr>
          <a:lstStyle>
            <a:lvl1pPr marL="347345" indent="-347345" algn="l">
              <a:spcBef>
                <a:spcPts val="360"/>
              </a:spcBef>
              <a:buFont typeface="Arial" panose="020B0604020202020204" pitchFamily="34" charset="0"/>
              <a:buChar char="•"/>
              <a:defRPr sz="1500"/>
            </a:lvl1pPr>
          </a:lstStyle>
          <a:p>
            <a:pPr lvl="0"/>
            <a:r>
              <a:rPr lang="en-US"/>
              <a:t>Click to edit Master text styles</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9991886" y="3441269"/>
            <a:ext cx="2200114" cy="2200114"/>
          </a:xfrm>
          <a:prstGeom prst="rect">
            <a:avLst/>
          </a:prstGeom>
        </p:spPr>
      </p:pic>
      <p:sp>
        <p:nvSpPr>
          <p:cNvPr id="54" name="Image 2" descr="preencoded.png"/>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fld>
            <a:endParaRPr lang="en-US" dirty="0"/>
          </a:p>
        </p:txBody>
      </p:sp>
      <p:sp>
        <p:nvSpPr>
          <p:cNvPr id="4" name="Footer Placeholder 3"/>
          <p:cNvSpPr>
            <a:spLocks noGrp="1"/>
          </p:cNvSpPr>
          <p:nvPr>
            <p:ph type="ftr" sz="quarter" idx="13"/>
          </p:nvPr>
        </p:nvSpPr>
        <p:spPr/>
        <p:txBody>
          <a:bodyPr/>
          <a:lstStyle/>
          <a:p>
            <a:r>
              <a:rPr lang="en-US"/>
              <a:t>Presentation title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9" name="Freeform: Shape 18" descr="preencoded.png"/>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5"/>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1703311" y="-2784"/>
            <a:ext cx="1734410" cy="5167313"/>
          </a:xfrm>
          <a:prstGeom prst="rect">
            <a:avLst/>
          </a:prstGeom>
        </p:spPr>
      </p:pic>
      <p:sp>
        <p:nvSpPr>
          <p:cNvPr id="13" name="Freeform: Shape 12"/>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p:cNvPicPr>
            <a:picLocks noChangeAspect="1"/>
          </p:cNvPicPr>
          <p:nvPr userDrawn="1"/>
        </p:nvPicPr>
        <p:blipFill>
          <a:blip r:embed="rId4" cstate="screen">
            <a:extLst>
              <a:ext uri="{96DAC541-7B7A-43D3-8B79-37D633B846F1}">
                <asvg:svgBlip xmlns:asvg="http://schemas.microsoft.com/office/drawing/2016/SVG/main" r:embed="rId5"/>
              </a:ext>
            </a:extLst>
          </a:blip>
          <a:srcRect/>
          <a:stretch>
            <a:fill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
        <p:nvSpPr>
          <p:cNvPr id="18" name="Title 19"/>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0" name="Content Placeholder 5"/>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9" name="Freeform: Shape 8"/>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8" name="Freeform: Shape 7"/>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345" indent="-347345"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345"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345"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345"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345"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web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1236980" y="1326515"/>
            <a:ext cx="10696575" cy="1649095"/>
          </a:xfrm>
        </p:spPr>
        <p:txBody>
          <a:bodyPr/>
          <a:p>
            <a:r>
              <a:rPr lang="ms-MY" spc="-5" dirty="0">
                <a:solidFill>
                  <a:srgbClr val="231F20"/>
                </a:solidFill>
                <a:latin typeface="Times New Roman" panose="02020603050405020304" pitchFamily="18" charset="0"/>
                <a:ea typeface="Times New Roman" panose="02020603050405020304" pitchFamily="18" charset="0"/>
                <a:sym typeface="+mn-ea"/>
              </a:rPr>
              <a:t>d. Ruang</a:t>
            </a:r>
            <a:r>
              <a:rPr lang="ms-MY" spc="65" dirty="0">
                <a:solidFill>
                  <a:srgbClr val="231F20"/>
                </a:solidFill>
                <a:latin typeface="Times New Roman" panose="02020603050405020304" pitchFamily="18" charset="0"/>
                <a:ea typeface="Times New Roman" panose="02020603050405020304" pitchFamily="18" charset="0"/>
                <a:sym typeface="+mn-ea"/>
              </a:rPr>
              <a:t> </a:t>
            </a:r>
            <a:r>
              <a:rPr lang="ms-MY" spc="-5" dirty="0">
                <a:solidFill>
                  <a:srgbClr val="231F20"/>
                </a:solidFill>
                <a:latin typeface="Times New Roman" panose="02020603050405020304" pitchFamily="18" charset="0"/>
                <a:ea typeface="Times New Roman" panose="02020603050405020304" pitchFamily="18" charset="0"/>
                <a:sym typeface="+mn-ea"/>
              </a:rPr>
              <a:t>Lingkup</a:t>
            </a:r>
            <a:r>
              <a:rPr lang="ms-MY" spc="70" dirty="0">
                <a:solidFill>
                  <a:srgbClr val="231F20"/>
                </a:solidFill>
                <a:latin typeface="Times New Roman" panose="02020603050405020304" pitchFamily="18" charset="0"/>
                <a:ea typeface="Times New Roman" panose="02020603050405020304" pitchFamily="18" charset="0"/>
                <a:sym typeface="+mn-ea"/>
              </a:rPr>
              <a:t> </a:t>
            </a:r>
            <a:r>
              <a:rPr lang="ms-MY" spc="-5" dirty="0">
                <a:solidFill>
                  <a:srgbClr val="231F20"/>
                </a:solidFill>
                <a:latin typeface="Times New Roman" panose="02020603050405020304" pitchFamily="18" charset="0"/>
                <a:ea typeface="Times New Roman" panose="02020603050405020304" pitchFamily="18" charset="0"/>
                <a:sym typeface="+mn-ea"/>
              </a:rPr>
              <a:t>Pendidikan</a:t>
            </a:r>
            <a:r>
              <a:rPr lang="ms-MY" spc="65" dirty="0">
                <a:solidFill>
                  <a:srgbClr val="231F20"/>
                </a:solidFill>
                <a:latin typeface="Times New Roman" panose="02020603050405020304" pitchFamily="18" charset="0"/>
                <a:ea typeface="Times New Roman" panose="02020603050405020304" pitchFamily="18" charset="0"/>
                <a:sym typeface="+mn-ea"/>
              </a:rPr>
              <a:t> </a:t>
            </a:r>
            <a:r>
              <a:rPr lang="ms-MY" spc="-5" dirty="0">
                <a:solidFill>
                  <a:srgbClr val="231F20"/>
                </a:solidFill>
                <a:latin typeface="Times New Roman" panose="02020603050405020304" pitchFamily="18" charset="0"/>
                <a:ea typeface="Times New Roman" panose="02020603050405020304" pitchFamily="18" charset="0"/>
                <a:sym typeface="+mn-ea"/>
              </a:rPr>
              <a:t>Agama</a:t>
            </a:r>
            <a:r>
              <a:rPr lang="ms-MY" spc="70" dirty="0">
                <a:solidFill>
                  <a:srgbClr val="231F20"/>
                </a:solidFill>
                <a:latin typeface="Times New Roman" panose="02020603050405020304" pitchFamily="18" charset="0"/>
                <a:ea typeface="Times New Roman" panose="02020603050405020304" pitchFamily="18" charset="0"/>
                <a:sym typeface="+mn-ea"/>
              </a:rPr>
              <a:t> </a:t>
            </a:r>
            <a:r>
              <a:rPr lang="ms-MY" spc="-5" dirty="0">
                <a:solidFill>
                  <a:srgbClr val="231F20"/>
                </a:solidFill>
                <a:latin typeface="Times New Roman" panose="02020603050405020304" pitchFamily="18" charset="0"/>
                <a:ea typeface="Times New Roman" panose="02020603050405020304" pitchFamily="18" charset="0"/>
                <a:sym typeface="+mn-ea"/>
              </a:rPr>
              <a:t>Islam	</a:t>
            </a:r>
            <a:br>
              <a:rPr lang="en-US" spc="-5" dirty="0">
                <a:effectLst/>
                <a:latin typeface="Times New Roman" panose="02020603050405020304" pitchFamily="18" charset="0"/>
                <a:ea typeface="Times New Roman" panose="02020603050405020304" pitchFamily="18" charset="0"/>
                <a:sym typeface="+mn-ea"/>
              </a:rPr>
            </a:br>
            <a:r>
              <a:rPr lang="ms-MY" spc="-5" dirty="0">
                <a:solidFill>
                  <a:srgbClr val="231F20"/>
                </a:solidFill>
                <a:latin typeface="Times New Roman" panose="02020603050405020304" pitchFamily="18" charset="0"/>
                <a:ea typeface="Times New Roman" panose="02020603050405020304" pitchFamily="18" charset="0"/>
                <a:sym typeface="+mn-ea"/>
              </a:rPr>
              <a:t>e. Peran</a:t>
            </a:r>
            <a:r>
              <a:rPr lang="ms-MY" spc="-75" dirty="0">
                <a:solidFill>
                  <a:srgbClr val="231F20"/>
                </a:solidFill>
                <a:latin typeface="Times New Roman" panose="02020603050405020304" pitchFamily="18" charset="0"/>
                <a:ea typeface="Times New Roman" panose="02020603050405020304" pitchFamily="18" charset="0"/>
                <a:sym typeface="+mn-ea"/>
              </a:rPr>
              <a:t> </a:t>
            </a:r>
            <a:r>
              <a:rPr lang="ms-MY" spc="-5" dirty="0">
                <a:solidFill>
                  <a:srgbClr val="231F20"/>
                </a:solidFill>
                <a:latin typeface="Times New Roman" panose="02020603050405020304" pitchFamily="18" charset="0"/>
                <a:ea typeface="Times New Roman" panose="02020603050405020304" pitchFamily="18" charset="0"/>
                <a:sym typeface="+mn-ea"/>
              </a:rPr>
              <a:t>Pendidikan</a:t>
            </a:r>
            <a:r>
              <a:rPr lang="ms-MY" spc="-75" dirty="0">
                <a:solidFill>
                  <a:srgbClr val="231F20"/>
                </a:solidFill>
                <a:latin typeface="Times New Roman" panose="02020603050405020304" pitchFamily="18" charset="0"/>
                <a:ea typeface="Times New Roman" panose="02020603050405020304" pitchFamily="18" charset="0"/>
                <a:sym typeface="+mn-ea"/>
              </a:rPr>
              <a:t> </a:t>
            </a:r>
            <a:r>
              <a:rPr lang="ms-MY" spc="-5" dirty="0">
                <a:solidFill>
                  <a:srgbClr val="231F20"/>
                </a:solidFill>
                <a:latin typeface="Times New Roman" panose="02020603050405020304" pitchFamily="18" charset="0"/>
                <a:ea typeface="Times New Roman" panose="02020603050405020304" pitchFamily="18" charset="0"/>
                <a:sym typeface="+mn-ea"/>
              </a:rPr>
              <a:t>Agama</a:t>
            </a:r>
            <a:r>
              <a:rPr lang="ms-MY" spc="-70" dirty="0">
                <a:solidFill>
                  <a:srgbClr val="231F20"/>
                </a:solidFill>
                <a:latin typeface="Times New Roman" panose="02020603050405020304" pitchFamily="18" charset="0"/>
                <a:ea typeface="Times New Roman" panose="02020603050405020304" pitchFamily="18" charset="0"/>
                <a:sym typeface="+mn-ea"/>
              </a:rPr>
              <a:t> </a:t>
            </a:r>
            <a:r>
              <a:rPr lang="ms-MY" spc="-5" dirty="0">
                <a:solidFill>
                  <a:srgbClr val="231F20"/>
                </a:solidFill>
                <a:latin typeface="Times New Roman" panose="02020603050405020304" pitchFamily="18" charset="0"/>
                <a:ea typeface="Times New Roman" panose="02020603050405020304" pitchFamily="18" charset="0"/>
                <a:sym typeface="+mn-ea"/>
              </a:rPr>
              <a:t>Islam	</a:t>
            </a:r>
            <a:br>
              <a:rPr lang="en-US" spc="-5" dirty="0">
                <a:effectLst/>
                <a:latin typeface="Times New Roman" panose="02020603050405020304" pitchFamily="18" charset="0"/>
                <a:ea typeface="Times New Roman" panose="02020603050405020304" pitchFamily="18" charset="0"/>
                <a:sym typeface="+mn-ea"/>
              </a:rPr>
            </a:br>
            <a:endParaRPr lang="en-US"/>
          </a:p>
        </p:txBody>
      </p:sp>
      <p:sp>
        <p:nvSpPr>
          <p:cNvPr id="8" name="Text Placeholder 7"/>
          <p:cNvSpPr>
            <a:spLocks noGrp="1"/>
          </p:cNvSpPr>
          <p:nvPr>
            <p:ph type="body" sz="quarter" idx="13"/>
          </p:nvPr>
        </p:nvSpPr>
        <p:spPr/>
        <p:txBody>
          <a:bodyPr/>
          <a:p>
            <a:r>
              <a:rPr lang="en-US"/>
              <a:t>Materi MKU PAI  pertemuan ke 2</a:t>
            </a:r>
            <a:endParaRPr lang="en-US"/>
          </a:p>
        </p:txBody>
      </p:sp>
      <p:sp>
        <p:nvSpPr>
          <p:cNvPr id="4" name="Footer Placeholder 3"/>
          <p:cNvSpPr>
            <a:spLocks noGrp="1"/>
          </p:cNvSpPr>
          <p:nvPr>
            <p:ph type="ftr" sz="quarter" idx="4294967295"/>
          </p:nvPr>
        </p:nvSpPr>
        <p:spPr>
          <a:xfrm>
            <a:off x="0" y="457200"/>
            <a:ext cx="3200400" cy="274320"/>
          </a:xfrm>
        </p:spPr>
        <p:txBody>
          <a:bodyPr/>
          <a:p>
            <a:r>
              <a:rPr lang="en-US"/>
              <a:t>Presentation title</a:t>
            </a:r>
            <a:endParaRPr lang="en-US" dirty="0"/>
          </a:p>
        </p:txBody>
      </p:sp>
      <p:sp>
        <p:nvSpPr>
          <p:cNvPr id="5" name="Slide Number Placeholder 4"/>
          <p:cNvSpPr>
            <a:spLocks noGrp="1"/>
          </p:cNvSpPr>
          <p:nvPr>
            <p:ph type="sldNum" sz="quarter" idx="12"/>
          </p:nvPr>
        </p:nvSpPr>
        <p:spPr/>
        <p:txBody>
          <a:bodyPr/>
          <a:p>
            <a:fld id="{48F63A3B-78C7-47BE-AE5E-E10140E04643}" type="slidenum">
              <a:rPr lang="en-US" smtClean="0"/>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719455" y="1238885"/>
            <a:ext cx="10052685" cy="4545330"/>
          </a:xfrm>
          <a:prstGeom prst="rect">
            <a:avLst/>
          </a:prstGeom>
        </p:spPr>
      </p:pic>
      <p:pic>
        <p:nvPicPr>
          <p:cNvPr id="5" name="Picture 4"/>
          <p:cNvPicPr>
            <a:picLocks noChangeAspect="1"/>
          </p:cNvPicPr>
          <p:nvPr/>
        </p:nvPicPr>
        <p:blipFill>
          <a:blip r:embed="rId2"/>
          <a:stretch>
            <a:fillRect/>
          </a:stretch>
        </p:blipFill>
        <p:spPr>
          <a:xfrm>
            <a:off x="1918970" y="374015"/>
            <a:ext cx="7517130" cy="5454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30860" y="797560"/>
            <a:ext cx="10687685" cy="5095240"/>
          </a:xfrm>
        </p:spPr>
        <p:txBody>
          <a:bodyPr/>
          <a:p>
            <a:pPr indent="457200"/>
            <a:r>
              <a:rPr lang="ms-MY" sz="2800" b="1" spc="-5" dirty="0">
                <a:solidFill>
                  <a:srgbClr val="231F20"/>
                </a:solidFill>
                <a:latin typeface="Times New Roman" panose="02020603050405020304" pitchFamily="18" charset="0"/>
                <a:ea typeface="Times New Roman" panose="02020603050405020304" pitchFamily="18" charset="0"/>
                <a:sym typeface="+mn-ea"/>
              </a:rPr>
              <a:t>d. Ruang</a:t>
            </a:r>
            <a:r>
              <a:rPr lang="ms-MY" sz="2800" b="1" spc="65" dirty="0">
                <a:solidFill>
                  <a:srgbClr val="231F20"/>
                </a:solidFill>
                <a:latin typeface="Times New Roman" panose="02020603050405020304" pitchFamily="18" charset="0"/>
                <a:ea typeface="Times New Roman" panose="02020603050405020304" pitchFamily="18" charset="0"/>
                <a:sym typeface="+mn-ea"/>
              </a:rPr>
              <a:t> </a:t>
            </a:r>
            <a:r>
              <a:rPr lang="ms-MY" sz="2800" b="1" spc="-5" dirty="0">
                <a:solidFill>
                  <a:srgbClr val="231F20"/>
                </a:solidFill>
                <a:latin typeface="Times New Roman" panose="02020603050405020304" pitchFamily="18" charset="0"/>
                <a:ea typeface="Times New Roman" panose="02020603050405020304" pitchFamily="18" charset="0"/>
                <a:sym typeface="+mn-ea"/>
              </a:rPr>
              <a:t>Lingkup</a:t>
            </a:r>
            <a:r>
              <a:rPr lang="ms-MY" sz="2800" b="1" spc="70" dirty="0">
                <a:solidFill>
                  <a:srgbClr val="231F20"/>
                </a:solidFill>
                <a:latin typeface="Times New Roman" panose="02020603050405020304" pitchFamily="18" charset="0"/>
                <a:ea typeface="Times New Roman" panose="02020603050405020304" pitchFamily="18" charset="0"/>
                <a:sym typeface="+mn-ea"/>
              </a:rPr>
              <a:t> </a:t>
            </a:r>
            <a:r>
              <a:rPr lang="ms-MY" sz="2800" b="1" spc="-5" dirty="0">
                <a:solidFill>
                  <a:srgbClr val="231F20"/>
                </a:solidFill>
                <a:latin typeface="Times New Roman" panose="02020603050405020304" pitchFamily="18" charset="0"/>
                <a:ea typeface="Times New Roman" panose="02020603050405020304" pitchFamily="18" charset="0"/>
                <a:sym typeface="+mn-ea"/>
              </a:rPr>
              <a:t>Pendidikan</a:t>
            </a:r>
            <a:r>
              <a:rPr lang="ms-MY" sz="2800" b="1" spc="65" dirty="0">
                <a:solidFill>
                  <a:srgbClr val="231F20"/>
                </a:solidFill>
                <a:latin typeface="Times New Roman" panose="02020603050405020304" pitchFamily="18" charset="0"/>
                <a:ea typeface="Times New Roman" panose="02020603050405020304" pitchFamily="18" charset="0"/>
                <a:sym typeface="+mn-ea"/>
              </a:rPr>
              <a:t> </a:t>
            </a:r>
            <a:r>
              <a:rPr lang="ms-MY" sz="2800" b="1" spc="-5" dirty="0">
                <a:solidFill>
                  <a:srgbClr val="231F20"/>
                </a:solidFill>
                <a:latin typeface="Times New Roman" panose="02020603050405020304" pitchFamily="18" charset="0"/>
                <a:ea typeface="Times New Roman" panose="02020603050405020304" pitchFamily="18" charset="0"/>
                <a:sym typeface="+mn-ea"/>
              </a:rPr>
              <a:t>Agama</a:t>
            </a:r>
            <a:r>
              <a:rPr lang="ms-MY" sz="2800" b="1" spc="70" dirty="0">
                <a:solidFill>
                  <a:srgbClr val="231F20"/>
                </a:solidFill>
                <a:latin typeface="Times New Roman" panose="02020603050405020304" pitchFamily="18" charset="0"/>
                <a:ea typeface="Times New Roman" panose="02020603050405020304" pitchFamily="18" charset="0"/>
                <a:sym typeface="+mn-ea"/>
              </a:rPr>
              <a:t> </a:t>
            </a:r>
            <a:r>
              <a:rPr lang="ms-MY" sz="2800" b="1" spc="-5" dirty="0">
                <a:solidFill>
                  <a:srgbClr val="231F20"/>
                </a:solidFill>
                <a:latin typeface="Times New Roman" panose="02020603050405020304" pitchFamily="18" charset="0"/>
                <a:ea typeface="Times New Roman" panose="02020603050405020304" pitchFamily="18" charset="0"/>
                <a:sym typeface="+mn-ea"/>
              </a:rPr>
              <a:t>Islam	</a:t>
            </a:r>
            <a:br>
              <a:rPr lang="en-US" sz="2800" spc="-5" dirty="0">
                <a:effectLst/>
                <a:latin typeface="Times New Roman" panose="02020603050405020304" pitchFamily="18" charset="0"/>
                <a:ea typeface="Times New Roman" panose="02020603050405020304" pitchFamily="18" charset="0"/>
                <a:sym typeface="+mn-ea"/>
              </a:rPr>
            </a:br>
            <a:r>
              <a:rPr lang="en-US" sz="2800" spc="-5" dirty="0">
                <a:effectLst/>
                <a:latin typeface="Times New Roman" panose="02020603050405020304" pitchFamily="18" charset="0"/>
                <a:ea typeface="Times New Roman" panose="02020603050405020304" pitchFamily="18" charset="0"/>
                <a:sym typeface="+mn-ea"/>
              </a:rPr>
              <a:t>Islam merupakan kata turunan (jadian), yang berarti ketundukan, ketaatan, kepatuhan (kepada kehendak Allah Swt.). Asal katanya adalah salama, yang artinya patuh atau menerima; berakar dari huruf s-l-m. Kata dasarnya adalah salima, yang berarti sejahtera, tidak tercela, tidak tercacat. Dari kata itu, terbentuk kata mashdar salamat (yang dalam bahasa Indonesia menjadi selamat). Dari akar kata itu juga, terbentuk kata-kata salm, silm yang berarti kedamaian, kepatuhan, penyerahan (diri).</a:t>
            </a:r>
            <a:endParaRPr lang="en-US" sz="2800" spc="-5" dirty="0">
              <a:effectLst/>
              <a:latin typeface="Times New Roman" panose="02020603050405020304" pitchFamily="18" charset="0"/>
              <a:ea typeface="Times New Roman" panose="02020603050405020304" pitchFamily="18" charset="0"/>
              <a:sym typeface="+mn-ea"/>
            </a:endParaRPr>
          </a:p>
          <a:p>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93750" y="682625"/>
            <a:ext cx="10653395" cy="5210175"/>
          </a:xfrm>
        </p:spPr>
        <p:txBody>
          <a:bodyPr/>
          <a:p>
            <a:r>
              <a:rPr lang="en-US"/>
              <a:t>Islam berarti kedamaian, kesejahteraan,  keselamatan,  penyerahan  (diri),  ketaatan, dan kepatuhan. Dari perkataan salamat, salm tersebut timbul ungkapan “Assalamu’alaikum”, yang telah membudaya dalam masyarakat Indonesia.</a:t>
            </a:r>
            <a:endParaRPr lang="en-US"/>
          </a:p>
          <a:p>
            <a:endParaRPr lang="en-US"/>
          </a:p>
          <a:p>
            <a:r>
              <a:rPr lang="en-US"/>
              <a:t>Artinya (mengandung doa dan harapan), semoga Anda selamat, damai, dan sejahtera.</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5-Point Star 4"/>
          <p:cNvSpPr/>
          <p:nvPr/>
        </p:nvSpPr>
        <p:spPr>
          <a:xfrm>
            <a:off x="3397885" y="1125220"/>
            <a:ext cx="3961130" cy="3479800"/>
          </a:xfrm>
          <a:prstGeom prst="star5">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Oval 3"/>
          <p:cNvSpPr/>
          <p:nvPr/>
        </p:nvSpPr>
        <p:spPr>
          <a:xfrm>
            <a:off x="4312285" y="2348865"/>
            <a:ext cx="2132330" cy="159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800">
                <a:solidFill>
                  <a:schemeClr val="tx1"/>
                </a:solidFill>
              </a:rPr>
              <a:t>Islam</a:t>
            </a:r>
            <a:endParaRPr lang="en-US" sz="2800">
              <a:solidFill>
                <a:schemeClr val="tx1"/>
              </a:solidFill>
            </a:endParaRPr>
          </a:p>
        </p:txBody>
      </p:sp>
      <p:sp>
        <p:nvSpPr>
          <p:cNvPr id="6" name="Right Arrow 5"/>
          <p:cNvSpPr/>
          <p:nvPr/>
        </p:nvSpPr>
        <p:spPr>
          <a:xfrm>
            <a:off x="805815" y="1875790"/>
            <a:ext cx="2592070" cy="11347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000">
                <a:solidFill>
                  <a:schemeClr val="tx1"/>
                </a:solidFill>
              </a:rPr>
              <a:t>Patuh</a:t>
            </a:r>
            <a:endParaRPr lang="en-US" sz="2000">
              <a:solidFill>
                <a:schemeClr val="tx1"/>
              </a:solidFill>
            </a:endParaRPr>
          </a:p>
        </p:txBody>
      </p:sp>
      <p:sp>
        <p:nvSpPr>
          <p:cNvPr id="7" name="Right Arrow 6"/>
          <p:cNvSpPr/>
          <p:nvPr/>
        </p:nvSpPr>
        <p:spPr>
          <a:xfrm rot="19620000">
            <a:off x="1652270" y="4651375"/>
            <a:ext cx="2635250" cy="13938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000">
                <a:solidFill>
                  <a:schemeClr val="tx1"/>
                </a:solidFill>
              </a:rPr>
              <a:t>Berserrah Diri</a:t>
            </a:r>
            <a:endParaRPr lang="en-US" sz="2000">
              <a:solidFill>
                <a:schemeClr val="tx1"/>
              </a:solidFill>
            </a:endParaRPr>
          </a:p>
        </p:txBody>
      </p:sp>
      <p:sp>
        <p:nvSpPr>
          <p:cNvPr id="8" name="Left Arrow 7"/>
          <p:cNvSpPr/>
          <p:nvPr/>
        </p:nvSpPr>
        <p:spPr>
          <a:xfrm>
            <a:off x="7359015" y="1899285"/>
            <a:ext cx="2451735" cy="111125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400">
                <a:solidFill>
                  <a:schemeClr val="tx1"/>
                </a:solidFill>
              </a:rPr>
              <a:t>Tunduk</a:t>
            </a:r>
            <a:endParaRPr lang="en-US" sz="2400">
              <a:solidFill>
                <a:schemeClr val="tx1"/>
              </a:solidFill>
            </a:endParaRPr>
          </a:p>
        </p:txBody>
      </p:sp>
      <p:sp>
        <p:nvSpPr>
          <p:cNvPr id="9" name="Left Arrow 8"/>
          <p:cNvSpPr/>
          <p:nvPr/>
        </p:nvSpPr>
        <p:spPr>
          <a:xfrm rot="1440000">
            <a:off x="6569075" y="4481830"/>
            <a:ext cx="2379345" cy="11169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400">
                <a:solidFill>
                  <a:schemeClr val="tx1"/>
                </a:solidFill>
              </a:rPr>
              <a:t>Taat</a:t>
            </a:r>
            <a:endParaRPr lang="en-US" sz="240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725" y="544830"/>
            <a:ext cx="11069955" cy="1442720"/>
          </a:xfrm>
        </p:spPr>
        <p:txBody>
          <a:bodyPr/>
          <a:lstStyle/>
          <a:p>
            <a:pPr marL="742950" marR="0" lvl="1" indent="-285750">
              <a:spcBef>
                <a:spcPts val="0"/>
              </a:spcBef>
              <a:spcAft>
                <a:spcPts val="0"/>
              </a:spcAft>
              <a:tabLst>
                <a:tab pos="1024255" algn="l"/>
                <a:tab pos="1024890" algn="l"/>
              </a:tabLst>
            </a:pPr>
            <a:r>
              <a:rPr sz="2400" b="1" dirty="0">
                <a:latin typeface="Palatino Linotype" panose="02040502050505030304" pitchFamily="18" charset="0"/>
                <a:ea typeface="Palatino Linotype" panose="02040502050505030304" pitchFamily="18" charset="0"/>
                <a:cs typeface="Palatino Linotype" panose="02040502050505030304" pitchFamily="18" charset="0"/>
              </a:rPr>
              <a:t>agama </a:t>
            </a:r>
            <a:r>
              <a:rPr lang="en-US" altLang="" sz="2400" b="1" dirty="0">
                <a:latin typeface="Palatino Linotype" panose="02040502050505030304" pitchFamily="18" charset="0"/>
                <a:ea typeface="Palatino Linotype" panose="02040502050505030304" pitchFamily="18" charset="0"/>
                <a:cs typeface="Palatino Linotype" panose="02040502050505030304" pitchFamily="18" charset="0"/>
              </a:rPr>
              <a:t> islam dalam Al_qur;an sebagai agama yang diridhoi Allah </a:t>
            </a:r>
            <a:r>
              <a:rPr sz="2400" b="1" dirty="0">
                <a:latin typeface="Palatino Linotype" panose="02040502050505030304" pitchFamily="18" charset="0"/>
                <a:ea typeface="Palatino Linotype" panose="02040502050505030304" pitchFamily="18" charset="0"/>
                <a:cs typeface="Palatino Linotype" panose="02040502050505030304" pitchFamily="18" charset="0"/>
              </a:rPr>
              <a:t> , agama Islam merupakan sistem akidah dan syariah serta akhlak yang mengatur hidup dan kehidupan manusia dalam berbagai hubungan.</a:t>
            </a:r>
            <a:r>
              <a:rPr lang="en-US" altLang="" sz="2400" b="1" dirty="0">
                <a:latin typeface="Palatino Linotype" panose="02040502050505030304" pitchFamily="18" charset="0"/>
                <a:ea typeface="Palatino Linotype" panose="02040502050505030304" pitchFamily="18" charset="0"/>
                <a:cs typeface="Palatino Linotype" panose="02040502050505030304" pitchFamily="18" charset="0"/>
              </a:rPr>
              <a:t>(Ali Imron :19)</a:t>
            </a:r>
            <a:endParaRPr lang="en-US" altLang="" sz="2400" b="1" dirty="0">
              <a:latin typeface="Palatino Linotype" panose="02040502050505030304" pitchFamily="18" charset="0"/>
              <a:ea typeface="Palatino Linotype" panose="02040502050505030304" pitchFamily="18" charset="0"/>
              <a:cs typeface="Palatino Linotype" panose="02040502050505030304" pitchFamily="18" charset="0"/>
            </a:endParaRPr>
          </a:p>
        </p:txBody>
      </p:sp>
      <p:pic>
        <p:nvPicPr>
          <p:cNvPr id="4" name="Content Placeholder 3"/>
          <p:cNvPicPr>
            <a:picLocks noChangeAspect="1"/>
          </p:cNvPicPr>
          <p:nvPr>
            <p:ph idx="1"/>
          </p:nvPr>
        </p:nvPicPr>
        <p:blipFill>
          <a:blip r:embed="rId1"/>
          <a:stretch>
            <a:fillRect/>
          </a:stretch>
        </p:blipFill>
        <p:spPr>
          <a:xfrm>
            <a:off x="873760" y="2052955"/>
            <a:ext cx="10670540" cy="4067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30225" y="730885"/>
            <a:ext cx="11022330" cy="5528945"/>
          </a:xfrm>
        </p:spPr>
        <p:txBody>
          <a:bodyPr/>
          <a:p>
            <a:pPr marL="457200" indent="-457200">
              <a:buFont typeface="Wingdings" panose="05000000000000000000" pitchFamily="2" charset="2"/>
              <a:buChar char="Ø"/>
            </a:pPr>
            <a:r>
              <a:rPr lang="ms-MY" sz="2800" dirty="0">
                <a:solidFill>
                  <a:srgbClr val="231F20"/>
                </a:solidFill>
                <a:effectLst/>
                <a:latin typeface="Times New Roman" panose="02020603050405020304" pitchFamily="18" charset="0"/>
                <a:ea typeface="Times New Roman" panose="02020603050405020304" pitchFamily="18" charset="0"/>
                <a:sym typeface="+mn-ea"/>
              </a:rPr>
              <a:t>Pengertian pendidikan dengan seluruh totalitasnya dalam konteks Islam inheren dengan konotasi istilah tarbiyah, ta’līm, dan ta’dīb</a:t>
            </a:r>
            <a:endParaRPr lang="ms-MY" sz="2800" dirty="0">
              <a:solidFill>
                <a:srgbClr val="231F20"/>
              </a:solidFill>
              <a:effectLst/>
              <a:latin typeface="Times New Roman" panose="02020603050405020304" pitchFamily="18" charset="0"/>
              <a:ea typeface="Times New Roman" panose="02020603050405020304" pitchFamily="18" charset="0"/>
            </a:endParaRPr>
          </a:p>
          <a:p>
            <a:pPr marL="457200" indent="-457200">
              <a:buFont typeface="Wingdings" panose="05000000000000000000" pitchFamily="2" charset="2"/>
              <a:buChar char="Ø"/>
            </a:pPr>
            <a:r>
              <a:rPr lang="en-US" sz="2800" dirty="0">
                <a:sym typeface="+mn-ea"/>
              </a:rPr>
              <a:t>Hasan langgulung, dalam Nurhasanah (2013), merumuskan Pendi- dikan Islam dalam suatu proses penyiapan generasi muda untuk mengisi peranan, memindahkan pengetahuan dan nilai-nilai Islam yang diselaraskan dengan fungsi manusia untuk beramal di dunia dan memetik hasilnya di akhirat.</a:t>
            </a:r>
            <a:endParaRPr lang="en-US" sz="2800" dirty="0"/>
          </a:p>
          <a:p>
            <a:endParaRPr 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905" y="561975"/>
            <a:ext cx="10917555" cy="5771515"/>
          </a:xfrm>
        </p:spPr>
        <p:txBody>
          <a:bodyPr/>
          <a:lstStyle/>
          <a:p>
            <a:pPr algn="just"/>
            <a:r>
              <a:rPr lang="ms-MY" sz="1800" dirty="0">
                <a:solidFill>
                  <a:srgbClr val="231F20"/>
                </a:solidFill>
                <a:effectLst/>
                <a:latin typeface="Times New Roman" panose="02020603050405020304" pitchFamily="18" charset="0"/>
                <a:ea typeface="Times New Roman" panose="02020603050405020304" pitchFamily="18" charset="0"/>
              </a:rPr>
              <a:t>	</a:t>
            </a:r>
            <a:r>
              <a:rPr lang="en-US" altLang="ms-MY" sz="1800" dirty="0">
                <a:solidFill>
                  <a:srgbClr val="231F20"/>
                </a:solidFill>
                <a:effectLst/>
                <a:latin typeface="Times New Roman" panose="02020603050405020304" pitchFamily="18" charset="0"/>
                <a:ea typeface="Times New Roman" panose="02020603050405020304" pitchFamily="18" charset="0"/>
              </a:rPr>
              <a:t>#.. </a:t>
            </a:r>
            <a:r>
              <a:rPr lang="en-US" b="1" dirty="0">
                <a:solidFill>
                  <a:srgbClr val="231F20"/>
                </a:solidFill>
                <a:effectLst/>
                <a:latin typeface="Times New Roman" panose="02020603050405020304" pitchFamily="18" charset="0"/>
                <a:ea typeface="Times New Roman" panose="02020603050405020304" pitchFamily="18" charset="0"/>
              </a:rPr>
              <a:t>Ruang lingkup Pendidikan Agama Islam  adalah:</a:t>
            </a:r>
            <a:endParaRPr lang="en-US" b="1" dirty="0">
              <a:solidFill>
                <a:srgbClr val="231F20"/>
              </a:solidFill>
              <a:effectLst/>
              <a:latin typeface="Times New Roman" panose="02020603050405020304" pitchFamily="18" charset="0"/>
              <a:ea typeface="Times New Roman" panose="02020603050405020304" pitchFamily="18" charset="0"/>
            </a:endParaRPr>
          </a:p>
          <a:p>
            <a:pPr marL="342900" indent="-342900" algn="just">
              <a:buFont typeface="Wingdings" panose="05000000000000000000" charset="0"/>
              <a:buChar char="Ø"/>
            </a:pPr>
            <a:r>
              <a:rPr lang="en-US" dirty="0">
                <a:solidFill>
                  <a:srgbClr val="231F20"/>
                </a:solidFill>
                <a:effectLst/>
                <a:latin typeface="Times New Roman" panose="02020603050405020304" pitchFamily="18" charset="0"/>
                <a:ea typeface="Times New Roman" panose="02020603050405020304" pitchFamily="18" charset="0"/>
              </a:rPr>
              <a:t>Manusia  dengan  manusia  dalam  masyarakat</a:t>
            </a:r>
            <a:r>
              <a:rPr lang="ms-MY" dirty="0">
                <a:solidFill>
                  <a:srgbClr val="231F20"/>
                </a:solidFill>
                <a:effectLst/>
                <a:latin typeface="Times New Roman" panose="02020603050405020304" pitchFamily="18" charset="0"/>
                <a:ea typeface="Times New Roman" panose="02020603050405020304" pitchFamily="18" charset="0"/>
              </a:rPr>
              <a:t>	</a:t>
            </a:r>
            <a:r>
              <a:rPr lang="en-US" altLang="ms-MY" dirty="0">
                <a:solidFill>
                  <a:srgbClr val="231F20"/>
                </a:solidFill>
                <a:effectLst/>
                <a:latin typeface="Times New Roman" panose="02020603050405020304" pitchFamily="18" charset="0"/>
                <a:ea typeface="Times New Roman" panose="02020603050405020304" pitchFamily="18" charset="0"/>
              </a:rPr>
              <a:t>.</a:t>
            </a:r>
            <a:endParaRPr lang="en-US" altLang="ms-MY" dirty="0">
              <a:solidFill>
                <a:srgbClr val="231F20"/>
              </a:solidFill>
              <a:effectLst/>
              <a:latin typeface="Times New Roman" panose="02020603050405020304" pitchFamily="18" charset="0"/>
              <a:ea typeface="Times New Roman" panose="02020603050405020304" pitchFamily="18" charset="0"/>
            </a:endParaRPr>
          </a:p>
          <a:p>
            <a:pPr marL="342900" indent="-342900" algn="just">
              <a:buFont typeface="Wingdings" panose="05000000000000000000" charset="0"/>
              <a:buChar char="Ø"/>
            </a:pPr>
            <a:r>
              <a:rPr lang="en-US" altLang="ms-MY" dirty="0">
                <a:solidFill>
                  <a:srgbClr val="231F20"/>
                </a:solidFill>
                <a:effectLst/>
                <a:latin typeface="Times New Roman" panose="02020603050405020304" pitchFamily="18" charset="0"/>
                <a:ea typeface="Times New Roman" panose="02020603050405020304" pitchFamily="18" charset="0"/>
              </a:rPr>
              <a:t>Alam sekitarnya yang kini terkenal dengan istilah lingkungan hidup.</a:t>
            </a:r>
            <a:endParaRPr lang="en-US" altLang="ms-MY" dirty="0">
              <a:solidFill>
                <a:srgbClr val="231F20"/>
              </a:solidFill>
              <a:effectLst/>
              <a:latin typeface="Times New Roman" panose="02020603050405020304" pitchFamily="18" charset="0"/>
              <a:ea typeface="Times New Roman" panose="02020603050405020304" pitchFamily="18" charset="0"/>
            </a:endParaRPr>
          </a:p>
          <a:p>
            <a:pPr indent="457200" algn="just">
              <a:buFont typeface="Wingdings" panose="05000000000000000000" charset="0"/>
            </a:pPr>
            <a:r>
              <a:rPr lang="en-US" altLang="ms-MY" dirty="0">
                <a:solidFill>
                  <a:srgbClr val="231F20"/>
                </a:solidFill>
                <a:effectLst/>
                <a:latin typeface="Times New Roman" panose="02020603050405020304" pitchFamily="18" charset="0"/>
                <a:ea typeface="Times New Roman" panose="02020603050405020304" pitchFamily="18" charset="0"/>
              </a:rPr>
              <a:t>Sebagai satu sistem yang mengatur hidup dan kehidupan manusia, Islam mengatur  berbagai tata hubungan. Ruang lingkupnya pun mencakup berbagai tata hubungan itu.</a:t>
            </a:r>
            <a:endParaRPr lang="en-US" altLang="ms-MY" dirty="0">
              <a:solidFill>
                <a:srgbClr val="231F20"/>
              </a:solidFill>
              <a:effectLst/>
              <a:latin typeface="Times New Roman" panose="02020603050405020304" pitchFamily="18" charset="0"/>
              <a:ea typeface="Times New Roman" panose="02020603050405020304" pitchFamily="18" charset="0"/>
            </a:endParaRPr>
          </a:p>
          <a:p>
            <a:pPr indent="457200" algn="just">
              <a:buFont typeface="Wingdings" panose="05000000000000000000" charset="0"/>
            </a:pPr>
            <a:r>
              <a:rPr lang="en-US" altLang="ms-MY" b="1" dirty="0">
                <a:solidFill>
                  <a:srgbClr val="231F20"/>
                </a:solidFill>
                <a:effectLst/>
                <a:latin typeface="Times New Roman" panose="02020603050405020304" pitchFamily="18" charset="0"/>
                <a:ea typeface="Times New Roman" panose="02020603050405020304" pitchFamily="18" charset="0"/>
              </a:rPr>
              <a:t>E.Peran Pendidikan Agama Islam</a:t>
            </a:r>
            <a:endParaRPr lang="en-US" altLang="ms-MY" b="1" dirty="0">
              <a:solidFill>
                <a:srgbClr val="231F20"/>
              </a:solidFill>
              <a:effectLst/>
              <a:latin typeface="Times New Roman" panose="02020603050405020304" pitchFamily="18" charset="0"/>
              <a:ea typeface="Times New Roman" panose="02020603050405020304" pitchFamily="18" charset="0"/>
            </a:endParaRPr>
          </a:p>
          <a:p>
            <a:pPr indent="457200" algn="just">
              <a:buFont typeface="Wingdings" panose="05000000000000000000" charset="0"/>
            </a:pPr>
            <a:r>
              <a:rPr lang="en-US" altLang="ms-MY" b="1" dirty="0">
                <a:solidFill>
                  <a:srgbClr val="231F20"/>
                </a:solidFill>
                <a:effectLst/>
                <a:latin typeface="Times New Roman" panose="02020603050405020304" pitchFamily="18" charset="0"/>
                <a:ea typeface="Times New Roman" panose="02020603050405020304" pitchFamily="18" charset="0"/>
              </a:rPr>
              <a:t>Pada umumnya, pendidikan agama Islam dapat diartikan sebagai bentuk upaya penyampaian pengetahuan tentang materi-materi yang berkaitan dengan agama Islam.Upaya tersebut dilakukan sebagai bentuk perbaikan dan penyempurnaan terhadap segala kemampuan dan potensi manusia sebagai makhluk yang beragama.</a:t>
            </a:r>
            <a:endParaRPr lang="en-US" altLang="ms-MY" b="1" dirty="0">
              <a:solidFill>
                <a:srgbClr val="231F20"/>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4700" y="535940"/>
            <a:ext cx="10897235" cy="5763260"/>
          </a:xfrm>
        </p:spPr>
        <p:txBody>
          <a:bodyPr/>
          <a:lstStyle/>
          <a:p>
            <a:pPr algn="just"/>
            <a:r>
              <a:rPr lang="ms-MY" sz="1800"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ea typeface="Times New Roman" panose="02020603050405020304" pitchFamily="18" charset="0"/>
              </a:rPr>
              <a:t>Melalui jalur pendidikan, manusia mencita-citakan terjadinya perkembangan dirinya yang berujung pada kehidupan yang bahagia dan sejahtera, terlebih di dunia hingga akhirat. Maka dalam prosesnya, pendidikan agama Islam ditujukan untuk menanamkan nilai</a:t>
            </a:r>
            <a:r>
              <a:rPr lang="en-US" altLang="ms-MY" dirty="0">
                <a:solidFill>
                  <a:srgbClr val="231F20"/>
                </a:solidFill>
                <a:effectLst/>
                <a:ea typeface="Times New Roman" panose="02020603050405020304" pitchFamily="18" charset="0"/>
              </a:rPr>
              <a:t>.nilai dan norma-norma tertentu yang dijunjung tinggi oleh lembaga pendidikan.</a:t>
            </a:r>
            <a:endParaRPr lang="en-US" altLang="ms-MY" dirty="0">
              <a:solidFill>
                <a:srgbClr val="231F20"/>
              </a:solidFill>
              <a:effectLst/>
              <a:ea typeface="Times New Roman" panose="02020603050405020304" pitchFamily="18" charset="0"/>
            </a:endParaRPr>
          </a:p>
          <a:p>
            <a:pPr algn="just"/>
            <a:r>
              <a:rPr lang="en-US" altLang="ms-MY" dirty="0">
                <a:solidFill>
                  <a:srgbClr val="231F20"/>
                </a:solidFill>
                <a:effectLst/>
                <a:ea typeface="Times New Roman" panose="02020603050405020304" pitchFamily="18" charset="0"/>
              </a:rPr>
              <a:t>Secara spesifik, Muhammad Hamid an-Nasr, dalam Moh. Roqib, mempersepsikan pendidikan agama Islam sebagai proses pengarahan pengembangan manusia pada sisi jasmani, akal, bahasa, tingkah laku, serta kehidupan sosial dan keagamaan yang diarahkan pada kebaikan menuju kesempurnaan.</a:t>
            </a:r>
            <a:endParaRPr lang="en-US" altLang="ms-MY" dirty="0">
              <a:solidFill>
                <a:srgbClr val="231F20"/>
              </a:solidFill>
              <a:effectLst/>
              <a:ea typeface="Times New Roman" panose="02020603050405020304" pitchFamily="18" charset="0"/>
            </a:endParaRPr>
          </a:p>
          <a:p>
            <a:pPr algn="just"/>
            <a:endParaRPr lang="en-US" altLang="ms-MY" dirty="0">
              <a:solidFill>
                <a:srgbClr val="231F20"/>
              </a:solidFill>
              <a:effectLst/>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p:nvPr>
            <p:ph idx="1"/>
          </p:nvPr>
        </p:nvSpPr>
        <p:spPr>
          <a:xfrm>
            <a:off x="389890" y="604520"/>
            <a:ext cx="11225530" cy="5748020"/>
          </a:xfrm>
        </p:spPr>
        <p:txBody>
          <a:bodyPr/>
          <a:p>
            <a:pPr marL="342900" indent="-342900">
              <a:buFont typeface="Wingdings" panose="05000000000000000000" charset="0"/>
              <a:buChar char="v"/>
            </a:pPr>
            <a:r>
              <a:rPr lang="en-US"/>
              <a:t>pada dasarnya, pendidikan agama Islam adalah usaha atau proses transformasi pengetahuan dan penanaman nilai-nilai keislaman  menuju  perubahan dan perkembangan manusia ke arah yang lebih baik dan sempurna.</a:t>
            </a:r>
            <a:endParaRPr lang="en-US"/>
          </a:p>
          <a:p>
            <a:pPr marL="342900" indent="-342900">
              <a:buFont typeface="Wingdings" panose="05000000000000000000" charset="0"/>
              <a:buChar char="v"/>
            </a:pPr>
            <a:r>
              <a:rPr lang="en-US"/>
              <a:t>Pendidikan Islam mempunyai peran yang penting dalam melakukan transformasi pengetahuan secara teoretis sebagai bekal berpikir, berucap, dan bertindak. Selain itu,</a:t>
            </a:r>
            <a:endParaRPr lang="en-US"/>
          </a:p>
          <a:p>
            <a:pPr marL="342900" indent="-342900">
              <a:buFont typeface="Wingdings" panose="05000000000000000000" charset="0"/>
              <a:buChar char="v"/>
            </a:pPr>
            <a:r>
              <a:rPr lang="en-US"/>
              <a:t> pendidikan Islam berperan dalam menanamkan nilai-nilai humanis dan keislaman sebagai penguat rasa ketakwaan dan keimanan.</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14985" y="267970"/>
            <a:ext cx="11380470" cy="5624830"/>
          </a:xfrm>
        </p:spPr>
        <p:txBody>
          <a:bodyPr/>
          <a:p>
            <a:pPr indent="457200"/>
            <a:r>
              <a:rPr lang="en-US"/>
              <a:t>Menurut pandangan Islam, pendidikan harus mengutamakan pendidikan keimanan.</a:t>
            </a:r>
            <a:endParaRPr lang="en-US"/>
          </a:p>
          <a:p>
            <a:r>
              <a:rPr lang="en-US"/>
              <a:t>Sejarah telah membuktikan bahwa pendidikan yang tidak atau kurang memperhatikan pendidikan keimanan akan menghasilkan lulusan yang kurang baik akhlaknya. Akhlak yang rendah itu akan sangat berbahaya bagi kehidupan bersama yang dapat menghancurkan sendisendi kehidupan berbangsa dan bernegara. Lulusan sekolah yang kurang kuat imannya akan sangat sulit menghadapi kehidupan pada zaman yang semakin penuh tantangan di masa mendatang.</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p:cNvPicPr>
            <a:picLocks noChangeAspect="1"/>
          </p:cNvPicPr>
          <p:nvPr>
            <p:ph idx="1"/>
          </p:nvPr>
        </p:nvPicPr>
        <p:blipFill>
          <a:blip r:embed="rId1"/>
          <a:stretch>
            <a:fillRect/>
          </a:stretch>
        </p:blipFill>
        <p:spPr>
          <a:xfrm>
            <a:off x="3446780" y="1694180"/>
            <a:ext cx="7567295" cy="5062855"/>
          </a:xfrm>
          <a:prstGeom prst="rect">
            <a:avLst/>
          </a:prstGeom>
        </p:spPr>
      </p:pic>
      <p:sp>
        <p:nvSpPr>
          <p:cNvPr id="4" name="Oval Callout 3"/>
          <p:cNvSpPr/>
          <p:nvPr/>
        </p:nvSpPr>
        <p:spPr>
          <a:xfrm rot="18480000">
            <a:off x="1135380" y="358775"/>
            <a:ext cx="4545330" cy="2783205"/>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solidFill>
                  <a:schemeClr val="tx1"/>
                </a:solidFill>
              </a:rPr>
              <a:t>Diskusi yuuukkkk !!!!!</a:t>
            </a:r>
            <a:endParaRPr lang="en-US" sz="320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Oval Callout 3"/>
          <p:cNvSpPr/>
          <p:nvPr/>
        </p:nvSpPr>
        <p:spPr>
          <a:xfrm rot="2340000">
            <a:off x="8079740" y="503555"/>
            <a:ext cx="4417695" cy="247142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solidFill>
                  <a:schemeClr val="tx1"/>
                </a:solidFill>
              </a:rPr>
              <a:t>Mengapa sekarang banyak terjadi tawuran??????</a:t>
            </a:r>
            <a:endParaRPr lang="en-US" sz="3200">
              <a:solidFill>
                <a:schemeClr val="tx1"/>
              </a:solidFill>
            </a:endParaRPr>
          </a:p>
        </p:txBody>
      </p:sp>
      <p:pic>
        <p:nvPicPr>
          <p:cNvPr id="6" name="Content Placeholder 5"/>
          <p:cNvPicPr>
            <a:picLocks noChangeAspect="1"/>
          </p:cNvPicPr>
          <p:nvPr>
            <p:ph idx="1"/>
          </p:nvPr>
        </p:nvPicPr>
        <p:blipFill>
          <a:blip r:embed="rId1"/>
          <a:stretch>
            <a:fillRect/>
          </a:stretch>
        </p:blipFill>
        <p:spPr>
          <a:xfrm>
            <a:off x="518795" y="1075690"/>
            <a:ext cx="6845300" cy="4793615"/>
          </a:xfrm>
          <a:prstGeom prst="rect">
            <a:avLst/>
          </a:prstGeom>
        </p:spPr>
      </p:pic>
      <p:sp>
        <p:nvSpPr>
          <p:cNvPr id="7" name="Oval 6"/>
          <p:cNvSpPr/>
          <p:nvPr/>
        </p:nvSpPr>
        <p:spPr>
          <a:xfrm>
            <a:off x="7364095" y="3319145"/>
            <a:ext cx="430530" cy="539115"/>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Oval 7"/>
          <p:cNvSpPr/>
          <p:nvPr/>
        </p:nvSpPr>
        <p:spPr>
          <a:xfrm>
            <a:off x="7692390" y="2705100"/>
            <a:ext cx="430530" cy="539115"/>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9" name="Oval 8"/>
          <p:cNvSpPr/>
          <p:nvPr/>
        </p:nvSpPr>
        <p:spPr>
          <a:xfrm>
            <a:off x="8122920" y="2165985"/>
            <a:ext cx="430530" cy="539115"/>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57860" y="491490"/>
            <a:ext cx="9968865" cy="5815965"/>
          </a:xfrm>
        </p:spPr>
        <p:txBody>
          <a:bodyPr/>
          <a:p>
            <a:pPr indent="457200"/>
            <a:r>
              <a:rPr lang="en-US"/>
              <a:t>Menurut Zuchdi (2010:2-3) bahwa Pendidikan adalah usaha sadar dan terencana untuk mewujudkan suasana belajar dan proses pembelajaran agar peserta didik secara aktif mengembangkan potensi dirinya untuk memiliki kekuatan spiritual keagamaaan, </a:t>
            </a:r>
            <a:endParaRPr lang="en-US"/>
          </a:p>
          <a:p>
            <a:r>
              <a:rPr lang="en-US"/>
              <a:t>pengendalian diri, kepribadian, kecerdasan, akhlak mulia, serta ketrampilan atau karakter yang diperlukan dirinya, masyarakat, bangsa, dan Negara</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22910" y="772795"/>
            <a:ext cx="11249025" cy="5647055"/>
          </a:xfrm>
        </p:spPr>
        <p:txBody>
          <a:bodyPr/>
          <a:p>
            <a:pPr indent="457200"/>
            <a:r>
              <a:rPr lang="en-US"/>
              <a:t>Secara akademis, pendidikan karakter dimaknai sebagai pendidikan nilai, budi pekerti, moral, watak, atau akhlak yang bertujuan untuk mengembangkan kemampuan peserta didik memberikan keputusan baik- buruk, memelihara apa yang baik itu dan mewujudkannya dalam kehidupan sehari-hari</a:t>
            </a:r>
            <a:endParaRPr lang="en-US"/>
          </a:p>
          <a:p>
            <a:pPr indent="457200"/>
            <a:r>
              <a:rPr lang="en-US"/>
              <a:t>Pendidikan Islam memiliki 3 (tiga) tahapan kegiatan yaitu: </a:t>
            </a:r>
            <a:endParaRPr lang="en-US"/>
          </a:p>
          <a:p>
            <a:pPr indent="457200"/>
            <a:r>
              <a:rPr lang="en-US"/>
              <a:t>(1) Tilawah; membacakan ayat Allah,</a:t>
            </a:r>
            <a:endParaRPr lang="en-US"/>
          </a:p>
          <a:p>
            <a:pPr indent="457200"/>
            <a:r>
              <a:rPr lang="en-US"/>
              <a:t> (2) Tazkiyah; mensucikan jiwa, </a:t>
            </a:r>
            <a:endParaRPr lang="en-US"/>
          </a:p>
          <a:p>
            <a:pPr indent="457200"/>
            <a:r>
              <a:rPr lang="en-US"/>
              <a:t>(3) Ta’limul kitab wa sunnah; mengajarkan al kitab dan al hikmah. </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r>
              <a:rPr lang="en-US" sz="2000"/>
              <a:t>Fungsi Pendidikan Agama Islam</a:t>
            </a:r>
            <a:br>
              <a:rPr lang="en-US" sz="2000"/>
            </a:br>
            <a:endParaRPr lang="en-US"/>
          </a:p>
        </p:txBody>
      </p:sp>
      <p:sp>
        <p:nvSpPr>
          <p:cNvPr id="7" name="Text Placeholder 6"/>
          <p:cNvSpPr>
            <a:spLocks noGrp="1"/>
          </p:cNvSpPr>
          <p:nvPr>
            <p:ph type="body" idx="1"/>
          </p:nvPr>
        </p:nvSpPr>
        <p:spPr/>
        <p:txBody>
          <a:bodyPr/>
          <a:p>
            <a:r>
              <a:rPr lang="en-US"/>
              <a:t>Penanaman</a:t>
            </a:r>
            <a:endParaRPr lang="en-US"/>
          </a:p>
        </p:txBody>
      </p:sp>
      <p:sp>
        <p:nvSpPr>
          <p:cNvPr id="9" name="Text Placeholder 8"/>
          <p:cNvSpPr>
            <a:spLocks noGrp="1"/>
          </p:cNvSpPr>
          <p:nvPr>
            <p:ph type="body" sz="quarter" idx="18"/>
          </p:nvPr>
        </p:nvSpPr>
        <p:spPr/>
        <p:txBody>
          <a:bodyPr/>
          <a:p>
            <a:r>
              <a:rPr lang="en-US" sz="2000"/>
              <a:t>Penanaman nilai sebagai pedoman hidup untuk mencari kebahagiaan hidup di dunia dan di akhirat</a:t>
            </a:r>
            <a:r>
              <a:rPr lang="en-US"/>
              <a:t>.</a:t>
            </a:r>
            <a:endParaRPr lang="en-US"/>
          </a:p>
        </p:txBody>
      </p:sp>
      <p:sp>
        <p:nvSpPr>
          <p:cNvPr id="10" name="Text Placeholder 9"/>
          <p:cNvSpPr>
            <a:spLocks noGrp="1"/>
          </p:cNvSpPr>
          <p:nvPr>
            <p:ph type="body" sz="quarter" idx="15"/>
          </p:nvPr>
        </p:nvSpPr>
        <p:spPr/>
        <p:txBody>
          <a:bodyPr/>
          <a:p>
            <a:r>
              <a:rPr lang="en-US"/>
              <a:t>Perbaikan</a:t>
            </a:r>
            <a:endParaRPr lang="en-US"/>
          </a:p>
        </p:txBody>
      </p:sp>
      <p:sp>
        <p:nvSpPr>
          <p:cNvPr id="12" name="Text Placeholder 11"/>
          <p:cNvSpPr>
            <a:spLocks noGrp="1"/>
          </p:cNvSpPr>
          <p:nvPr>
            <p:ph type="body" sz="quarter" idx="21"/>
          </p:nvPr>
        </p:nvSpPr>
        <p:spPr/>
        <p:txBody>
          <a:bodyPr/>
          <a:p>
            <a:r>
              <a:rPr lang="en-US" sz="2400"/>
              <a:t>Aktualisasi diri dalam kehidupan sehari-hari</a:t>
            </a:r>
            <a:endParaRPr lang="en-US" sz="2400"/>
          </a:p>
        </p:txBody>
      </p:sp>
      <p:sp>
        <p:nvSpPr>
          <p:cNvPr id="13" name="Text Placeholder 12"/>
          <p:cNvSpPr>
            <a:spLocks noGrp="1"/>
          </p:cNvSpPr>
          <p:nvPr>
            <p:ph type="body" sz="quarter" idx="17"/>
          </p:nvPr>
        </p:nvSpPr>
        <p:spPr/>
        <p:txBody>
          <a:bodyPr/>
          <a:p>
            <a:r>
              <a:rPr lang="en-US"/>
              <a:t>Pengajaran</a:t>
            </a:r>
            <a:endParaRPr lang="en-US"/>
          </a:p>
        </p:txBody>
      </p:sp>
      <p:sp>
        <p:nvSpPr>
          <p:cNvPr id="15" name="Text Placeholder 14"/>
          <p:cNvSpPr>
            <a:spLocks noGrp="1"/>
          </p:cNvSpPr>
          <p:nvPr>
            <p:ph type="body" sz="quarter" idx="22"/>
          </p:nvPr>
        </p:nvSpPr>
        <p:spPr/>
        <p:txBody>
          <a:bodyPr/>
          <a:p>
            <a:r>
              <a:rPr lang="en-US" sz="2000"/>
              <a:t>Pengajaran tentang ilmu pengetahuan kegamaan secara umum, sistem dan fungsionalnya.</a:t>
            </a:r>
            <a:endParaRPr lang="en-US" sz="2000"/>
          </a:p>
        </p:txBody>
      </p:sp>
      <p:sp>
        <p:nvSpPr>
          <p:cNvPr id="5" name="Slide Number Placeholder 4"/>
          <p:cNvSpPr>
            <a:spLocks noGrp="1"/>
          </p:cNvSpPr>
          <p:nvPr>
            <p:ph type="sldNum" sz="quarter" idx="12"/>
          </p:nvPr>
        </p:nvSpPr>
        <p:spPr/>
        <p:txBody>
          <a:bodyPr/>
          <a:p>
            <a:fld id="{48F63A3B-78C7-47BE-AE5E-E10140E04643}" type="slidenum">
              <a:rPr lang="en-US" smtClean="0"/>
            </a:fld>
            <a:endParaRPr lang="en-US" dirty="0"/>
          </a:p>
        </p:txBody>
      </p:sp>
      <p:pic>
        <p:nvPicPr>
          <p:cNvPr id="100" name="Picture Placeholder 99"/>
          <p:cNvPicPr>
            <a:picLocks noChangeAspect="1"/>
          </p:cNvPicPr>
          <p:nvPr>
            <p:ph type="pic" sz="quarter" idx="23"/>
          </p:nvPr>
        </p:nvPicPr>
        <p:blipFill>
          <a:blip r:embed="rId1"/>
          <a:stretch>
            <a:fillRect/>
          </a:stretch>
        </p:blipFill>
        <p:spPr>
          <a:xfrm>
            <a:off x="1384300" y="1992630"/>
            <a:ext cx="1930400" cy="1099820"/>
          </a:xfrm>
          <a:prstGeom prst="rect">
            <a:avLst/>
          </a:prstGeom>
          <a:noFill/>
          <a:ln w="9525">
            <a:noFill/>
          </a:ln>
        </p:spPr>
      </p:pic>
      <p:pic>
        <p:nvPicPr>
          <p:cNvPr id="22" name="Picture Placeholder 101"/>
          <p:cNvPicPr>
            <a:picLocks noChangeAspect="1"/>
          </p:cNvPicPr>
          <p:nvPr>
            <p:ph type="pic" sz="quarter" idx="25"/>
          </p:nvPr>
        </p:nvPicPr>
        <p:blipFill>
          <a:blip r:embed="rId2"/>
          <a:stretch>
            <a:fillRect/>
          </a:stretch>
        </p:blipFill>
        <p:spPr>
          <a:xfrm>
            <a:off x="4912360" y="2002155"/>
            <a:ext cx="2167890" cy="1257300"/>
          </a:xfrm>
          <a:prstGeom prst="rect">
            <a:avLst/>
          </a:prstGeom>
          <a:noFill/>
          <a:ln w="9525">
            <a:noFill/>
          </a:ln>
        </p:spPr>
      </p:pic>
      <p:pic>
        <p:nvPicPr>
          <p:cNvPr id="104" name="Picture Placeholder 103"/>
          <p:cNvPicPr>
            <a:picLocks noChangeAspect="1"/>
          </p:cNvPicPr>
          <p:nvPr>
            <p:ph type="pic" sz="quarter" idx="24"/>
          </p:nvPr>
        </p:nvPicPr>
        <p:blipFill>
          <a:blip r:embed="rId3"/>
          <a:stretch>
            <a:fillRect/>
          </a:stretch>
        </p:blipFill>
        <p:spPr>
          <a:xfrm>
            <a:off x="8830310" y="2006600"/>
            <a:ext cx="1807845" cy="125285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67665" y="625475"/>
            <a:ext cx="11617325" cy="5536565"/>
          </a:xfrm>
        </p:spPr>
        <p:txBody>
          <a:bodyPr/>
          <a:p>
            <a:r>
              <a:rPr lang="en-US"/>
              <a:t>1. Pendidikan agama Islam berfungsi dalam keluarga dan masyarakat untuk membentuk manusia yang percaya dan ketaqwaan kepada Allah SWT agar terciptanya kehidupan yang baik dalam keluar ga dan masyarakat. </a:t>
            </a:r>
            <a:endParaRPr lang="en-US"/>
          </a:p>
          <a:p>
            <a:r>
              <a:rPr lang="en-US"/>
              <a:t>2. Pendidikan agama Islam merupakan fondasi yang sebagai sistem pendidikan moral dan ahklak dalam rangka pembangunan manusia Indonesia seutuhnya dan masyarakat Indonesia seluruhnya</a:t>
            </a:r>
            <a:endParaRPr lang="en-US"/>
          </a:p>
          <a:p>
            <a:r>
              <a:rPr lang="en-US"/>
              <a:t>3.Pendidikan agama dalam lingkungan masyarakat sangat berperan penting bagi kehidupan bermasyarakat dan untuk meningkatkan moral bangsa dan Negara.</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67030" y="403225"/>
            <a:ext cx="9597390" cy="5489575"/>
          </a:xfrm>
        </p:spPr>
        <p:txBody>
          <a:bodyPr/>
          <a:p>
            <a:pPr marL="342900" indent="-342900">
              <a:buFont typeface="Wingdings" panose="05000000000000000000" charset="0"/>
              <a:buChar char="Ø"/>
            </a:pPr>
            <a:r>
              <a:rPr lang="en-US" sz="2800" b="1">
                <a:sym typeface="+mn-ea"/>
              </a:rPr>
              <a:t>Fungsi Pendidikan Agama Islam</a:t>
            </a:r>
            <a:br>
              <a:rPr lang="en-US" sz="2800" b="1">
                <a:sym typeface="+mn-ea"/>
              </a:rPr>
            </a:br>
            <a:r>
              <a:rPr lang="en-US" sz="2800"/>
              <a:t>Pertama, PAI memiliki fungsi penanaman nilai-nilai 	Islami melalui pembelajaran yang bermutu. </a:t>
            </a:r>
            <a:endParaRPr lang="en-US" sz="2800"/>
          </a:p>
          <a:p>
            <a:pPr indent="457200"/>
            <a:r>
              <a:rPr lang="en-US" sz="2800"/>
              <a:t>Kedua, PAI memiliki fungsi keunggulan baik   	pembelajaran maupun output yang dihasilkan, 	yakni mahasiswa dengan pribadi insan kamil.</a:t>
            </a:r>
            <a:endParaRPr lang="en-US"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611120" y="1113790"/>
            <a:ext cx="3939540" cy="3503295"/>
          </a:xfrm>
          <a:prstGeom prst="ellipse">
            <a:avLst/>
          </a:prstGeom>
          <a:solidFill>
            <a:schemeClr val="accent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 name="Up Ribbon 4"/>
          <p:cNvSpPr/>
          <p:nvPr/>
        </p:nvSpPr>
        <p:spPr>
          <a:xfrm>
            <a:off x="1126490" y="2127885"/>
            <a:ext cx="7170420" cy="1384300"/>
          </a:xfrm>
          <a:prstGeom prst="ribbon2">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t>Terimakasih</a:t>
            </a:r>
            <a:endParaRPr lang="en-US" sz="3200"/>
          </a:p>
        </p:txBody>
      </p:sp>
      <p:sp>
        <p:nvSpPr>
          <p:cNvPr id="6" name="6-Point Star 5"/>
          <p:cNvSpPr/>
          <p:nvPr/>
        </p:nvSpPr>
        <p:spPr>
          <a:xfrm>
            <a:off x="1510030" y="4846955"/>
            <a:ext cx="1101090" cy="897890"/>
          </a:xfrm>
          <a:prstGeom prst="star6">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6-Point Star 6"/>
          <p:cNvSpPr/>
          <p:nvPr/>
        </p:nvSpPr>
        <p:spPr>
          <a:xfrm>
            <a:off x="9510395" y="1113790"/>
            <a:ext cx="1101090" cy="897890"/>
          </a:xfrm>
          <a:prstGeom prst="star6">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6-Point Star 7"/>
          <p:cNvSpPr/>
          <p:nvPr/>
        </p:nvSpPr>
        <p:spPr>
          <a:xfrm>
            <a:off x="9135745" y="3719195"/>
            <a:ext cx="1101090" cy="897890"/>
          </a:xfrm>
          <a:prstGeom prst="star6">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9" name="6-Point Star 8"/>
          <p:cNvSpPr/>
          <p:nvPr/>
        </p:nvSpPr>
        <p:spPr>
          <a:xfrm>
            <a:off x="5545455" y="5341620"/>
            <a:ext cx="1101090" cy="897890"/>
          </a:xfrm>
          <a:prstGeom prst="star6">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0" name="6-Point Star 9"/>
          <p:cNvSpPr/>
          <p:nvPr/>
        </p:nvSpPr>
        <p:spPr>
          <a:xfrm>
            <a:off x="1214755" y="592455"/>
            <a:ext cx="1101090" cy="897890"/>
          </a:xfrm>
          <a:prstGeom prst="star6">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{C370FC95-41EE-45AE-9F5F-DD7DC165FBF9}tf78438558_win32</Template>
  <TotalTime>0</TotalTime>
  <Words>5861</Words>
  <Application>WPS Presentation</Application>
  <PresentationFormat>Widescreen</PresentationFormat>
  <Paragraphs>87</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Times New Roman</vt:lpstr>
      <vt:lpstr>Palatino Linotype</vt:lpstr>
      <vt:lpstr>Wingdings</vt:lpstr>
      <vt:lpstr>Sabon Next LT</vt:lpstr>
      <vt:lpstr>Segoe Print</vt:lpstr>
      <vt:lpstr>Arial Black</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agama wahyu terakhir, agama Islam merupakan sistem akidah dan syariah serta akhlak yang mengatur hidup dan kehidupan manusia dalam berbagai hubungan.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Fungsi Pendidikan Agama Islam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Pendidikan agama islam </dc:title>
  <dc:creator>chuzaemah chuzaemah</dc:creator>
  <cp:lastModifiedBy>Lenovo</cp:lastModifiedBy>
  <cp:revision>26</cp:revision>
  <dcterms:created xsi:type="dcterms:W3CDTF">2022-09-13T19:10:00Z</dcterms:created>
  <dcterms:modified xsi:type="dcterms:W3CDTF">2023-09-20T13:50:24Z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13AE3840E9AC41D4A96DF67CE1AE1E87</vt:lpwstr>
  </property>
  <property fmtid="{D5CDD505-2E9C-101B-9397-08002B2CF9AE}" pid="3" name="KSOProductBuildVer">
    <vt:lpwstr>1033-12.2.0.13201</vt:lpwstr>
  </property>
</Properties>
</file>