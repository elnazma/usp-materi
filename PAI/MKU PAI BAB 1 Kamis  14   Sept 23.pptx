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78" r:id="rId3"/>
    <p:sldId id="319" r:id="rId4"/>
    <p:sldId id="279" r:id="rId5"/>
    <p:sldId id="294" r:id="rId6"/>
    <p:sldId id="298" r:id="rId7"/>
    <p:sldId id="342" r:id="rId8"/>
    <p:sldId id="299" r:id="rId9"/>
    <p:sldId id="301" r:id="rId10"/>
    <p:sldId id="300" r:id="rId11"/>
    <p:sldId id="302" r:id="rId12"/>
    <p:sldId id="303" r:id="rId13"/>
    <p:sldId id="296" r:id="rId14"/>
    <p:sldId id="304" r:id="rId15"/>
    <p:sldId id="305" r:id="rId16"/>
    <p:sldId id="306" r:id="rId17"/>
    <p:sldId id="297" r:id="rId18"/>
    <p:sldId id="307" r:id="rId19"/>
    <p:sldId id="308" r:id="rId20"/>
    <p:sldId id="309" r:id="rId21"/>
    <p:sldId id="310" r:id="rId22"/>
    <p:sldId id="311" r:id="rId23"/>
    <p:sldId id="312" r:id="rId24"/>
    <p:sldId id="313" r:id="rId25"/>
    <p:sldId id="314" r:id="rId26"/>
    <p:sldId id="362" r:id="rId27"/>
    <p:sldId id="293" r:id="rId2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0"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60"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29"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68" userDrawn="1">
          <p15:clr>
            <a:srgbClr val="A4A3A4"/>
          </p15:clr>
        </p15:guide>
        <p15:guide id="24" orient="horz" pos="960" userDrawn="1">
          <p15:clr>
            <a:srgbClr val="A4A3A4"/>
          </p15:clr>
        </p15:guide>
        <p15:guide id="25" pos="5256" userDrawn="1">
          <p15:clr>
            <a:srgbClr val="A4A3A4"/>
          </p15:clr>
        </p15:guide>
        <p15:guide id="26" pos="72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09" autoAdjust="0"/>
  </p:normalViewPr>
  <p:slideViewPr>
    <p:cSldViewPr snapToGrid="0" snapToObjects="1" showGuides="1">
      <p:cViewPr>
        <p:scale>
          <a:sx n="51" d="100"/>
          <a:sy n="51" d="100"/>
        </p:scale>
        <p:origin x="1220" y="376"/>
      </p:cViewPr>
      <p:guideLst>
        <p:guide/>
        <p:guide pos="456"/>
        <p:guide orient="horz" pos="2616"/>
        <p:guide orient="horz" pos="3264"/>
        <p:guide pos="6912"/>
        <p:guide orient="horz" pos="2160"/>
        <p:guide orient="horz" pos="4008"/>
        <p:guide orient="horz" pos="1152"/>
        <p:guide orient="horz" pos="2352"/>
        <p:guide orient="horz" pos="1512"/>
        <p:guide pos="7680"/>
        <p:guide pos="6696"/>
        <p:guide pos="1008"/>
        <p:guide pos="1584"/>
        <p:guide pos="2136"/>
        <p:guide pos="2729"/>
        <p:guide pos="3288"/>
        <p:guide pos="4032"/>
        <p:guide pos="4392"/>
        <p:guide pos="4944"/>
        <p:guide pos="5544"/>
        <p:guide pos="6072"/>
        <p:guide orient="horz" pos="2468"/>
        <p:guide orient="horz" pos="960"/>
        <p:guide pos="5256"/>
        <p:guide pos="7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p:cNvGrpSpPr/>
          <p:nvPr userDrawn="1"/>
        </p:nvGrpSpPr>
        <p:grpSpPr>
          <a:xfrm>
            <a:off x="6452303" y="3405019"/>
            <a:ext cx="5739697" cy="3467971"/>
            <a:chOff x="5009037" y="2525712"/>
            <a:chExt cx="7170193" cy="4332288"/>
          </a:xfrm>
        </p:grpSpPr>
        <p:sp>
          <p:nvSpPr>
            <p:cNvPr id="7" name="Freeform 7"/>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8" name="Freeform 6"/>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grpSp>
      <p:grpSp>
        <p:nvGrpSpPr>
          <p:cNvPr id="9" name="Group 8"/>
          <p:cNvGrpSpPr/>
          <p:nvPr userDrawn="1"/>
        </p:nvGrpSpPr>
        <p:grpSpPr>
          <a:xfrm flipH="1" flipV="1">
            <a:off x="6465610" y="0"/>
            <a:ext cx="5739697" cy="3467971"/>
            <a:chOff x="5183405" y="2678112"/>
            <a:chExt cx="7170193" cy="4332288"/>
          </a:xfrm>
        </p:grpSpPr>
        <p:sp>
          <p:nvSpPr>
            <p:cNvPr id="10" name="Freeform 7"/>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noAutofit/>
            </a:bodyPr>
            <a:lstStyle/>
            <a:p>
              <a:endParaRPr lang="en-US" dirty="0"/>
            </a:p>
          </p:txBody>
        </p:sp>
        <p:sp>
          <p:nvSpPr>
            <p:cNvPr id="11" name="Freeform 6"/>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noAutofit/>
            </a:bodyPr>
            <a:lstStyle/>
            <a:p>
              <a:endParaRPr lang="en-US" dirty="0"/>
            </a:p>
          </p:txBody>
        </p:sp>
      </p:grpSp>
      <p:sp>
        <p:nvSpPr>
          <p:cNvPr id="14" name="Image 2" descr="preencoded.png"/>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345">
              <a:lnSpc>
                <a:spcPct val="150000"/>
              </a:lnSpc>
              <a:spcBef>
                <a:spcPts val="0"/>
              </a:spcBef>
              <a:defRPr sz="2000"/>
            </a:lvl2pPr>
            <a:lvl3pPr marL="685800">
              <a:lnSpc>
                <a:spcPct val="150000"/>
              </a:lnSpc>
              <a:spcBef>
                <a:spcPts val="0"/>
              </a:spcBef>
              <a:defRPr sz="1800"/>
            </a:lvl3pPr>
          </a:lstStyle>
          <a:p>
            <a:pPr lvl="0"/>
            <a:r>
              <a:rPr lang="en-US"/>
              <a:t>Click to edit Master text styles</a:t>
            </a:r>
            <a:endParaRPr lang="en-US"/>
          </a:p>
          <a:p>
            <a:pPr lvl="1"/>
            <a:r>
              <a:rPr lang="en-US"/>
              <a:t>Second level</a:t>
            </a:r>
            <a:endParaRPr lang="en-US"/>
          </a:p>
          <a:p>
            <a:pPr lvl="2"/>
            <a:r>
              <a:rPr lang="en-US"/>
              <a:t>Third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0" name="Freeform: Shape 19"/>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4" name="Freeform: Shape 13"/>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fld>
            <a:endParaRPr lang="en-US" dirty="0"/>
          </a:p>
        </p:txBody>
      </p:sp>
      <p:sp>
        <p:nvSpPr>
          <p:cNvPr id="17" name="Freeform: Shape 16"/>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6" name="Freeform: Shape 45"/>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3" name="Freeform: Shape 42"/>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9" name="Freeform: Shape 48"/>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0" name="Freeform: Shape 39"/>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37" name="Freeform: Shape 36"/>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55" name="Text Placeholder 54"/>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endParaRPr lang="en-US"/>
          </a:p>
        </p:txBody>
      </p:sp>
      <p:sp>
        <p:nvSpPr>
          <p:cNvPr id="56" name="Text Placeholder 54"/>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32" name="Image 1" descr="preencoded.png"/>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sp>
        <p:nvSpPr>
          <p:cNvPr id="31" name="Freeform 70"/>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3" name="Picture Placeholder 16"/>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6" name="Picture Placeholder 16"/>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9" name="Picture Placeholder 16"/>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0" name="Picture Placeholder 16"/>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5" name="Text Placeholder 20"/>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3" name="Picture Placeholder 16"/>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1" name="Picture Placeholder 16"/>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8" name="Text Placeholder 20"/>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6" name="Picture Placeholder 16"/>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2" name="Picture Placeholder 16"/>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1" name="Text Placeholder 20"/>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9" name="Picture Placeholder 16"/>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3" name="Picture Placeholder 16"/>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3" name="Text Placeholder 20"/>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7" name="Text Placeholder 4"/>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8" name="Picture Placeholder 62"/>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8" name="Text Placeholder 4"/>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7" name="Picture Placeholder 62"/>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p>
        </p:txBody>
      </p:sp>
      <p:sp>
        <p:nvSpPr>
          <p:cNvPr id="26" name="Freeform: Shape 25"/>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6" name="Freeform: Shape 15"/>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
        <p:nvSpPr>
          <p:cNvPr id="30" name="Image 2" descr="preencoded.png"/>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2" name="Text Placeholder 4"/>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3" name="Text Placeholder 4"/>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4" name="Text Placeholder 4"/>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5" name="Text Placeholder 4"/>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6" name="Text Placeholder 51"/>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7" name="Text Placeholder 51"/>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8" name="Text Placeholder 51"/>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9" name="Text Placeholder 51"/>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40" name="Text Placeholder 51"/>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cxnSp>
        <p:nvCxnSpPr>
          <p:cNvPr id="42" name="Straight Connector 41"/>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39" name="Freeform: Shape 38"/>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992124"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4722876"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8371332"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9991886" y="3441269"/>
            <a:ext cx="2200114" cy="2200114"/>
          </a:xfrm>
          <a:prstGeom prst="rect">
            <a:avLst/>
          </a:prstGeom>
        </p:spPr>
      </p:pic>
      <p:sp>
        <p:nvSpPr>
          <p:cNvPr id="54" name="Image 2" descr="preencoded.png"/>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
        <p:nvSpPr>
          <p:cNvPr id="4" name="Footer Placeholder 3"/>
          <p:cNvSpPr>
            <a:spLocks noGrp="1"/>
          </p:cNvSpPr>
          <p:nvPr>
            <p:ph type="ftr" sz="quarter" idx="13"/>
          </p:nvPr>
        </p:nvSpPr>
        <p:spPr/>
        <p:txBody>
          <a:bodyPr/>
          <a:lstStyle/>
          <a:p>
            <a:r>
              <a:rPr lang="en-US"/>
              <a:t>Presentation title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descr="preencoded.png"/>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5"/>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13" name="Freeform: Shape 12"/>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
        <p:nvSpPr>
          <p:cNvPr id="18"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0" name="Content Placeholder 5"/>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9" name="Freeform: Shape 8"/>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Freeform: Shape 7"/>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345" indent="-347345"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345"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345"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30835" y="3484245"/>
            <a:ext cx="3564890" cy="31108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en-US"/>
          </a:p>
        </p:txBody>
      </p:sp>
      <p:sp>
        <p:nvSpPr>
          <p:cNvPr id="2" name="Title 1"/>
          <p:cNvSpPr>
            <a:spLocks noGrp="1"/>
          </p:cNvSpPr>
          <p:nvPr>
            <p:ph type="ctrTitle"/>
          </p:nvPr>
        </p:nvSpPr>
        <p:spPr/>
        <p:txBody>
          <a:bodyPr/>
          <a:lstStyle/>
          <a:p>
            <a:r>
              <a:rPr lang="en-US" dirty="0"/>
              <a:t>Pendidikan agama </a:t>
            </a:r>
            <a:r>
              <a:rPr lang="en-US" dirty="0" err="1"/>
              <a:t>islam</a:t>
            </a:r>
            <a:br>
              <a:rPr lang="en-US" dirty="0"/>
            </a:br>
            <a:br>
              <a:rPr lang="en-US" dirty="0"/>
            </a:br>
            <a:endParaRPr lang="en-US" dirty="0"/>
          </a:p>
        </p:txBody>
      </p:sp>
      <p:sp>
        <p:nvSpPr>
          <p:cNvPr id="3" name="Subtitle 2"/>
          <p:cNvSpPr>
            <a:spLocks noGrp="1"/>
          </p:cNvSpPr>
          <p:nvPr>
            <p:ph type="subTitle" idx="1"/>
          </p:nvPr>
        </p:nvSpPr>
        <p:spPr>
          <a:xfrm>
            <a:off x="3564255" y="3483610"/>
            <a:ext cx="4928870" cy="878840"/>
          </a:xfrm>
        </p:spPr>
        <p:txBody>
          <a:bodyPr/>
          <a:lstStyle/>
          <a:p>
            <a:r>
              <a:rPr lang="en-US" dirty="0"/>
              <a:t>Chuzaemah, </a:t>
            </a:r>
            <a:r>
              <a:rPr lang="en-US" dirty="0" err="1"/>
              <a:t>S.Pd.I</a:t>
            </a:r>
            <a:r>
              <a:rPr lang="en-US" dirty="0"/>
              <a:t>, </a:t>
            </a:r>
            <a:r>
              <a:rPr lang="en-US" dirty="0" err="1"/>
              <a:t>M.Si</a:t>
            </a:r>
            <a:r>
              <a:rPr lang="en-US" dirty="0"/>
              <a:t>​</a:t>
            </a:r>
            <a:endParaRPr lang="en-US" dirty="0"/>
          </a:p>
          <a:p>
            <a:endParaRPr lang="en-US" dirty="0"/>
          </a:p>
        </p:txBody>
      </p:sp>
      <p:sp>
        <p:nvSpPr>
          <p:cNvPr id="4" name="Rectangle 3"/>
          <p:cNvSpPr/>
          <p:nvPr/>
        </p:nvSpPr>
        <p:spPr>
          <a:xfrm>
            <a:off x="3827780" y="5339715"/>
            <a:ext cx="4394200" cy="12553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accent6">
                    <a:lumMod val="60000"/>
                    <a:lumOff val="40000"/>
                  </a:schemeClr>
                </a:solidFill>
              </a:rPr>
              <a:t>Uversitas</a:t>
            </a:r>
            <a:r>
              <a:rPr lang="en-US" sz="2800" dirty="0">
                <a:solidFill>
                  <a:schemeClr val="accent6">
                    <a:lumMod val="60000"/>
                    <a:lumOff val="40000"/>
                  </a:schemeClr>
                </a:solidFill>
              </a:rPr>
              <a:t> Safin </a:t>
            </a:r>
            <a:r>
              <a:rPr lang="en-US" sz="2800" dirty="0" err="1">
                <a:solidFill>
                  <a:schemeClr val="accent6">
                    <a:lumMod val="60000"/>
                    <a:lumOff val="40000"/>
                  </a:schemeClr>
                </a:solidFill>
              </a:rPr>
              <a:t>Pati</a:t>
            </a:r>
            <a:r>
              <a:rPr lang="en-US" sz="2800" dirty="0">
                <a:solidFill>
                  <a:schemeClr val="accent6">
                    <a:lumMod val="60000"/>
                    <a:lumOff val="40000"/>
                  </a:schemeClr>
                </a:solidFill>
              </a:rPr>
              <a:t> (USP)</a:t>
            </a:r>
            <a:endParaRPr lang="en-US" sz="2800" dirty="0">
              <a:solidFill>
                <a:schemeClr val="accent6">
                  <a:lumMod val="60000"/>
                  <a:lumOff val="40000"/>
                </a:schemeClr>
              </a:solidFill>
            </a:endParaRPr>
          </a:p>
          <a:p>
            <a:pPr algn="ctr"/>
            <a:r>
              <a:rPr lang="en-US" sz="2800" dirty="0">
                <a:solidFill>
                  <a:schemeClr val="accent6">
                    <a:lumMod val="60000"/>
                    <a:lumOff val="40000"/>
                  </a:schemeClr>
                </a:solidFill>
              </a:rPr>
              <a:t>Semester 1</a:t>
            </a:r>
            <a:endParaRPr lang="en-US" sz="2800" dirty="0">
              <a:solidFill>
                <a:schemeClr val="accent6">
                  <a:lumMod val="60000"/>
                  <a:lumOff val="40000"/>
                </a:schemeClr>
              </a:solidFill>
            </a:endParaRPr>
          </a:p>
        </p:txBody>
      </p:sp>
      <p:pic>
        <p:nvPicPr>
          <p:cNvPr id="6" name="Picture 5"/>
          <p:cNvPicPr>
            <a:picLocks noChangeAspect="1"/>
          </p:cNvPicPr>
          <p:nvPr/>
        </p:nvPicPr>
        <p:blipFill>
          <a:blip r:embed="rId1"/>
          <a:stretch>
            <a:fillRect/>
          </a:stretch>
        </p:blipFill>
        <p:spPr>
          <a:xfrm rot="19860000">
            <a:off x="928370" y="4058920"/>
            <a:ext cx="2273935" cy="20199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3986530" y="469265"/>
            <a:ext cx="8165465" cy="947420"/>
          </a:xfrm>
        </p:spPr>
        <p:txBody>
          <a:bodyPr/>
          <a:p>
            <a:r>
              <a:rPr lang="en-US" sz="2000"/>
              <a:t>Hubungan Akidah  dengan  Akhlak (satu</a:t>
            </a:r>
            <a:r>
              <a:rPr lang="en-US"/>
              <a:t> </a:t>
            </a:r>
            <a:r>
              <a:rPr lang="en-US" sz="2000"/>
              <a:t>kesatuan yang tidak dapat dipisahkan)</a:t>
            </a:r>
            <a:endParaRPr lang="en-US" sz="2000"/>
          </a:p>
        </p:txBody>
      </p:sp>
      <p:sp>
        <p:nvSpPr>
          <p:cNvPr id="3" name="Content Placeholder 2"/>
          <p:cNvSpPr/>
          <p:nvPr>
            <p:ph sz="half" idx="2"/>
          </p:nvPr>
        </p:nvSpPr>
        <p:spPr/>
        <p:txBody>
          <a:bodyPr/>
          <a:p>
            <a:endParaRPr lang="en-US"/>
          </a:p>
          <a:p>
            <a:endParaRPr lang="en-US"/>
          </a:p>
          <a:p>
            <a:endParaRPr lang="en-US"/>
          </a:p>
        </p:txBody>
      </p:sp>
      <p:pic>
        <p:nvPicPr>
          <p:cNvPr id="5" name="Content Placeholder 4"/>
          <p:cNvPicPr>
            <a:picLocks noChangeAspect="1"/>
          </p:cNvPicPr>
          <p:nvPr>
            <p:ph sz="quarter" idx="4"/>
          </p:nvPr>
        </p:nvPicPr>
        <p:blipFill>
          <a:blip r:embed="rId1"/>
          <a:stretch>
            <a:fillRect/>
          </a:stretch>
        </p:blipFill>
        <p:spPr>
          <a:xfrm>
            <a:off x="3638550" y="2629535"/>
            <a:ext cx="8545830" cy="2334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631" y="190006"/>
            <a:ext cx="11257808" cy="1292285"/>
          </a:xfrm>
        </p:spPr>
        <p:txBody>
          <a:bodyPr/>
          <a:lstStyle/>
          <a:p>
            <a:r>
              <a:rPr lang="ms-MY" sz="3200" dirty="0">
                <a:solidFill>
                  <a:srgbClr val="231F20"/>
                </a:solidFill>
                <a:effectLst/>
                <a:latin typeface="Times New Roman" panose="02020603050405020304" pitchFamily="18" charset="0"/>
                <a:ea typeface="Times New Roman" panose="02020603050405020304" pitchFamily="18" charset="0"/>
              </a:rPr>
              <a:t>BAB 1</a:t>
            </a:r>
            <a:r>
              <a:rPr lang="ms-MY" sz="3200" spc="20" dirty="0">
                <a:solidFill>
                  <a:srgbClr val="231F20"/>
                </a:solidFill>
                <a:effectLst/>
                <a:latin typeface="Times New Roman" panose="02020603050405020304" pitchFamily="18" charset="0"/>
                <a:ea typeface="Times New Roman" panose="02020603050405020304" pitchFamily="18" charset="0"/>
              </a:rPr>
              <a:t>.</a:t>
            </a:r>
            <a:r>
              <a:rPr lang="ms-MY" sz="3200" dirty="0">
                <a:solidFill>
                  <a:srgbClr val="231F20"/>
                </a:solidFill>
                <a:effectLst/>
                <a:latin typeface="Times New Roman" panose="02020603050405020304" pitchFamily="18" charset="0"/>
                <a:ea typeface="Times New Roman" panose="02020603050405020304" pitchFamily="18" charset="0"/>
              </a:rPr>
              <a:t>Pemahaman</a:t>
            </a:r>
            <a:r>
              <a:rPr lang="ms-MY" sz="3200" spc="25" dirty="0">
                <a:solidFill>
                  <a:srgbClr val="231F20"/>
                </a:solidFill>
                <a:effectLst/>
                <a:latin typeface="Times New Roman" panose="02020603050405020304" pitchFamily="18" charset="0"/>
                <a:ea typeface="Times New Roman" panose="02020603050405020304" pitchFamily="18" charset="0"/>
              </a:rPr>
              <a:t> </a:t>
            </a:r>
            <a:r>
              <a:rPr lang="ms-MY" sz="3200" dirty="0">
                <a:solidFill>
                  <a:srgbClr val="231F20"/>
                </a:solidFill>
                <a:effectLst/>
                <a:latin typeface="Times New Roman" panose="02020603050405020304" pitchFamily="18" charset="0"/>
                <a:ea typeface="Times New Roman" panose="02020603050405020304" pitchFamily="18" charset="0"/>
              </a:rPr>
              <a:t>tentang</a:t>
            </a:r>
            <a:r>
              <a:rPr lang="ms-MY" sz="3200" spc="20" dirty="0">
                <a:solidFill>
                  <a:srgbClr val="231F20"/>
                </a:solidFill>
                <a:effectLst/>
                <a:latin typeface="Times New Roman" panose="02020603050405020304" pitchFamily="18" charset="0"/>
                <a:ea typeface="Times New Roman" panose="02020603050405020304" pitchFamily="18" charset="0"/>
              </a:rPr>
              <a:t> </a:t>
            </a:r>
            <a:r>
              <a:rPr lang="ms-MY" sz="3200" dirty="0">
                <a:solidFill>
                  <a:srgbClr val="231F20"/>
                </a:solidFill>
                <a:effectLst/>
                <a:latin typeface="Times New Roman" panose="02020603050405020304" pitchFamily="18" charset="0"/>
                <a:ea typeface="Times New Roman" panose="02020603050405020304" pitchFamily="18" charset="0"/>
              </a:rPr>
              <a:t>Pendidikan</a:t>
            </a:r>
            <a:r>
              <a:rPr lang="ms-MY" sz="3200" spc="25" dirty="0">
                <a:solidFill>
                  <a:srgbClr val="231F20"/>
                </a:solidFill>
                <a:effectLst/>
                <a:latin typeface="Times New Roman" panose="02020603050405020304" pitchFamily="18" charset="0"/>
                <a:ea typeface="Times New Roman" panose="02020603050405020304" pitchFamily="18" charset="0"/>
              </a:rPr>
              <a:t> 				</a:t>
            </a:r>
            <a:r>
              <a:rPr lang="ms-MY" sz="3200" dirty="0">
                <a:solidFill>
                  <a:srgbClr val="231F20"/>
                </a:solidFill>
                <a:effectLst/>
                <a:latin typeface="Times New Roman" panose="02020603050405020304" pitchFamily="18" charset="0"/>
                <a:ea typeface="Times New Roman" panose="02020603050405020304" pitchFamily="18" charset="0"/>
              </a:rPr>
              <a:t>Agama</a:t>
            </a:r>
            <a:r>
              <a:rPr lang="ms-MY" sz="3200" spc="20" dirty="0">
                <a:solidFill>
                  <a:srgbClr val="231F20"/>
                </a:solidFill>
                <a:effectLst/>
                <a:latin typeface="Times New Roman" panose="02020603050405020304" pitchFamily="18" charset="0"/>
                <a:ea typeface="Times New Roman" panose="02020603050405020304" pitchFamily="18" charset="0"/>
              </a:rPr>
              <a:t> </a:t>
            </a:r>
            <a:r>
              <a:rPr lang="ms-MY" sz="3200" dirty="0">
                <a:solidFill>
                  <a:srgbClr val="231F20"/>
                </a:solidFill>
                <a:effectLst/>
                <a:latin typeface="Times New Roman" panose="02020603050405020304" pitchFamily="18" charset="0"/>
                <a:ea typeface="Times New Roman" panose="02020603050405020304" pitchFamily="18" charset="0"/>
              </a:rPr>
              <a:t>Islam</a:t>
            </a:r>
            <a:r>
              <a:rPr lang="ms-MY" sz="3200" spc="25" dirty="0">
                <a:solidFill>
                  <a:srgbClr val="231F20"/>
                </a:solidFill>
                <a:effectLst/>
                <a:latin typeface="Times New Roman" panose="02020603050405020304" pitchFamily="18" charset="0"/>
                <a:ea typeface="Times New Roman" panose="02020603050405020304" pitchFamily="18" charset="0"/>
              </a:rPr>
              <a:t> </a:t>
            </a:r>
            <a:endParaRPr lang="en-US" sz="3200" b="1" dirty="0">
              <a:solidFill>
                <a:schemeClr val="accent6"/>
              </a:solidFill>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a:xfrm>
            <a:off x="522514" y="1951630"/>
            <a:ext cx="10805128" cy="4708477"/>
          </a:xfrm>
        </p:spPr>
        <p:txBody>
          <a:bodyPr/>
          <a:lstStyle/>
          <a:p>
            <a:pPr marL="457200" marR="0" lvl="1" indent="0">
              <a:lnSpc>
                <a:spcPct val="100000"/>
              </a:lnSpc>
              <a:spcBef>
                <a:spcPts val="820"/>
              </a:spcBef>
              <a:spcAft>
                <a:spcPts val="0"/>
              </a:spcAft>
              <a:buClr>
                <a:srgbClr val="231F20"/>
              </a:buClr>
              <a:buSzPts val="1100"/>
              <a:buNone/>
              <a:tabLst>
                <a:tab pos="1392555" algn="l"/>
                <a:tab pos="1393190" algn="l"/>
                <a:tab pos="5086350" algn="l"/>
              </a:tabLst>
            </a:pPr>
            <a:r>
              <a:rPr lang="en-US" sz="3200" dirty="0"/>
              <a:t>a. I</a:t>
            </a:r>
            <a:r>
              <a:rPr lang="ms-MY" sz="3200" spc="-5" dirty="0">
                <a:solidFill>
                  <a:srgbClr val="231F20"/>
                </a:solidFill>
                <a:latin typeface="Times New Roman" panose="02020603050405020304" pitchFamily="18" charset="0"/>
                <a:ea typeface="Times New Roman" panose="02020603050405020304" pitchFamily="18" charset="0"/>
              </a:rPr>
              <a:t>Konsep</a:t>
            </a:r>
            <a:r>
              <a:rPr lang="ms-MY" sz="3200" spc="-3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Dasar</a:t>
            </a:r>
            <a:r>
              <a:rPr lang="ms-MY" sz="3200" spc="-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3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a:t>
            </a:r>
            <a:r>
              <a:rPr lang="ms-MY" sz="3200" spc="-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(PAI)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86350" algn="l"/>
              </a:tabLst>
            </a:pPr>
            <a:r>
              <a:rPr lang="ms-MY" sz="3200" spc="-5" dirty="0">
                <a:solidFill>
                  <a:srgbClr val="231F20"/>
                </a:solidFill>
                <a:latin typeface="Times New Roman" panose="02020603050405020304" pitchFamily="18" charset="0"/>
                <a:ea typeface="Times New Roman" panose="02020603050405020304" pitchFamily="18" charset="0"/>
              </a:rPr>
              <a:t>b. Konsep</a:t>
            </a:r>
            <a:r>
              <a:rPr lang="ms-MY" sz="3200" spc="-8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Dasar</a:t>
            </a:r>
            <a:r>
              <a:rPr lang="ms-MY" sz="3200" spc="-8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Pembentukan</a:t>
            </a:r>
            <a:r>
              <a:rPr lang="ms-MY" sz="3200" spc="-8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Karakteristik</a:t>
            </a:r>
            <a:r>
              <a:rPr lang="ms-MY" sz="3200" spc="-8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Islami</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c. Dasar-Dasar</a:t>
            </a:r>
            <a:r>
              <a:rPr lang="ms-MY" sz="3200" spc="16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Pelaksanaan</a:t>
            </a:r>
            <a:r>
              <a:rPr lang="ms-MY" sz="3200" spc="16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16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16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d. Ruang</a:t>
            </a:r>
            <a:r>
              <a:rPr lang="ms-MY" sz="3200" spc="6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Lingkup</a:t>
            </a:r>
            <a:r>
              <a:rPr lang="ms-MY" sz="3200" spc="7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6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7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e. Peran</a:t>
            </a:r>
            <a:r>
              <a:rPr lang="ms-MY" sz="3200" spc="-7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7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7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f. Fungsi</a:t>
            </a:r>
            <a:r>
              <a:rPr lang="ms-MY" sz="3200" spc="9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9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9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h. Tujuan</a:t>
            </a:r>
            <a:r>
              <a:rPr lang="ms-MY" sz="3200" spc="1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Pendidikan</a:t>
            </a:r>
            <a:r>
              <a:rPr lang="ms-MY" sz="3200" spc="1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Agama</a:t>
            </a:r>
            <a:r>
              <a:rPr lang="ms-MY" sz="3200" spc="1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Islam	</a:t>
            </a:r>
            <a:endParaRPr lang="en-US" sz="3200" spc="-5" dirty="0">
              <a:effectLst/>
              <a:latin typeface="Times New Roman" panose="02020603050405020304" pitchFamily="18" charset="0"/>
              <a:ea typeface="Times New Roman" panose="02020603050405020304" pitchFamily="18" charset="0"/>
            </a:endParaRPr>
          </a:p>
          <a:p>
            <a:pPr marL="457200" marR="0" lvl="1" indent="0">
              <a:lnSpc>
                <a:spcPct val="100000"/>
              </a:lnSpc>
              <a:spcBef>
                <a:spcPts val="335"/>
              </a:spcBef>
              <a:spcAft>
                <a:spcPts val="0"/>
              </a:spcAft>
              <a:buClr>
                <a:srgbClr val="231F20"/>
              </a:buClr>
              <a:buSzPts val="1100"/>
              <a:buNone/>
              <a:tabLst>
                <a:tab pos="1392555" algn="l"/>
                <a:tab pos="1393190" algn="l"/>
                <a:tab pos="5008245" algn="l"/>
              </a:tabLst>
            </a:pPr>
            <a:r>
              <a:rPr lang="ms-MY" sz="3200" spc="-5" dirty="0">
                <a:solidFill>
                  <a:srgbClr val="231F20"/>
                </a:solidFill>
                <a:latin typeface="Times New Roman" panose="02020603050405020304" pitchFamily="18" charset="0"/>
                <a:ea typeface="Times New Roman" panose="02020603050405020304" pitchFamily="18" charset="0"/>
              </a:rPr>
              <a:t>i. Skenario</a:t>
            </a:r>
            <a:r>
              <a:rPr lang="ms-MY" sz="3200" spc="-25"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Pembelajaran</a:t>
            </a:r>
            <a:r>
              <a:rPr lang="ms-MY" sz="3200" spc="-2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dan</a:t>
            </a:r>
            <a:r>
              <a:rPr lang="ms-MY" sz="3200" spc="-2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Rubrik</a:t>
            </a:r>
            <a:r>
              <a:rPr lang="ms-MY" sz="3200" spc="-20" dirty="0">
                <a:solidFill>
                  <a:srgbClr val="231F20"/>
                </a:solidFill>
                <a:latin typeface="Times New Roman" panose="02020603050405020304" pitchFamily="18" charset="0"/>
                <a:ea typeface="Times New Roman" panose="02020603050405020304" pitchFamily="18" charset="0"/>
              </a:rPr>
              <a:t> </a:t>
            </a:r>
            <a:r>
              <a:rPr lang="ms-MY" sz="3200" spc="-5" dirty="0">
                <a:solidFill>
                  <a:srgbClr val="231F20"/>
                </a:solidFill>
                <a:latin typeface="Times New Roman" panose="02020603050405020304" pitchFamily="18" charset="0"/>
                <a:ea typeface="Times New Roman" panose="02020603050405020304" pitchFamily="18" charset="0"/>
              </a:rPr>
              <a:t>Penilaian	</a:t>
            </a:r>
            <a:endParaRPr lang="en-US" sz="3200" spc="-5"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928" y="544750"/>
            <a:ext cx="11070076" cy="970900"/>
          </a:xfrm>
        </p:spPr>
        <p:txBody>
          <a:bodyPr/>
          <a:lstStyle/>
          <a:p>
            <a:pPr marL="742950" marR="0" lvl="1" indent="-285750">
              <a:spcBef>
                <a:spcPts val="0"/>
              </a:spcBef>
              <a:spcAft>
                <a:spcPts val="0"/>
              </a:spcAft>
              <a:tabLst>
                <a:tab pos="1024255" algn="l"/>
                <a:tab pos="1024890" algn="l"/>
              </a:tabLst>
            </a:pPr>
            <a:r>
              <a:rPr lang="ms-MY" sz="3600" b="1" spc="-10" dirty="0">
                <a:solidFill>
                  <a:srgbClr val="231F20"/>
                </a:solidFill>
                <a:latin typeface="Palatino Linotype" panose="02040502050505030304" pitchFamily="18" charset="0"/>
                <a:ea typeface="Palatino Linotype" panose="02040502050505030304" pitchFamily="18" charset="0"/>
                <a:cs typeface="Palatino Linotype" panose="02040502050505030304" pitchFamily="18" charset="0"/>
              </a:rPr>
              <a:t>A</a:t>
            </a:r>
            <a:r>
              <a:rPr lang="ms-MY" sz="4400" b="1" spc="-1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1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Konsep</a:t>
            </a:r>
            <a:r>
              <a:rPr lang="ms-MY" sz="3200" b="1" spc="-6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Dasar</a:t>
            </a:r>
            <a:r>
              <a:rPr lang="ms-MY" sz="3200" b="1" spc="-6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Pendidikan</a:t>
            </a:r>
            <a:r>
              <a:rPr lang="ms-MY" sz="3200" b="1" spc="-5" dirty="0">
                <a:solidFill>
                  <a:srgbClr val="231F20"/>
                </a:solidFill>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Agama</a:t>
            </a:r>
            <a:r>
              <a:rPr lang="ms-MY" sz="3200" b="1" spc="-6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Islam</a:t>
            </a:r>
            <a:r>
              <a:rPr lang="ms-MY" sz="3200" b="1" spc="-6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spc="-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(PAI)</a:t>
            </a:r>
            <a:br>
              <a:rPr lang="en-US" sz="4400" b="1" dirty="0">
                <a:effectLst/>
                <a:latin typeface="Palatino Linotype" panose="02040502050505030304" pitchFamily="18" charset="0"/>
                <a:ea typeface="Palatino Linotype" panose="02040502050505030304" pitchFamily="18" charset="0"/>
                <a:cs typeface="Palatino Linotype" panose="02040502050505030304" pitchFamily="18" charset="0"/>
              </a:rPr>
            </a:br>
            <a:endParaRPr lang="en-US" dirty="0"/>
          </a:p>
        </p:txBody>
      </p:sp>
      <p:sp>
        <p:nvSpPr>
          <p:cNvPr id="3" name="Content Placeholder 2"/>
          <p:cNvSpPr>
            <a:spLocks noGrp="1"/>
          </p:cNvSpPr>
          <p:nvPr>
            <p:ph idx="1"/>
          </p:nvPr>
        </p:nvSpPr>
        <p:spPr>
          <a:xfrm>
            <a:off x="661480" y="1515650"/>
            <a:ext cx="11275823" cy="4502410"/>
          </a:xfrm>
        </p:spPr>
        <p:txBody>
          <a:bodyPr/>
          <a:lstStyle/>
          <a:p>
            <a:pPr marL="457200" indent="-457200">
              <a:buFont typeface="Wingdings" panose="05000000000000000000" pitchFamily="2" charset="2"/>
              <a:buChar char="Ø"/>
            </a:pPr>
            <a:r>
              <a:rPr lang="ms-MY" sz="2800" dirty="0">
                <a:solidFill>
                  <a:srgbClr val="231F20"/>
                </a:solidFill>
                <a:effectLst/>
                <a:latin typeface="Times New Roman" panose="02020603050405020304" pitchFamily="18" charset="0"/>
                <a:ea typeface="Times New Roman" panose="02020603050405020304" pitchFamily="18" charset="0"/>
              </a:rPr>
              <a:t>Pendidikan merupakan wahana bagi individu dan masyarakat untuk</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memperoleh</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kesejahteraan</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dan</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kemajuan</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dalam</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kehidupan</a:t>
            </a:r>
            <a:endParaRPr lang="ms-MY" sz="2800" dirty="0">
              <a:solidFill>
                <a:srgbClr val="231F20"/>
              </a:solidFill>
              <a:effectLst/>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r>
              <a:rPr lang="ms-MY" sz="2800" dirty="0">
                <a:solidFill>
                  <a:srgbClr val="231F20"/>
                </a:solidFill>
                <a:latin typeface="Times New Roman" panose="02020603050405020304" pitchFamily="18" charset="0"/>
              </a:rPr>
              <a:t>Konsep dasarnya adalah Al-Qur’an dan sunnah  Nabi Muhammad SAW</a:t>
            </a:r>
            <a:endParaRPr lang="ms-MY" sz="2800" dirty="0">
              <a:solidFill>
                <a:srgbClr val="231F20"/>
              </a:solidFill>
              <a:latin typeface="Times New Roman" panose="02020603050405020304" pitchFamily="18" charset="0"/>
            </a:endParaRPr>
          </a:p>
          <a:p>
            <a:pPr marL="457200" indent="-457200">
              <a:buFont typeface="Wingdings" panose="05000000000000000000" pitchFamily="2" charset="2"/>
              <a:buChar char="Ø"/>
            </a:pPr>
            <a:r>
              <a:rPr lang="ms-MY" sz="2800" dirty="0">
                <a:solidFill>
                  <a:srgbClr val="231F20"/>
                </a:solidFill>
                <a:latin typeface="Times New Roman" panose="02020603050405020304" pitchFamily="18" charset="0"/>
              </a:rPr>
              <a:t> Secara etimologi Pendidikan berasal dari </a:t>
            </a:r>
            <a:r>
              <a:rPr lang="ms-MY" sz="2800" dirty="0">
                <a:solidFill>
                  <a:srgbClr val="231F20"/>
                </a:solidFill>
                <a:effectLst/>
                <a:latin typeface="Times New Roman" panose="02020603050405020304" pitchFamily="18" charset="0"/>
                <a:ea typeface="Times New Roman" panose="02020603050405020304" pitchFamily="18" charset="0"/>
              </a:rPr>
              <a:t>bahasa</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Arab,</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pendidikan</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disebut</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i="1" dirty="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tarbiyah</a:t>
            </a:r>
            <a:r>
              <a:rPr lang="ms-MY" sz="2800" dirty="0">
                <a:solidFill>
                  <a:srgbClr val="231F20"/>
                </a:solidFill>
                <a:effectLst/>
                <a:latin typeface="Times New Roman" panose="02020603050405020304" pitchFamily="18" charset="0"/>
                <a:ea typeface="Times New Roman" panose="02020603050405020304" pitchFamily="18" charset="0"/>
              </a:rPr>
              <a:t>,</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derivasi</a:t>
            </a:r>
            <a:r>
              <a:rPr lang="ms-MY" sz="2800" spc="-3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dari</a:t>
            </a:r>
            <a:r>
              <a:rPr lang="ms-MY" sz="2800" spc="-4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kata</a:t>
            </a:r>
            <a:r>
              <a:rPr lang="ms-MY" sz="2800" spc="-45" dirty="0">
                <a:solidFill>
                  <a:srgbClr val="231F20"/>
                </a:solidFill>
                <a:effectLst/>
                <a:latin typeface="Times New Roman" panose="02020603050405020304" pitchFamily="18" charset="0"/>
                <a:ea typeface="Times New Roman" panose="02020603050405020304" pitchFamily="18" charset="0"/>
              </a:rPr>
              <a:t> </a:t>
            </a:r>
            <a:r>
              <a:rPr lang="ms-MY" sz="2800" i="1" dirty="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rabba</a:t>
            </a:r>
            <a:r>
              <a:rPr lang="ms-MY" sz="2800" i="1" spc="-25" dirty="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yang</a:t>
            </a:r>
            <a:r>
              <a:rPr lang="ms-MY" sz="2800" spc="-28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bermakna mendidik.</a:t>
            </a:r>
            <a:endParaRPr lang="ms-MY" sz="2800" dirty="0">
              <a:solidFill>
                <a:srgbClr val="231F20"/>
              </a:solidFill>
              <a:effectLst/>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r>
              <a:rPr lang="ms-MY" sz="2800" dirty="0">
                <a:solidFill>
                  <a:srgbClr val="231F20"/>
                </a:solidFill>
                <a:effectLst/>
                <a:latin typeface="Times New Roman" panose="02020603050405020304" pitchFamily="18" charset="0"/>
                <a:ea typeface="Times New Roman" panose="02020603050405020304" pitchFamily="18" charset="0"/>
              </a:rPr>
              <a:t> Dalam bahasa</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Yunani, pendidikan berasal dari kata pedagogi, </a:t>
            </a:r>
            <a:r>
              <a:rPr lang="ms-MY" sz="2800" i="1" dirty="0">
                <a:solidFill>
                  <a:srgbClr val="231F20"/>
                </a:solidFill>
                <a:effectLst/>
                <a:latin typeface="Georgia" panose="02040502050405020303" pitchFamily="18" charset="0"/>
                <a:ea typeface="Times New Roman" panose="02020603050405020304" pitchFamily="18" charset="0"/>
              </a:rPr>
              <a:t>paid </a:t>
            </a:r>
            <a:r>
              <a:rPr lang="ms-MY" sz="2800" dirty="0">
                <a:solidFill>
                  <a:srgbClr val="231F20"/>
                </a:solidFill>
                <a:effectLst/>
                <a:latin typeface="Times New Roman" panose="02020603050405020304" pitchFamily="18" charset="0"/>
                <a:ea typeface="Times New Roman" panose="02020603050405020304" pitchFamily="18" charset="0"/>
              </a:rPr>
              <a:t>artinya anak dan</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i="1" dirty="0">
                <a:solidFill>
                  <a:srgbClr val="231F20"/>
                </a:solidFill>
                <a:effectLst/>
                <a:latin typeface="Georgia" panose="02040502050405020303" pitchFamily="18" charset="0"/>
                <a:ea typeface="Times New Roman" panose="02020603050405020304" pitchFamily="18" charset="0"/>
              </a:rPr>
              <a:t>agogos</a:t>
            </a:r>
            <a:r>
              <a:rPr lang="ms-MY" sz="2800" i="1" spc="-50" dirty="0">
                <a:solidFill>
                  <a:srgbClr val="231F20"/>
                </a:solidFill>
                <a:effectLst/>
                <a:latin typeface="Georgia" panose="02040502050405020303"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artinya</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membimbing.</a:t>
            </a:r>
            <a:r>
              <a:rPr lang="ms-MY" sz="2800" spc="-60" dirty="0">
                <a:solidFill>
                  <a:srgbClr val="231F20"/>
                </a:solidFill>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endParaRPr lang="ms-MY" sz="2800" dirty="0">
              <a:solidFill>
                <a:srgbClr val="231F20"/>
              </a:solidFill>
              <a:effectLst/>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138" y="664144"/>
            <a:ext cx="9480885" cy="2146434"/>
          </a:xfrm>
        </p:spPr>
        <p:txBody>
          <a:bodyPr/>
          <a:lstStyle/>
          <a:p>
            <a:pPr algn="just"/>
            <a:r>
              <a:rPr lang="ms-MY" sz="2000" b="0" cap="none" dirty="0">
                <a:solidFill>
                  <a:srgbClr val="231F20"/>
                </a:solidFill>
                <a:effectLst/>
                <a:latin typeface="Times New Roman" panose="02020603050405020304" pitchFamily="18" charset="0"/>
                <a:ea typeface="Times New Roman" panose="02020603050405020304" pitchFamily="18" charset="0"/>
              </a:rPr>
              <a:t>	Menurut para ahli pendidikan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adalah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usaha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membina dan mengembangkan aspek-aspek rohaniah dan jasmaniah yang</a:t>
            </a:r>
            <a:r>
              <a:rPr lang="ms-MY" sz="2000" b="0" cap="none" spc="-2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berlangsung secara bertahap.2</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akan tetapi, proses yang digunakan dalam</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usaha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kependidikan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adalah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proses</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terarah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bertujuan,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yaitu</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mengarahkan anak didik (manusia) kepada titik optimal kemampuannya.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sedangkan, tujuan yang hendak dicapai adalah terbentuknya kepribadian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 bulat dan utuh sebagai manusia individual, sosial, dan hamba tuhan</a:t>
            </a:r>
            <a:r>
              <a:rPr lang="ms-MY" sz="2000" b="0" cap="none" spc="-2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mengabdikan</a:t>
            </a:r>
            <a:r>
              <a:rPr lang="ms-MY" sz="2000" b="0" cap="none" spc="-4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diri</a:t>
            </a:r>
            <a:r>
              <a:rPr lang="ms-MY" sz="2000" b="0" cap="none" spc="-4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kepada-nya</a:t>
            </a:r>
            <a:r>
              <a:rPr lang="ms-MY" sz="1800" cap="none" dirty="0">
                <a:solidFill>
                  <a:srgbClr val="231F20"/>
                </a:solidFill>
                <a:effectLst/>
                <a:latin typeface="Times New Roman" panose="02020603050405020304" pitchFamily="18" charset="0"/>
                <a:ea typeface="Times New Roman" panose="02020603050405020304" pitchFamily="18" charset="0"/>
              </a:rPr>
              <a:t>.</a:t>
            </a:r>
            <a:endParaRPr lang="en-US" cap="none" dirty="0"/>
          </a:p>
        </p:txBody>
      </p:sp>
      <p:sp>
        <p:nvSpPr>
          <p:cNvPr id="3" name="Content Placeholder 2"/>
          <p:cNvSpPr>
            <a:spLocks noGrp="1"/>
          </p:cNvSpPr>
          <p:nvPr>
            <p:ph idx="1"/>
          </p:nvPr>
        </p:nvSpPr>
        <p:spPr>
          <a:xfrm>
            <a:off x="510139" y="2974205"/>
            <a:ext cx="9346130" cy="3359217"/>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Dari sudut pandang manusia, pendidikan ialah proses sosialisasi, yaitu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memasyarakatkan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nilai-nilai,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ilmu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pengetahuan,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keterampilan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kehidupan. Nabi Muhammad Saw. bersabda, “</a:t>
            </a:r>
            <a:r>
              <a:rPr lang="ms-MY" sz="2000" i="1" dirty="0">
                <a:solidFill>
                  <a:srgbClr val="231F20"/>
                </a:solidFill>
                <a:effectLst/>
                <a:latin typeface="Georgia" panose="02040502050405020303" pitchFamily="18" charset="0"/>
                <a:ea typeface="Times New Roman" panose="02020603050405020304" pitchFamily="18" charset="0"/>
              </a:rPr>
              <a:t>Didiklah</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anak-anakmu,</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sesungguhnya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mereka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diciptakan</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untuk</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zamannya,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dan</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bukan</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untuk</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zamanmu</a:t>
            </a:r>
            <a:r>
              <a:rPr lang="ms-MY" sz="2000" dirty="0">
                <a:solidFill>
                  <a:srgbClr val="231F20"/>
                </a:solidFill>
                <a:effectLst/>
                <a:latin typeface="Times New Roman" panose="02020603050405020304" pitchFamily="18" charset="0"/>
                <a:ea typeface="Times New Roman" panose="02020603050405020304" pitchFamily="18" charset="0"/>
              </a:rPr>
              <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Jadi,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pendidikan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harus</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berorientasi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pada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masa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depan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futuristik.</a:t>
            </a:r>
            <a:endParaRPr lang="en-US" sz="2000" dirty="0">
              <a:effectLst/>
              <a:latin typeface="Times New Roman" panose="02020603050405020304" pitchFamily="18" charset="0"/>
              <a:ea typeface="Times New Roman" panose="02020603050405020304" pitchFamily="18" charset="0"/>
            </a:endParaRPr>
          </a:p>
          <a:p>
            <a:pPr algn="just"/>
            <a:r>
              <a:rPr lang="ms-MY" sz="2000" dirty="0">
                <a:solidFill>
                  <a:srgbClr val="231F20"/>
                </a:solidFill>
                <a:effectLst/>
                <a:latin typeface="Times New Roman" panose="02020603050405020304" pitchFamily="18" charset="0"/>
                <a:ea typeface="Times New Roman" panose="02020603050405020304" pitchFamily="18" charset="0"/>
              </a:rPr>
              <a:t>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635" y="0"/>
            <a:ext cx="1206754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764" y="375385"/>
            <a:ext cx="11037236" cy="1339115"/>
          </a:xfrm>
        </p:spPr>
        <p:txBody>
          <a:bodyPr/>
          <a:lstStyle/>
          <a:p>
            <a:pPr algn="just"/>
            <a:r>
              <a:rPr lang="ms-MY" sz="2000" b="0" cap="none" dirty="0">
                <a:solidFill>
                  <a:srgbClr val="231F20"/>
                </a:solidFill>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sedangkan, dari sudut pandang individu, pendidikan merupakan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proses perkembangan potensi secara maksimal, dan diwujudkan dalam</a:t>
            </a:r>
            <a:r>
              <a:rPr lang="ms-MY" sz="2000" b="0" cap="none" spc="-30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bentuk konkret. konkret dalam arti, ia berkemampuan menciptakan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sesuatu</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baru</a:t>
            </a:r>
            <a:r>
              <a:rPr lang="ms-MY" sz="2000" b="0" cap="none" spc="9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dan</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berguna</a:t>
            </a:r>
            <a:r>
              <a:rPr lang="ms-MY" sz="2000" b="0" cap="none" spc="9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untuk</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kehidupan</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manusia</a:t>
            </a:r>
            <a:r>
              <a:rPr lang="ms-MY" sz="2000" b="0" cap="none" spc="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mendatang.</a:t>
            </a:r>
            <a:br>
              <a:rPr lang="en-US" sz="2000" b="0" cap="none" dirty="0">
                <a:effectLst/>
                <a:latin typeface="Times New Roman" panose="02020603050405020304" pitchFamily="18" charset="0"/>
                <a:ea typeface="Times New Roman" panose="02020603050405020304" pitchFamily="18" charset="0"/>
              </a:rPr>
            </a:br>
            <a:endParaRPr lang="en-US" sz="2000" b="0" cap="none" dirty="0"/>
          </a:p>
        </p:txBody>
      </p:sp>
      <p:sp>
        <p:nvSpPr>
          <p:cNvPr id="3" name="Content Placeholder 2"/>
          <p:cNvSpPr>
            <a:spLocks noGrp="1"/>
          </p:cNvSpPr>
          <p:nvPr>
            <p:ph idx="1"/>
          </p:nvPr>
        </p:nvSpPr>
        <p:spPr>
          <a:xfrm>
            <a:off x="774700" y="1714500"/>
            <a:ext cx="10897536" cy="4584700"/>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Selain itu, ia juga mampu berdialog dengan diri sendiri, dengan alam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sekitar</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sebagai</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makrokosmos,</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dengan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realitas</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absolut,</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yaitu</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Tuhannya,</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sebagai</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ultimate</a:t>
            </a:r>
            <a:r>
              <a:rPr lang="ms-MY" sz="2000" i="1" spc="-4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goal-</a:t>
            </a:r>
            <a:r>
              <a:rPr lang="ms-MY" sz="2000" dirty="0">
                <a:solidFill>
                  <a:srgbClr val="231F20"/>
                </a:solidFill>
                <a:effectLst/>
                <a:latin typeface="Times New Roman" panose="02020603050405020304" pitchFamily="18" charset="0"/>
                <a:ea typeface="Times New Roman" panose="02020603050405020304" pitchFamily="18" charset="0"/>
              </a:rPr>
              <a:t>nya.</a:t>
            </a:r>
            <a:endParaRPr lang="en-US" sz="2000" dirty="0">
              <a:effectLst/>
              <a:latin typeface="Times New Roman" panose="02020603050405020304" pitchFamily="18" charset="0"/>
              <a:ea typeface="Times New Roman" panose="02020603050405020304" pitchFamily="18" charset="0"/>
            </a:endParaRPr>
          </a:p>
          <a:p>
            <a:pPr algn="just"/>
            <a:r>
              <a:rPr lang="ms-MY" sz="2000" dirty="0">
                <a:solidFill>
                  <a:srgbClr val="231F20"/>
                </a:solidFill>
                <a:effectLst/>
                <a:latin typeface="Times New Roman" panose="02020603050405020304" pitchFamily="18" charset="0"/>
                <a:ea typeface="Times New Roman" panose="02020603050405020304" pitchFamily="18" charset="0"/>
              </a:rPr>
              <a:t>	Di dalam al-Qur’an, terdapat dua akar kata yang menjelaskan makna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pendidikan,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yaitu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rabbā-yarbū</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rabba-yarubbu</a:t>
            </a:r>
            <a:r>
              <a:rPr lang="ms-MY" sz="2000" dirty="0">
                <a:solidFill>
                  <a:srgbClr val="231F20"/>
                </a:solidFill>
                <a:effectLst/>
                <a:latin typeface="Times New Roman" panose="02020603050405020304" pitchFamily="18" charset="0"/>
                <a:ea typeface="Times New Roman" panose="02020603050405020304" pitchFamily="18" charset="0"/>
              </a:rPr>
              <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Kata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rabbā-yarbū</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diartikan </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bertambah-tumbuh, </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sebagaimana </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disebutkan </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 </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surat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ar-Rūm [30]: 39. Sedangkan, kata </a:t>
            </a:r>
            <a:r>
              <a:rPr lang="ms-MY" sz="2000" i="1" dirty="0">
                <a:solidFill>
                  <a:srgbClr val="231F20"/>
                </a:solidFill>
                <a:effectLst/>
                <a:latin typeface="Georgia" panose="02040502050405020303" pitchFamily="18" charset="0"/>
                <a:ea typeface="Times New Roman" panose="02020603050405020304" pitchFamily="18" charset="0"/>
              </a:rPr>
              <a:t>rabba-yarubbu </a:t>
            </a:r>
            <a:r>
              <a:rPr lang="ms-MY" sz="2000" dirty="0">
                <a:solidFill>
                  <a:srgbClr val="231F20"/>
                </a:solidFill>
                <a:effectLst/>
                <a:latin typeface="Times New Roman" panose="02020603050405020304" pitchFamily="18" charset="0"/>
                <a:ea typeface="Times New Roman" panose="02020603050405020304" pitchFamily="18" charset="0"/>
              </a:rPr>
              <a:t>diartikan memperbaiki-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menuntun-menjaga-memelihara,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sebagaimana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disebutkan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surat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at-Taḥrīm</a:t>
            </a:r>
            <a:r>
              <a:rPr lang="ms-MY" sz="2000" spc="-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[66]: 6.</a:t>
            </a:r>
            <a:endParaRPr lang="en-US" sz="2000" dirty="0">
              <a:effectLst/>
              <a:latin typeface="Times New Roman" panose="02020603050405020304" pitchFamily="18" charset="0"/>
              <a:ea typeface="Times New Roman" panose="02020603050405020304" pitchFamily="18" charset="0"/>
            </a:endParaRPr>
          </a:p>
          <a:p>
            <a:pPr algn="just"/>
            <a:r>
              <a:rPr lang="ms-MY" sz="2000" i="1" dirty="0">
                <a:solidFill>
                  <a:srgbClr val="231F20"/>
                </a:solidFill>
                <a:effectLst/>
                <a:latin typeface="Georgia" panose="02040502050405020303" pitchFamily="18" charset="0"/>
                <a:ea typeface="Times New Roman" panose="02020603050405020304" pitchFamily="18" charset="0"/>
              </a:rPr>
              <a:t>“Hai orang-orang yang beriman, peliharalah dirimu dan keluargamu dari</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api</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neraka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yang</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bahan</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bakarnya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adalah</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manusia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dan</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batu;</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penjaganya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malaikat-malaikat yang kasar, keras, dan tidak mendurhakai Allah terhadap</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apa yang diperintahkan-Nya kepada mereka, dan selalu mengerjakan apa</a:t>
            </a:r>
            <a:r>
              <a:rPr lang="ms-MY" sz="2000" i="1" spc="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yang</a:t>
            </a:r>
            <a:r>
              <a:rPr lang="ms-MY" sz="2000" i="1" spc="15"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diperintahkan</a:t>
            </a:r>
            <a:r>
              <a:rPr lang="ms-MY" sz="2000" dirty="0">
                <a:solidFill>
                  <a:srgbClr val="231F2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8015" y="149225"/>
            <a:ext cx="4870450" cy="539750"/>
          </a:xfrm>
        </p:spPr>
        <p:txBody>
          <a:bodyPr/>
          <a:lstStyle/>
          <a:p>
            <a:r>
              <a:rPr lang="ms-MY" sz="2800" dirty="0">
                <a:solidFill>
                  <a:srgbClr val="231F20"/>
                </a:solidFill>
                <a:effectLst/>
                <a:latin typeface="Times New Roman" panose="02020603050405020304" pitchFamily="18" charset="0"/>
                <a:ea typeface="Times New Roman" panose="02020603050405020304" pitchFamily="18" charset="0"/>
              </a:rPr>
              <a:t>surat</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Cambria" panose="02040503050406030204" pitchFamily="18" charset="0"/>
                <a:ea typeface="Times New Roman" panose="02020603050405020304" pitchFamily="18" charset="0"/>
              </a:rPr>
              <a:t>at-Taḥrīm</a:t>
            </a:r>
            <a:r>
              <a:rPr lang="ms-MY" sz="2800" spc="-5" dirty="0">
                <a:solidFill>
                  <a:srgbClr val="231F20"/>
                </a:solidFill>
                <a:effectLst/>
                <a:latin typeface="Cambria" panose="02040503050406030204" pitchFamily="18" charset="0"/>
                <a:ea typeface="Times New Roman" panose="02020603050405020304" pitchFamily="18" charset="0"/>
              </a:rPr>
              <a:t> </a:t>
            </a:r>
            <a:r>
              <a:rPr lang="ms-MY" sz="2800" dirty="0">
                <a:solidFill>
                  <a:srgbClr val="231F20"/>
                </a:solidFill>
                <a:effectLst/>
                <a:latin typeface="Cambria" panose="02040503050406030204" pitchFamily="18" charset="0"/>
                <a:ea typeface="Times New Roman" panose="02020603050405020304" pitchFamily="18" charset="0"/>
              </a:rPr>
              <a:t>[66]: 6</a:t>
            </a:r>
            <a:endParaRPr lang="en-US" sz="2800" dirty="0"/>
          </a:p>
        </p:txBody>
      </p:sp>
      <p:pic>
        <p:nvPicPr>
          <p:cNvPr id="5" name="Content Placeholder 4"/>
          <p:cNvPicPr>
            <a:picLocks noGrp="1" noChangeAspect="1"/>
          </p:cNvPicPr>
          <p:nvPr>
            <p:ph idx="1"/>
          </p:nvPr>
        </p:nvPicPr>
        <p:blipFill>
          <a:blip r:embed="rId1"/>
          <a:stretch>
            <a:fillRect/>
          </a:stretch>
        </p:blipFill>
        <p:spPr>
          <a:xfrm>
            <a:off x="616585" y="644525"/>
            <a:ext cx="10949305" cy="2524760"/>
          </a:xfrm>
        </p:spPr>
      </p:pic>
      <p:pic>
        <p:nvPicPr>
          <p:cNvPr id="3" name="Picture 2"/>
          <p:cNvPicPr>
            <a:picLocks noChangeAspect="1"/>
          </p:cNvPicPr>
          <p:nvPr/>
        </p:nvPicPr>
        <p:blipFill>
          <a:blip r:embed="rId2"/>
          <a:stretch>
            <a:fillRect/>
          </a:stretch>
        </p:blipFill>
        <p:spPr>
          <a:xfrm>
            <a:off x="624840" y="3169285"/>
            <a:ext cx="10940415" cy="2499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1" y="462708"/>
            <a:ext cx="9639758" cy="797132"/>
          </a:xfrm>
        </p:spPr>
        <p:txBody>
          <a:bodyPr/>
          <a:lstStyle/>
          <a:p>
            <a:br>
              <a:rPr lang="en-US" sz="2000" cap="none" dirty="0">
                <a:effectLst/>
                <a:latin typeface="Times New Roman" panose="02020603050405020304" pitchFamily="18" charset="0"/>
                <a:ea typeface="Times New Roman" panose="02020603050405020304" pitchFamily="18" charset="0"/>
              </a:rPr>
            </a:br>
            <a:r>
              <a:rPr lang="en-US" sz="2800" cap="none" dirty="0">
                <a:effectLst/>
                <a:latin typeface="Times New Roman" panose="02020603050405020304" pitchFamily="18" charset="0"/>
                <a:ea typeface="Times New Roman" panose="02020603050405020304" pitchFamily="18" charset="0"/>
              </a:rPr>
              <a:t>Surat </a:t>
            </a:r>
            <a:r>
              <a:rPr lang="en-US" sz="2800" cap="none" dirty="0" err="1">
                <a:effectLst/>
                <a:latin typeface="Times New Roman" panose="02020603050405020304" pitchFamily="18" charset="0"/>
                <a:ea typeface="Times New Roman" panose="02020603050405020304" pitchFamily="18" charset="0"/>
              </a:rPr>
              <a:t>Ar</a:t>
            </a:r>
            <a:r>
              <a:rPr lang="en-US" sz="2800" cap="none" dirty="0">
                <a:effectLst/>
                <a:latin typeface="Times New Roman" panose="02020603050405020304" pitchFamily="18" charset="0"/>
                <a:ea typeface="Times New Roman" panose="02020603050405020304" pitchFamily="18" charset="0"/>
              </a:rPr>
              <a:t> Rum Ayat 39</a:t>
            </a:r>
            <a:endParaRPr lang="en-US" sz="2800" b="0" cap="none" dirty="0"/>
          </a:p>
        </p:txBody>
      </p:sp>
      <p:sp>
        <p:nvSpPr>
          <p:cNvPr id="3" name="Content Placeholder 2"/>
          <p:cNvSpPr>
            <a:spLocks noGrp="1"/>
          </p:cNvSpPr>
          <p:nvPr>
            <p:ph idx="1"/>
          </p:nvPr>
        </p:nvSpPr>
        <p:spPr>
          <a:xfrm>
            <a:off x="914401" y="1940560"/>
            <a:ext cx="10363198" cy="4581426"/>
          </a:xfrm>
        </p:spPr>
        <p:txBody>
          <a:bodyPr/>
          <a:lstStyle/>
          <a:p>
            <a:endParaRPr lang="ms-MY" sz="2000" cap="none" dirty="0">
              <a:solidFill>
                <a:srgbClr val="231F20"/>
              </a:solidFill>
              <a:effectLst/>
              <a:latin typeface="Times New Roman" panose="02020603050405020304" pitchFamily="18" charset="0"/>
              <a:ea typeface="Times New Roman" panose="02020603050405020304" pitchFamily="18" charset="0"/>
            </a:endParaRPr>
          </a:p>
          <a:p>
            <a:endParaRPr lang="ms-MY" sz="2000" dirty="0">
              <a:solidFill>
                <a:srgbClr val="231F20"/>
              </a:solidFill>
              <a:latin typeface="Times New Roman" panose="02020603050405020304" pitchFamily="18" charset="0"/>
              <a:ea typeface="Times New Roman" panose="02020603050405020304" pitchFamily="18" charset="0"/>
            </a:endParaRPr>
          </a:p>
          <a:p>
            <a:endParaRPr lang="ms-MY" sz="2000" cap="none" dirty="0">
              <a:solidFill>
                <a:srgbClr val="231F20"/>
              </a:solidFill>
              <a:effectLst/>
              <a:latin typeface="Times New Roman" panose="02020603050405020304" pitchFamily="18" charset="0"/>
              <a:ea typeface="Times New Roman" panose="02020603050405020304" pitchFamily="18" charset="0"/>
            </a:endParaRPr>
          </a:p>
          <a:p>
            <a:endParaRPr lang="ms-MY" sz="2000" dirty="0">
              <a:solidFill>
                <a:srgbClr val="231F20"/>
              </a:solidFill>
              <a:latin typeface="Times New Roman" panose="02020603050405020304" pitchFamily="18" charset="0"/>
              <a:ea typeface="Times New Roman" panose="02020603050405020304" pitchFamily="18" charset="0"/>
            </a:endParaRPr>
          </a:p>
          <a:p>
            <a:endParaRPr lang="ms-MY" sz="2000" cap="none" dirty="0">
              <a:solidFill>
                <a:srgbClr val="231F20"/>
              </a:solidFill>
              <a:effectLst/>
              <a:latin typeface="Times New Roman" panose="02020603050405020304" pitchFamily="18" charset="0"/>
              <a:ea typeface="Times New Roman" panose="02020603050405020304" pitchFamily="18" charset="0"/>
            </a:endParaRPr>
          </a:p>
          <a:p>
            <a:pPr algn="just"/>
            <a:r>
              <a:rPr lang="ms-MY" sz="2000" cap="none" dirty="0">
                <a:solidFill>
                  <a:srgbClr val="231F20"/>
                </a:solidFill>
                <a:effectLst/>
                <a:latin typeface="Times New Roman" panose="02020603050405020304" pitchFamily="18" charset="0"/>
                <a:ea typeface="Times New Roman" panose="02020603050405020304" pitchFamily="18" charset="0"/>
              </a:rPr>
              <a:t>“</a:t>
            </a:r>
            <a:r>
              <a:rPr lang="ms-MY" sz="2000" i="1" dirty="0">
                <a:solidFill>
                  <a:srgbClr val="231F20"/>
                </a:solidFill>
                <a:latin typeface="Georgia" panose="02040502050405020303" pitchFamily="18" charset="0"/>
                <a:ea typeface="Times New Roman" panose="02020603050405020304" pitchFamily="18" charset="0"/>
              </a:rPr>
              <a:t>D</a:t>
            </a:r>
            <a:r>
              <a:rPr lang="ms-MY" sz="2000" i="1" cap="none" dirty="0">
                <a:solidFill>
                  <a:srgbClr val="231F20"/>
                </a:solidFill>
                <a:effectLst/>
                <a:latin typeface="Georgia" panose="02040502050405020303" pitchFamily="18" charset="0"/>
                <a:ea typeface="Times New Roman" panose="02020603050405020304" pitchFamily="18" charset="0"/>
              </a:rPr>
              <a:t>an sesuatu riba (tambahan) yang kamu berikan agar dia bertambah pada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harta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manusia,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maka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riba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itu</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tidak</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menambah</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pada</a:t>
            </a:r>
            <a:r>
              <a:rPr lang="ms-MY" sz="2000" i="1" cap="none" spc="240"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sisi</a:t>
            </a:r>
            <a:r>
              <a:rPr lang="ms-MY" sz="2000" i="1" cap="none" spc="240"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allah.</a:t>
            </a:r>
            <a:r>
              <a:rPr lang="ms-MY" sz="2000" i="1" cap="none" spc="240"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dan</a:t>
            </a:r>
            <a:r>
              <a:rPr lang="ms-MY" sz="2000" i="1" cap="none" spc="240"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apa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yang kamu berikan berupa zakat yang kamu maksudkan untuk mencapai</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keridhaan</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allah,</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maka</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(yang</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berbuat</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demikian)</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itulah</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orang-orang</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yang</a:t>
            </a:r>
            <a:r>
              <a:rPr lang="ms-MY" sz="2000" i="1" cap="none" spc="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melipat</a:t>
            </a:r>
            <a:r>
              <a:rPr lang="ms-MY" sz="2000" i="1" cap="none" spc="1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gandakan</a:t>
            </a:r>
            <a:r>
              <a:rPr lang="ms-MY" sz="2000" i="1" cap="none" spc="15" dirty="0">
                <a:solidFill>
                  <a:srgbClr val="231F20"/>
                </a:solidFill>
                <a:effectLst/>
                <a:latin typeface="Georgia" panose="02040502050405020303" pitchFamily="18" charset="0"/>
                <a:ea typeface="Times New Roman" panose="02020603050405020304" pitchFamily="18" charset="0"/>
              </a:rPr>
              <a:t> </a:t>
            </a:r>
            <a:r>
              <a:rPr lang="ms-MY" sz="2000" i="1" cap="none" dirty="0">
                <a:solidFill>
                  <a:srgbClr val="231F20"/>
                </a:solidFill>
                <a:effectLst/>
                <a:latin typeface="Georgia" panose="02040502050405020303" pitchFamily="18" charset="0"/>
                <a:ea typeface="Times New Roman" panose="02020603050405020304" pitchFamily="18" charset="0"/>
              </a:rPr>
              <a:t>(pahalanya).</a:t>
            </a:r>
            <a:r>
              <a:rPr lang="ms-MY" sz="2000" cap="none" dirty="0">
                <a:solidFill>
                  <a:srgbClr val="231F20"/>
                </a:solidFill>
                <a:effectLst/>
                <a:latin typeface="Times New Roman" panose="02020603050405020304" pitchFamily="18" charset="0"/>
                <a:ea typeface="Times New Roman" panose="02020603050405020304" pitchFamily="18" charset="0"/>
              </a:rPr>
              <a:t>”</a:t>
            </a:r>
            <a:endParaRPr lang="en-US" sz="2000" dirty="0"/>
          </a:p>
        </p:txBody>
      </p:sp>
      <p:pic>
        <p:nvPicPr>
          <p:cNvPr id="5" name="Picture 4"/>
          <p:cNvPicPr>
            <a:picLocks noChangeAspect="1"/>
          </p:cNvPicPr>
          <p:nvPr/>
        </p:nvPicPr>
        <p:blipFill>
          <a:blip r:embed="rId1"/>
          <a:stretch>
            <a:fillRect/>
          </a:stretch>
        </p:blipFill>
        <p:spPr>
          <a:xfrm>
            <a:off x="1026161" y="1808481"/>
            <a:ext cx="9639758" cy="23095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160" y="487680"/>
            <a:ext cx="9723120" cy="1849120"/>
          </a:xfrm>
        </p:spPr>
        <p:txBody>
          <a:bodyPr/>
          <a:lstStyle/>
          <a:p>
            <a:pPr algn="just"/>
            <a:r>
              <a:rPr lang="ms-MY" sz="2000" b="0" cap="none" dirty="0">
                <a:solidFill>
                  <a:srgbClr val="231F20"/>
                </a:solidFill>
                <a:latin typeface="Cambria" panose="02040503050406030204" pitchFamily="18" charset="0"/>
                <a:ea typeface="Times New Roman" panose="02020603050405020304" pitchFamily="18" charset="0"/>
              </a:rPr>
              <a:t>	D</a:t>
            </a:r>
            <a:r>
              <a:rPr lang="ms-MY" sz="2000" b="0" cap="none" dirty="0">
                <a:solidFill>
                  <a:srgbClr val="231F20"/>
                </a:solidFill>
                <a:effectLst/>
                <a:latin typeface="Cambria" panose="02040503050406030204" pitchFamily="18" charset="0"/>
                <a:ea typeface="Times New Roman" panose="02020603050405020304" pitchFamily="18" charset="0"/>
              </a:rPr>
              <a:t>ua ayat di atas memberikan pemahaman yang jelas tentang definisi</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pendidikan. surat ar-rūm [30]: 39 tersebut menjelaskan bahwa pendi</a:t>
            </a:r>
            <a:r>
              <a:rPr lang="ms-MY" sz="2000" b="0" cap="none" dirty="0">
                <a:solidFill>
                  <a:srgbClr val="231F20"/>
                </a:solidFill>
                <a:effectLst/>
                <a:latin typeface="Times New Roman" panose="02020603050405020304" pitchFamily="18" charset="0"/>
                <a:ea typeface="Times New Roman" panose="02020603050405020304" pitchFamily="18" charset="0"/>
              </a:rPr>
              <a:t>-</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merupakan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usaha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pendidik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untuk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mendewasakan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anak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didiknya.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sedangkan,</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surat</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at-taḥrīm</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[66]:</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6</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menjelaskan</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bahwa</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rPr>
              <a:t>pendidikan</a:t>
            </a:r>
            <a:r>
              <a:rPr lang="ms-MY" sz="2000" b="0" cap="none" spc="5" dirty="0">
                <a:solidFill>
                  <a:srgbClr val="231F20"/>
                </a:solidFill>
                <a:effectLst/>
                <a:latin typeface="Cambria" panose="020405030504060302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merupakan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usaha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untuk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memelihara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menuntun  peserta  didik  supaya</a:t>
            </a:r>
            <a:r>
              <a:rPr lang="ms-MY" sz="2000" b="0" cap="none" spc="-27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taat</a:t>
            </a:r>
            <a:r>
              <a:rPr lang="ms-MY" sz="2000" b="0" cap="none" spc="1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terhadap</a:t>
            </a:r>
            <a:r>
              <a:rPr lang="ms-MY" sz="2000" b="0" cap="none" spc="1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peraturan</a:t>
            </a:r>
            <a:r>
              <a:rPr lang="ms-MY" sz="2000" b="0" cap="none" spc="1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2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berlaku</a:t>
            </a:r>
            <a:r>
              <a:rPr lang="ms-MY" sz="2000" b="0" cap="none" spc="1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dalam</a:t>
            </a:r>
            <a:r>
              <a:rPr lang="ms-MY" sz="2000" b="0" cap="none" spc="1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kehidupan.</a:t>
            </a:r>
            <a:br>
              <a:rPr lang="en-US" sz="2000" b="0" cap="none" dirty="0">
                <a:effectLst/>
                <a:latin typeface="Times New Roman" panose="02020603050405020304" pitchFamily="18" charset="0"/>
                <a:ea typeface="Times New Roman" panose="02020603050405020304" pitchFamily="18" charset="0"/>
              </a:rPr>
            </a:br>
            <a:endParaRPr lang="en-US" sz="2000" b="0" dirty="0"/>
          </a:p>
        </p:txBody>
      </p:sp>
      <p:sp>
        <p:nvSpPr>
          <p:cNvPr id="3" name="Content Placeholder 2"/>
          <p:cNvSpPr>
            <a:spLocks noGrp="1"/>
          </p:cNvSpPr>
          <p:nvPr>
            <p:ph idx="1"/>
          </p:nvPr>
        </p:nvSpPr>
        <p:spPr>
          <a:xfrm>
            <a:off x="772160" y="2336800"/>
            <a:ext cx="10546080" cy="4216400"/>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Secara etimologi, kata </a:t>
            </a:r>
            <a:r>
              <a:rPr lang="ms-MY" sz="1800" i="1" dirty="0">
                <a:solidFill>
                  <a:srgbClr val="231F20"/>
                </a:solidFill>
                <a:effectLst/>
                <a:latin typeface="Georgia" panose="02040502050405020303" pitchFamily="18" charset="0"/>
                <a:ea typeface="Times New Roman" panose="02020603050405020304" pitchFamily="18" charset="0"/>
              </a:rPr>
              <a:t>education </a:t>
            </a:r>
            <a:r>
              <a:rPr lang="ms-MY" sz="1800" dirty="0">
                <a:solidFill>
                  <a:srgbClr val="231F20"/>
                </a:solidFill>
                <a:effectLst/>
                <a:latin typeface="Times New Roman" panose="02020603050405020304" pitchFamily="18" charset="0"/>
                <a:ea typeface="Times New Roman" panose="02020603050405020304" pitchFamily="18" charset="0"/>
              </a:rPr>
              <a:t>yang diterjemahkan ke dalam</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bahasa</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Indonesia</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dengan</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i="1" dirty="0">
                <a:solidFill>
                  <a:srgbClr val="231F20"/>
                </a:solidFill>
                <a:effectLst/>
                <a:latin typeface="Georgia" panose="02040502050405020303" pitchFamily="18" charset="0"/>
                <a:ea typeface="Times New Roman" panose="02020603050405020304" pitchFamily="18" charset="0"/>
              </a:rPr>
              <a:t>pendidikan</a:t>
            </a:r>
            <a:r>
              <a:rPr lang="ms-MY" sz="1800" i="1" spc="-30" dirty="0">
                <a:solidFill>
                  <a:srgbClr val="231F20"/>
                </a:solidFill>
                <a:effectLst/>
                <a:latin typeface="Georgia" panose="02040502050405020303"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merupakan</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kata</a:t>
            </a:r>
            <a:r>
              <a:rPr lang="ms-MY" sz="1800" spc="-3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benda</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turunan</a:t>
            </a:r>
            <a:r>
              <a:rPr lang="ms-MY" sz="1800" spc="-4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dari</a:t>
            </a:r>
            <a:r>
              <a:rPr lang="ms-MY" sz="1800" spc="-29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kata kerja bahasa Latin </a:t>
            </a:r>
            <a:r>
              <a:rPr lang="ms-MY" sz="1800" i="1" dirty="0">
                <a:solidFill>
                  <a:srgbClr val="231F20"/>
                </a:solidFill>
                <a:effectLst/>
                <a:latin typeface="Georgia" panose="02040502050405020303" pitchFamily="18" charset="0"/>
                <a:ea typeface="Times New Roman" panose="02020603050405020304" pitchFamily="18" charset="0"/>
              </a:rPr>
              <a:t>educare</a:t>
            </a:r>
            <a:r>
              <a:rPr lang="ms-MY" sz="1800" dirty="0">
                <a:solidFill>
                  <a:srgbClr val="231F20"/>
                </a:solidFill>
                <a:effectLst/>
                <a:latin typeface="Times New Roman" panose="02020603050405020304" pitchFamily="18" charset="0"/>
                <a:ea typeface="Times New Roman" panose="02020603050405020304" pitchFamily="18" charset="0"/>
              </a:rPr>
              <a:t>. Kata </a:t>
            </a:r>
            <a:r>
              <a:rPr lang="ms-MY" sz="1800" i="1" dirty="0">
                <a:solidFill>
                  <a:srgbClr val="231F20"/>
                </a:solidFill>
                <a:effectLst/>
                <a:latin typeface="Georgia" panose="02040502050405020303" pitchFamily="18" charset="0"/>
                <a:ea typeface="Times New Roman" panose="02020603050405020304" pitchFamily="18" charset="0"/>
              </a:rPr>
              <a:t>pendidikan </a:t>
            </a:r>
            <a:r>
              <a:rPr lang="ms-MY" sz="1800" dirty="0">
                <a:solidFill>
                  <a:srgbClr val="231F20"/>
                </a:solidFill>
                <a:effectLst/>
                <a:latin typeface="Times New Roman" panose="02020603050405020304" pitchFamily="18" charset="0"/>
                <a:ea typeface="Times New Roman" panose="02020603050405020304" pitchFamily="18" charset="0"/>
              </a:rPr>
              <a:t>berasal dari dua kata</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spc="-5" dirty="0">
                <a:solidFill>
                  <a:srgbClr val="231F20"/>
                </a:solidFill>
                <a:effectLst/>
                <a:latin typeface="Times New Roman" panose="02020603050405020304" pitchFamily="18" charset="0"/>
                <a:ea typeface="Times New Roman" panose="02020603050405020304" pitchFamily="18" charset="0"/>
              </a:rPr>
              <a:t>kerja </a:t>
            </a:r>
            <a:r>
              <a:rPr lang="ms-MY" sz="1800" dirty="0">
                <a:solidFill>
                  <a:srgbClr val="231F20"/>
                </a:solidFill>
                <a:effectLst/>
                <a:latin typeface="Times New Roman" panose="02020603050405020304" pitchFamily="18" charset="0"/>
                <a:ea typeface="Times New Roman" panose="02020603050405020304" pitchFamily="18" charset="0"/>
              </a:rPr>
              <a:t>yang berbeda, yaitu dari kata </a:t>
            </a:r>
            <a:r>
              <a:rPr lang="ms-MY" sz="1800" i="1" dirty="0">
                <a:solidFill>
                  <a:srgbClr val="231F20"/>
                </a:solidFill>
                <a:effectLst/>
                <a:latin typeface="Georgia" panose="02040502050405020303" pitchFamily="18" charset="0"/>
                <a:ea typeface="Times New Roman" panose="02020603050405020304" pitchFamily="18" charset="0"/>
              </a:rPr>
              <a:t>educare </a:t>
            </a:r>
            <a:r>
              <a:rPr lang="ms-MY" sz="1800" dirty="0">
                <a:solidFill>
                  <a:srgbClr val="231F20"/>
                </a:solidFill>
                <a:effectLst/>
                <a:latin typeface="Times New Roman" panose="02020603050405020304" pitchFamily="18" charset="0"/>
                <a:ea typeface="Times New Roman" panose="02020603050405020304" pitchFamily="18" charset="0"/>
              </a:rPr>
              <a:t>dan </a:t>
            </a:r>
            <a:r>
              <a:rPr lang="ms-MY" sz="1800" i="1" dirty="0">
                <a:solidFill>
                  <a:srgbClr val="231F20"/>
                </a:solidFill>
                <a:effectLst/>
                <a:latin typeface="Georgia" panose="02040502050405020303" pitchFamily="18" charset="0"/>
                <a:ea typeface="Times New Roman" panose="02020603050405020304" pitchFamily="18" charset="0"/>
              </a:rPr>
              <a:t>educere</a:t>
            </a:r>
            <a:r>
              <a:rPr lang="ms-MY" sz="1800" dirty="0">
                <a:solidFill>
                  <a:srgbClr val="231F20"/>
                </a:solidFill>
                <a:effectLst/>
                <a:latin typeface="Times New Roman" panose="02020603050405020304" pitchFamily="18" charset="0"/>
                <a:ea typeface="Times New Roman" panose="02020603050405020304" pitchFamily="18" charset="0"/>
              </a:rPr>
              <a:t>. Kata </a:t>
            </a:r>
            <a:r>
              <a:rPr lang="ms-MY" sz="1800" i="1" dirty="0">
                <a:solidFill>
                  <a:srgbClr val="231F20"/>
                </a:solidFill>
                <a:effectLst/>
                <a:latin typeface="Georgia" panose="02040502050405020303" pitchFamily="18" charset="0"/>
                <a:ea typeface="Times New Roman" panose="02020603050405020304" pitchFamily="18" charset="0"/>
              </a:rPr>
              <a:t>educare</a:t>
            </a:r>
            <a:r>
              <a:rPr lang="ms-MY" sz="1800" dirty="0">
                <a:solidFill>
                  <a:srgbClr val="231F20"/>
                </a:solidFill>
                <a:effectLst/>
                <a:latin typeface="Times New Roman" panose="02020603050405020304" pitchFamily="18" charset="0"/>
                <a:ea typeface="Times New Roman" panose="02020603050405020304" pitchFamily="18" charset="0"/>
              </a:rPr>
              <a:t>,</a:t>
            </a:r>
            <a:r>
              <a:rPr lang="ms-MY" sz="1800" spc="-28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dalam bahasa Latin, memiliki konotasi </a:t>
            </a:r>
            <a:r>
              <a:rPr lang="ms-MY" sz="1800" i="1" dirty="0">
                <a:solidFill>
                  <a:srgbClr val="231F20"/>
                </a:solidFill>
                <a:effectLst/>
                <a:latin typeface="Georgia" panose="02040502050405020303" pitchFamily="18" charset="0"/>
                <a:ea typeface="Times New Roman" panose="02020603050405020304" pitchFamily="18" charset="0"/>
              </a:rPr>
              <a:t>melatih </a:t>
            </a:r>
            <a:r>
              <a:rPr lang="ms-MY" sz="1800" dirty="0">
                <a:solidFill>
                  <a:srgbClr val="231F20"/>
                </a:solidFill>
                <a:effectLst/>
                <a:latin typeface="Times New Roman" panose="02020603050405020304" pitchFamily="18" charset="0"/>
                <a:ea typeface="Times New Roman" panose="02020603050405020304" pitchFamily="18" charset="0"/>
              </a:rPr>
              <a:t>atau </a:t>
            </a:r>
            <a:r>
              <a:rPr lang="ms-MY" sz="1800" i="1" dirty="0">
                <a:solidFill>
                  <a:srgbClr val="231F20"/>
                </a:solidFill>
                <a:effectLst/>
                <a:latin typeface="Georgia" panose="02040502050405020303" pitchFamily="18" charset="0"/>
                <a:ea typeface="Times New Roman" panose="02020603050405020304" pitchFamily="18" charset="0"/>
              </a:rPr>
              <a:t>menjinakkan </a:t>
            </a:r>
            <a:r>
              <a:rPr lang="ms-MY" sz="1800" dirty="0">
                <a:solidFill>
                  <a:srgbClr val="231F20"/>
                </a:solidFill>
                <a:effectLst/>
                <a:latin typeface="Times New Roman" panose="02020603050405020304" pitchFamily="18" charset="0"/>
                <a:ea typeface="Times New Roman" panose="02020603050405020304" pitchFamily="18" charset="0"/>
              </a:rPr>
              <a:t>(dalam</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hal</a:t>
            </a:r>
            <a:r>
              <a:rPr lang="ms-MY" sz="1800" spc="-7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kebinatangan),</a:t>
            </a:r>
            <a:r>
              <a:rPr lang="ms-MY" sz="1800" spc="-65" dirty="0">
                <a:solidFill>
                  <a:srgbClr val="231F20"/>
                </a:solidFill>
                <a:effectLst/>
                <a:latin typeface="Times New Roman" panose="02020603050405020304" pitchFamily="18" charset="0"/>
                <a:ea typeface="Times New Roman" panose="02020603050405020304" pitchFamily="18" charset="0"/>
              </a:rPr>
              <a:t> </a:t>
            </a:r>
            <a:r>
              <a:rPr lang="ms-MY" sz="1800" i="1" dirty="0">
                <a:solidFill>
                  <a:srgbClr val="231F20"/>
                </a:solidFill>
                <a:effectLst/>
                <a:latin typeface="Georgia" panose="02040502050405020303" pitchFamily="18" charset="0"/>
                <a:ea typeface="Times New Roman" panose="02020603050405020304" pitchFamily="18" charset="0"/>
              </a:rPr>
              <a:t>menyuburkan</a:t>
            </a:r>
            <a:r>
              <a:rPr lang="ms-MY" sz="1800" i="1" spc="-55" dirty="0">
                <a:solidFill>
                  <a:srgbClr val="231F20"/>
                </a:solidFill>
                <a:effectLst/>
                <a:latin typeface="Georgia" panose="02040502050405020303"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(dalam</a:t>
            </a:r>
            <a:r>
              <a:rPr lang="ms-MY" sz="1800" spc="-70"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hal</a:t>
            </a:r>
            <a:r>
              <a:rPr lang="ms-MY" sz="1800" spc="-6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tanaman).</a:t>
            </a:r>
            <a:endParaRPr lang="en-US" sz="1800" dirty="0">
              <a:effectLst/>
              <a:latin typeface="Times New Roman" panose="02020603050405020304" pitchFamily="18" charset="0"/>
              <a:ea typeface="Times New Roman" panose="02020603050405020304" pitchFamily="18" charset="0"/>
            </a:endParaRPr>
          </a:p>
          <a:p>
            <a:pPr algn="just"/>
            <a:r>
              <a:rPr lang="ms-MY" sz="1800" dirty="0">
                <a:solidFill>
                  <a:srgbClr val="231F20"/>
                </a:solidFill>
                <a:effectLst/>
                <a:latin typeface="Times New Roman" panose="02020603050405020304" pitchFamily="18" charset="0"/>
                <a:ea typeface="Times New Roman" panose="02020603050405020304" pitchFamily="18" charset="0"/>
              </a:rPr>
              <a:t>	Pendidikan merupakan sebuah proses yang membantu menumbuhkan,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mengembangkan,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mendewasakan,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serta</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membuat</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sesuatu</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yang</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semula tidak tertata menjadi semakin tertata; semacam proses penciptaan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sebuah kultur dan tata keteraturan dalam diri maupun dalam diri orang</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lain. Selain itu, pendidikan juga sebagai proses pengembangan berbagai</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potensi</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yang</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ada</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dalam</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diri</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manusia,</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seperti</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kemampuan</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Times New Roman" panose="02020603050405020304" pitchFamily="18" charset="0"/>
                <a:ea typeface="Times New Roman" panose="02020603050405020304" pitchFamily="18" charset="0"/>
              </a:rPr>
              <a:t>akademis,</a:t>
            </a:r>
            <a:r>
              <a:rPr lang="ms-MY" sz="1800" spc="5" dirty="0">
                <a:solidFill>
                  <a:srgbClr val="231F20"/>
                </a:solidFill>
                <a:effectLst/>
                <a:latin typeface="Times New Roman" panose="020206030504050203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relasional,</a:t>
            </a:r>
            <a:r>
              <a:rPr lang="ms-MY" sz="1800" spc="-35"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bakat,</a:t>
            </a:r>
            <a:r>
              <a:rPr lang="ms-MY" sz="1800" spc="-25"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talenta,</a:t>
            </a:r>
            <a:r>
              <a:rPr lang="ms-MY" sz="1800" spc="-30"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kemampuan</a:t>
            </a:r>
            <a:r>
              <a:rPr lang="ms-MY" sz="1800" spc="-30"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fisik,</a:t>
            </a:r>
            <a:r>
              <a:rPr lang="ms-MY" sz="1800" spc="-30"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atau</a:t>
            </a:r>
            <a:r>
              <a:rPr lang="ms-MY" sz="1800" spc="-35"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daya-daya</a:t>
            </a:r>
            <a:r>
              <a:rPr lang="ms-MY" sz="1800" spc="-30" dirty="0">
                <a:solidFill>
                  <a:srgbClr val="231F20"/>
                </a:solidFill>
                <a:effectLst/>
                <a:latin typeface="Cambria" panose="02040503050406030204" pitchFamily="18" charset="0"/>
                <a:ea typeface="Times New Roman" panose="02020603050405020304" pitchFamily="18" charset="0"/>
              </a:rPr>
              <a:t> </a:t>
            </a:r>
            <a:r>
              <a:rPr lang="ms-MY" sz="1800" dirty="0">
                <a:solidFill>
                  <a:srgbClr val="231F20"/>
                </a:solidFill>
                <a:effectLst/>
                <a:latin typeface="Cambria" panose="02040503050406030204" pitchFamily="18" charset="0"/>
                <a:ea typeface="Times New Roman" panose="02020603050405020304" pitchFamily="18" charset="0"/>
              </a:rPr>
              <a:t>seni.</a:t>
            </a:r>
            <a:r>
              <a:rPr lang="ms-MY" sz="1800" dirty="0">
                <a:solidFill>
                  <a:srgbClr val="231F20"/>
                </a:solidFill>
                <a:effectLst/>
                <a:latin typeface="Times New Roman" panose="02020603050405020304" pitchFamily="18" charset="0"/>
                <a:ea typeface="Times New Roman" panose="02020603050405020304" pitchFamily="18" charset="0"/>
              </a:rPr>
              <a:t>3</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20" y="497840"/>
            <a:ext cx="10861040" cy="802640"/>
          </a:xfrm>
        </p:spPr>
        <p:txBody>
          <a:bodyPr/>
          <a:lstStyle/>
          <a:p>
            <a:r>
              <a:rPr lang="ms-MY" sz="2000" cap="none" dirty="0">
                <a:solidFill>
                  <a:srgbClr val="231F20"/>
                </a:solidFill>
                <a:latin typeface="Times New Roman" panose="02020603050405020304" pitchFamily="18" charset="0"/>
                <a:ea typeface="Times New Roman" panose="02020603050405020304" pitchFamily="18" charset="0"/>
              </a:rPr>
              <a:t>U</a:t>
            </a:r>
            <a:r>
              <a:rPr lang="ms-MY" sz="2000" cap="none" dirty="0">
                <a:solidFill>
                  <a:srgbClr val="231F20"/>
                </a:solidFill>
                <a:effectLst/>
                <a:latin typeface="Times New Roman" panose="02020603050405020304" pitchFamily="18" charset="0"/>
                <a:ea typeface="Times New Roman" panose="02020603050405020304" pitchFamily="18" charset="0"/>
              </a:rPr>
              <a:t>ntuk dapat mengembangkan potensi yang dimiliki, maka manusia</a:t>
            </a:r>
            <a:r>
              <a:rPr lang="ms-MY" sz="2000" cap="none" spc="5"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perlu pendidikan</a:t>
            </a:r>
            <a:endParaRPr lang="en-US" sz="2000" cap="none" dirty="0"/>
          </a:p>
        </p:txBody>
      </p:sp>
      <p:sp>
        <p:nvSpPr>
          <p:cNvPr id="3" name="Content Placeholder 2"/>
          <p:cNvSpPr>
            <a:spLocks noGrp="1"/>
          </p:cNvSpPr>
          <p:nvPr>
            <p:ph idx="1"/>
          </p:nvPr>
        </p:nvSpPr>
        <p:spPr>
          <a:xfrm>
            <a:off x="711200" y="1605280"/>
            <a:ext cx="9265920" cy="4287520"/>
          </a:xfrm>
        </p:spPr>
        <p:txBody>
          <a:bodyPr/>
          <a:lstStyle/>
          <a:p>
            <a:r>
              <a:rPr lang="ms-MY" sz="180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Allah</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Swt.,</a:t>
            </a:r>
            <a:r>
              <a:rPr lang="ms-MY" spc="-4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dengan</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jelas,</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memer-</a:t>
            </a:r>
            <a:r>
              <a:rPr lang="ms-MY" spc="-29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intahkan</a:t>
            </a:r>
            <a:r>
              <a:rPr lang="ms-MY" spc="-7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kita</a:t>
            </a:r>
            <a:r>
              <a:rPr lang="ms-MY" spc="-7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untuk</a:t>
            </a:r>
            <a:r>
              <a:rPr lang="ms-MY" spc="-6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a:t>
            </a:r>
            <a:r>
              <a:rPr lang="ms-MY" i="1" spc="-5" dirty="0">
                <a:solidFill>
                  <a:srgbClr val="231F20"/>
                </a:solidFill>
                <a:effectLst/>
                <a:latin typeface="Georgia" panose="02040502050405020303" pitchFamily="18" charset="0"/>
                <a:ea typeface="Times New Roman" panose="02020603050405020304" pitchFamily="18" charset="0"/>
              </a:rPr>
              <a:t>Iqra’</a:t>
            </a:r>
            <a:r>
              <a:rPr lang="ms-MY" spc="-5" dirty="0">
                <a:solidFill>
                  <a:srgbClr val="231F20"/>
                </a:solidFill>
                <a:effectLst/>
                <a:latin typeface="Times New Roman" panose="02020603050405020304" pitchFamily="18" charset="0"/>
                <a:ea typeface="Times New Roman" panose="02020603050405020304" pitchFamily="18" charset="0"/>
              </a:rPr>
              <a:t>”</a:t>
            </a:r>
            <a:r>
              <a:rPr lang="ms-MY" spc="-7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dalam</a:t>
            </a:r>
            <a:r>
              <a:rPr lang="ms-MY" spc="-6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surat</a:t>
            </a:r>
            <a:r>
              <a:rPr lang="ms-MY" spc="-7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al-‘Alaq,</a:t>
            </a:r>
            <a:r>
              <a:rPr lang="ms-MY" spc="-6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yang</a:t>
            </a:r>
            <a:r>
              <a:rPr lang="ms-MY" spc="-7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merupakan</a:t>
            </a:r>
            <a:r>
              <a:rPr lang="ms-MY" spc="-70" dirty="0">
                <a:solidFill>
                  <a:srgbClr val="231F20"/>
                </a:solidFill>
                <a:effectLst/>
                <a:latin typeface="Times New Roman" panose="02020603050405020304" pitchFamily="18" charset="0"/>
                <a:ea typeface="Times New Roman" panose="02020603050405020304" pitchFamily="18" charset="0"/>
              </a:rPr>
              <a:t> </a:t>
            </a:r>
            <a:r>
              <a:rPr lang="ms-MY" i="1" dirty="0">
                <a:solidFill>
                  <a:srgbClr val="231F20"/>
                </a:solidFill>
                <a:effectLst/>
                <a:latin typeface="Georgia" panose="02040502050405020303" pitchFamily="18" charset="0"/>
                <a:ea typeface="Times New Roman" panose="02020603050405020304" pitchFamily="18" charset="0"/>
              </a:rPr>
              <a:t>kalam-</a:t>
            </a:r>
            <a:r>
              <a:rPr lang="ms-MY" i="1" spc="-280" dirty="0">
                <a:solidFill>
                  <a:srgbClr val="231F20"/>
                </a:solidFill>
                <a:effectLst/>
                <a:latin typeface="Georgia" panose="02040502050405020303" pitchFamily="18" charset="0"/>
                <a:ea typeface="Times New Roman" panose="02020603050405020304" pitchFamily="18" charset="0"/>
              </a:rPr>
              <a:t> </a:t>
            </a:r>
            <a:r>
              <a:rPr lang="ms-MY" i="1" dirty="0">
                <a:solidFill>
                  <a:srgbClr val="231F20"/>
                </a:solidFill>
                <a:effectLst/>
                <a:latin typeface="Georgia" panose="02040502050405020303" pitchFamily="18" charset="0"/>
                <a:ea typeface="Times New Roman" panose="02020603050405020304" pitchFamily="18" charset="0"/>
              </a:rPr>
              <a:t>ullah</a:t>
            </a:r>
            <a:r>
              <a:rPr lang="ms-MY" i="1" spc="-30" dirty="0">
                <a:solidFill>
                  <a:srgbClr val="231F20"/>
                </a:solidFill>
                <a:effectLst/>
                <a:latin typeface="Georgia" panose="02040502050405020303"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pertama</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yang</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diturunkan</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kepada</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Rasulullah</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Saw.</a:t>
            </a:r>
            <a:r>
              <a:rPr lang="ms-MY" spc="-45" dirty="0">
                <a:solidFill>
                  <a:srgbClr val="231F20"/>
                </a:solidFill>
                <a:effectLst/>
                <a:latin typeface="Times New Roman" panose="02020603050405020304" pitchFamily="18" charset="0"/>
                <a:ea typeface="Times New Roman" panose="02020603050405020304" pitchFamily="18" charset="0"/>
              </a:rPr>
              <a:t> </a:t>
            </a:r>
            <a:r>
              <a:rPr lang="ms-MY" i="1" dirty="0">
                <a:solidFill>
                  <a:srgbClr val="231F20"/>
                </a:solidFill>
                <a:effectLst/>
                <a:latin typeface="Georgia" panose="02040502050405020303" pitchFamily="18" charset="0"/>
                <a:ea typeface="Times New Roman" panose="02020603050405020304" pitchFamily="18" charset="0"/>
              </a:rPr>
              <a:t>Iqra’</a:t>
            </a:r>
            <a:r>
              <a:rPr lang="ms-MY" i="1" spc="-25" dirty="0">
                <a:solidFill>
                  <a:srgbClr val="231F20"/>
                </a:solidFill>
                <a:effectLst/>
                <a:latin typeface="Georgia" panose="02040502050405020303"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di</a:t>
            </a:r>
            <a:r>
              <a:rPr lang="ms-MY" spc="-3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sini</a:t>
            </a:r>
            <a:r>
              <a:rPr lang="ms-MY" spc="-4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tidak</a:t>
            </a:r>
            <a:r>
              <a:rPr lang="ms-MY" spc="-28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bisa hanya diartikan secara sempit “bacalah”, tetapi harus pula dimaknai</a:t>
            </a:r>
            <a:r>
              <a:rPr lang="ms-MY" spc="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dalam</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arti</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luas</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agar</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manusia</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menggunakan</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dan</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mengembangkan</a:t>
            </a:r>
            <a:r>
              <a:rPr lang="ms-MY" spc="-2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kemam-</a:t>
            </a:r>
            <a:r>
              <a:rPr lang="ms-MY" spc="-29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puan-kemampuan yang telah diberikan oleh Allah Swt. sebagai </a:t>
            </a:r>
            <a:r>
              <a:rPr lang="ms-MY" i="1" dirty="0">
                <a:solidFill>
                  <a:srgbClr val="231F20"/>
                </a:solidFill>
                <a:effectLst/>
                <a:latin typeface="Georgia" panose="02040502050405020303" pitchFamily="18" charset="0"/>
                <a:ea typeface="Times New Roman" panose="02020603050405020304" pitchFamily="18" charset="0"/>
              </a:rPr>
              <a:t>khalifah</a:t>
            </a:r>
            <a:r>
              <a:rPr lang="ms-MY" i="1" spc="5" dirty="0">
                <a:solidFill>
                  <a:srgbClr val="231F20"/>
                </a:solidFill>
                <a:effectLst/>
                <a:latin typeface="Georgia" panose="02040502050405020303" pitchFamily="18" charset="0"/>
                <a:ea typeface="Times New Roman" panose="02020603050405020304" pitchFamily="18" charset="0"/>
              </a:rPr>
              <a:t> </a:t>
            </a:r>
            <a:r>
              <a:rPr lang="en-US" altLang="ms-MY" i="1" spc="5" dirty="0">
                <a:solidFill>
                  <a:srgbClr val="231F20"/>
                </a:solidFill>
                <a:effectLst/>
                <a:latin typeface="Georgia" panose="02040502050405020303" pitchFamily="18" charset="0"/>
                <a:ea typeface="Times New Roman" panose="02020603050405020304" pitchFamily="18" charset="0"/>
              </a:rPr>
              <a:t>              </a:t>
            </a:r>
            <a:r>
              <a:rPr lang="ms-MY" i="1" dirty="0">
                <a:solidFill>
                  <a:srgbClr val="231F20"/>
                </a:solidFill>
                <a:effectLst/>
                <a:latin typeface="Georgia" panose="02040502050405020303" pitchFamily="18" charset="0"/>
                <a:ea typeface="Times New Roman" panose="02020603050405020304" pitchFamily="18" charset="0"/>
              </a:rPr>
              <a:t>fil ardh</a:t>
            </a:r>
            <a:r>
              <a:rPr lang="ms-MY" dirty="0">
                <a:solidFill>
                  <a:srgbClr val="231F20"/>
                </a:solidFill>
                <a:effectLst/>
                <a:latin typeface="Times New Roman" panose="02020603050405020304" pitchFamily="18" charset="0"/>
                <a:ea typeface="Times New Roman" panose="02020603050405020304" pitchFamily="18" charset="0"/>
              </a:rPr>
              <a:t>. Dengan demikian, pendidikan merupakan sarana untuk melak-</a:t>
            </a:r>
            <a:r>
              <a:rPr lang="ms-MY" spc="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sanakan dan mewujudkan tugas manusia sebagai utusan Allah Swt. di</a:t>
            </a:r>
            <a:r>
              <a:rPr lang="ms-MY" spc="5"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muka</a:t>
            </a:r>
            <a:r>
              <a:rPr lang="ms-MY" spc="-40" dirty="0">
                <a:solidFill>
                  <a:srgbClr val="231F20"/>
                </a:solidFill>
                <a:effectLst/>
                <a:latin typeface="Times New Roman" panose="02020603050405020304" pitchFamily="18" charset="0"/>
                <a:ea typeface="Times New Roman" panose="02020603050405020304" pitchFamily="18" charset="0"/>
              </a:rPr>
              <a:t> </a:t>
            </a:r>
            <a:r>
              <a:rPr lang="ms-MY" dirty="0">
                <a:solidFill>
                  <a:srgbClr val="231F20"/>
                </a:solidFill>
                <a:effectLst/>
                <a:latin typeface="Times New Roman" panose="02020603050405020304" pitchFamily="18" charset="0"/>
                <a:ea typeface="Times New Roman" panose="02020603050405020304" pitchFamily="18" charset="0"/>
              </a:rPr>
              <a:t>bumi</a:t>
            </a:r>
            <a:r>
              <a:rPr lang="ms-MY" sz="1800" dirty="0">
                <a:solidFill>
                  <a:srgbClr val="231F20"/>
                </a:solidFill>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307" y="581152"/>
            <a:ext cx="11135637" cy="768096"/>
          </a:xfrm>
        </p:spPr>
        <p:txBody>
          <a:bodyPr/>
          <a:lstStyle/>
          <a:p>
            <a:pPr marL="742950" marR="0" lvl="1" indent="-285750">
              <a:spcBef>
                <a:spcPts val="1035"/>
              </a:spcBef>
              <a:spcAft>
                <a:spcPts val="0"/>
              </a:spcAft>
              <a:tabLst>
                <a:tab pos="844550" algn="l"/>
                <a:tab pos="845185" algn="l"/>
              </a:tabLst>
            </a:pP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B.Konsep</a:t>
            </a:r>
            <a:r>
              <a:rPr lang="ms-MY" sz="3200" b="1" spc="-2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Dasar</a:t>
            </a:r>
            <a:r>
              <a:rPr lang="ms-MY" sz="3200" b="1" spc="-3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Pembentukan</a:t>
            </a:r>
            <a:r>
              <a:rPr lang="ms-MY" sz="3200" b="1" spc="-3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Karakteristik</a:t>
            </a:r>
            <a:r>
              <a:rPr lang="ms-MY" sz="3200" b="1" spc="-2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Islami</a:t>
            </a:r>
            <a:br>
              <a:rPr lang="en-US" sz="4400" b="1" dirty="0">
                <a:effectLst/>
                <a:latin typeface="Palatino Linotype" panose="02040502050505030304" pitchFamily="18" charset="0"/>
                <a:ea typeface="Palatino Linotype" panose="02040502050505030304" pitchFamily="18" charset="0"/>
                <a:cs typeface="Palatino Linotype" panose="02040502050505030304" pitchFamily="18" charset="0"/>
              </a:rPr>
            </a:br>
            <a:endParaRPr lang="en-US" dirty="0"/>
          </a:p>
        </p:txBody>
      </p:sp>
      <p:sp>
        <p:nvSpPr>
          <p:cNvPr id="3" name="Content Placeholder 2"/>
          <p:cNvSpPr>
            <a:spLocks noGrp="1"/>
          </p:cNvSpPr>
          <p:nvPr>
            <p:ph idx="1"/>
          </p:nvPr>
        </p:nvSpPr>
        <p:spPr>
          <a:xfrm>
            <a:off x="388307" y="1553227"/>
            <a:ext cx="11135637" cy="4922729"/>
          </a:xfrm>
        </p:spPr>
        <p:txBody>
          <a:bodyPr/>
          <a:lstStyle/>
          <a:p>
            <a:pPr marL="342900" indent="-342900">
              <a:buFont typeface="Wingdings" panose="05000000000000000000" pitchFamily="2" charset="2"/>
              <a:buChar char="v"/>
            </a:pPr>
            <a:r>
              <a:rPr lang="ms-MY" sz="2400" dirty="0">
                <a:solidFill>
                  <a:srgbClr val="231F20"/>
                </a:solidFill>
                <a:effectLst/>
                <a:latin typeface="Times New Roman" panose="02020603050405020304" pitchFamily="18" charset="0"/>
                <a:ea typeface="Times New Roman" panose="02020603050405020304" pitchFamily="18" charset="0"/>
              </a:rPr>
              <a:t>Konsep karakter (akhlak) Asy-Syaibani, dalam Hasan</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Langgulung</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(1979:</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312),</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mengemukakan</a:t>
            </a:r>
            <a:r>
              <a:rPr lang="ms-MY" sz="2400" spc="-4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bahwa hubungan dengan yang realitas dan juga hubungan dengan tuhannya ( berkaitan dengan iman)</a:t>
            </a:r>
            <a:endParaRPr lang="ms-MY" sz="2400" dirty="0">
              <a:solidFill>
                <a:srgbClr val="231F20"/>
              </a:solidFill>
              <a:effectLst/>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v"/>
            </a:pPr>
            <a:r>
              <a:rPr lang="ms-MY" sz="2400" dirty="0">
                <a:solidFill>
                  <a:srgbClr val="231F20"/>
                </a:solidFill>
                <a:effectLst/>
                <a:latin typeface="Times New Roman" panose="02020603050405020304" pitchFamily="18" charset="0"/>
                <a:ea typeface="Times New Roman" panose="02020603050405020304" pitchFamily="18" charset="0"/>
              </a:rPr>
              <a:t> Muhammad al-Ghazali, dalam Moh. Rifa’i (1996: 17), mengungkapkan</a:t>
            </a:r>
            <a:r>
              <a:rPr lang="ms-MY" sz="2400" spc="-27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bahwa</a:t>
            </a:r>
            <a:r>
              <a:rPr lang="ms-MY" sz="2400" spc="-3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akhlak</a:t>
            </a:r>
            <a:r>
              <a:rPr lang="ms-MY" sz="2400" spc="-3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merupakan</a:t>
            </a:r>
            <a:r>
              <a:rPr lang="ms-MY" sz="2400" spc="-3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indikator</a:t>
            </a:r>
            <a:r>
              <a:rPr lang="ms-MY" sz="2400" spc="-3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dari</a:t>
            </a:r>
            <a:r>
              <a:rPr lang="ms-MY" sz="2400" spc="-3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iman</a:t>
            </a:r>
            <a:endParaRPr lang="ms-MY" sz="2400" dirty="0">
              <a:solidFill>
                <a:srgbClr val="231F20"/>
              </a:solidFill>
              <a:effectLst/>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v"/>
            </a:pP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Hubungan</a:t>
            </a:r>
            <a:r>
              <a:rPr lang="ms-MY" sz="2000" b="1" spc="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Akidah  dengan  Akhlak</a:t>
            </a:r>
            <a:r>
              <a:rPr lang="ms-MY" sz="2000" b="1" spc="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(satu</a:t>
            </a:r>
            <a:r>
              <a:rPr lang="ms-MY" sz="2000" b="1" spc="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kesatuan</a:t>
            </a:r>
            <a:r>
              <a:rPr lang="ms-MY" sz="2000" b="1" spc="2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yang</a:t>
            </a:r>
            <a:r>
              <a:rPr lang="ms-MY" sz="2000" b="1" spc="5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tidak</a:t>
            </a:r>
            <a:r>
              <a:rPr lang="ms-MY" sz="2000" b="1" spc="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dapat</a:t>
            </a:r>
            <a:r>
              <a:rPr lang="ms-MY" sz="2000" b="1" spc="25"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 </a:t>
            </a:r>
            <a:r>
              <a:rPr lang="ms-MY" sz="2000" b="1" dirty="0">
                <a:solidFill>
                  <a:srgbClr val="585858"/>
                </a:solidFill>
                <a:effectLst/>
                <a:latin typeface="Arial" panose="020B0604020202020204" pitchFamily="34" charset="0"/>
                <a:ea typeface="Times New Roman" panose="02020603050405020304" pitchFamily="18" charset="0"/>
                <a:cs typeface="Times New Roman" panose="02020603050405020304" pitchFamily="18" charset="0"/>
              </a:rPr>
              <a:t>dipisahkan)</a:t>
            </a:r>
            <a:endParaRPr lang="en-US" sz="2000" dirty="0">
              <a:effectLst/>
              <a:latin typeface="Times New Roman" panose="02020603050405020304" pitchFamily="18" charset="0"/>
              <a:ea typeface="Times New Roman" panose="02020603050405020304" pitchFamily="18" charset="0"/>
            </a:endParaRPr>
          </a:p>
          <a:p>
            <a:endParaRPr lang="ms-MY" sz="2400" dirty="0">
              <a:solidFill>
                <a:srgbClr val="231F20"/>
              </a:solidFill>
              <a:effectLst/>
              <a:latin typeface="Times New Roman" panose="02020603050405020304" pitchFamily="18" charset="0"/>
              <a:ea typeface="Times New Roman" panose="02020603050405020304" pitchFamily="18" charset="0"/>
            </a:endParaRPr>
          </a:p>
          <a:p>
            <a:endParaRPr lang="en-US" dirty="0"/>
          </a:p>
        </p:txBody>
      </p:sp>
      <p:pic>
        <p:nvPicPr>
          <p:cNvPr id="4" name="Picture 3"/>
          <p:cNvPicPr>
            <a:picLocks noChangeAspect="1"/>
          </p:cNvPicPr>
          <p:nvPr/>
        </p:nvPicPr>
        <p:blipFill>
          <a:blip r:embed="rId1"/>
          <a:stretch>
            <a:fillRect/>
          </a:stretch>
        </p:blipFill>
        <p:spPr>
          <a:xfrm>
            <a:off x="791681" y="4935254"/>
            <a:ext cx="5208286" cy="15407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160" y="558800"/>
            <a:ext cx="10017760" cy="1605280"/>
          </a:xfrm>
        </p:spPr>
        <p:txBody>
          <a:bodyPr/>
          <a:lstStyle/>
          <a:p>
            <a:pPr algn="just"/>
            <a:r>
              <a:rPr lang="ms-MY" sz="2000" b="0" cap="none" dirty="0">
                <a:solidFill>
                  <a:srgbClr val="231F20"/>
                </a:solidFill>
                <a:latin typeface="Times New Roman" panose="02020603050405020304" pitchFamily="18" charset="0"/>
                <a:ea typeface="Times New Roman" panose="02020603050405020304" pitchFamily="18" charset="0"/>
              </a:rPr>
              <a:t>	I</a:t>
            </a:r>
            <a:r>
              <a:rPr lang="ms-MY" sz="2000" b="0" cap="none" dirty="0">
                <a:solidFill>
                  <a:srgbClr val="231F20"/>
                </a:solidFill>
                <a:effectLst/>
                <a:latin typeface="Times New Roman" panose="02020603050405020304" pitchFamily="18" charset="0"/>
                <a:ea typeface="Times New Roman" panose="02020603050405020304" pitchFamily="18" charset="0"/>
              </a:rPr>
              <a:t>ndikator</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dari</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iman.</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iman</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kuat</a:t>
            </a:r>
            <a:r>
              <a:rPr lang="ms-MY" sz="2000" b="0" cap="none" spc="-3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melahirkan</a:t>
            </a:r>
            <a:r>
              <a:rPr lang="ms-MY" sz="2000" b="0" cap="none" spc="-2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akhlak yang baik, sedangkan iman yang lemah melahirkan akhlak yang</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buruk. lebih lanjut, dapat dikatakan kaitannya dengan hubungan antara</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akidah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dengan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akhlak.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hubungan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akidah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dengan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akhlak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dalam</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diri</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manusia sebagai orang yang beriman adalah merupakan satu kesatuan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tidak</a:t>
            </a:r>
            <a:r>
              <a:rPr lang="ms-MY" sz="2000" b="0" cap="none" spc="-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dapat</a:t>
            </a:r>
            <a:r>
              <a:rPr lang="ms-MY" sz="2000" b="0" cap="none" spc="-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dipisahkan.</a:t>
            </a:r>
            <a:endParaRPr lang="en-US" sz="2000" b="0" cap="none" dirty="0"/>
          </a:p>
        </p:txBody>
      </p:sp>
      <p:sp>
        <p:nvSpPr>
          <p:cNvPr id="3" name="Content Placeholder 2"/>
          <p:cNvSpPr>
            <a:spLocks noGrp="1"/>
          </p:cNvSpPr>
          <p:nvPr>
            <p:ph idx="1"/>
          </p:nvPr>
        </p:nvSpPr>
        <p:spPr>
          <a:xfrm>
            <a:off x="895149" y="2164080"/>
            <a:ext cx="10017760" cy="4135120"/>
          </a:xfrm>
        </p:spPr>
        <p:txBody>
          <a:bodyPr/>
          <a:lstStyle/>
          <a:p>
            <a:pPr marL="728345" marR="536575" indent="304800" algn="just">
              <a:lnSpc>
                <a:spcPct val="130000"/>
              </a:lnSpc>
              <a:spcBef>
                <a:spcPts val="720"/>
              </a:spcBef>
              <a:spcAft>
                <a:spcPts val="0"/>
              </a:spcAft>
            </a:pPr>
            <a:r>
              <a:rPr lang="ms-MY" sz="2000" dirty="0">
                <a:solidFill>
                  <a:srgbClr val="231F20"/>
                </a:solidFill>
                <a:effectLst/>
                <a:latin typeface="Times New Roman" panose="02020603050405020304" pitchFamily="18" charset="0"/>
                <a:ea typeface="Times New Roman" panose="02020603050405020304" pitchFamily="18" charset="0"/>
              </a:rPr>
              <a:t>Seorang</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muslim</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mukmin</a:t>
            </a:r>
            <a:r>
              <a:rPr lang="ms-MY" sz="2000" spc="-4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baik</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akan </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menjaga segala perbuatannya dari hal-hal yang berbau syirik, baik syirik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kecil</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maupun</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syirik</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besar.</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Orang</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memiliki</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akidah</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benar,</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ia</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akan</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mampu mengimplementasikan tauhid dalam bentuk akhlak yang mulia.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Hal</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ini</a:t>
            </a:r>
            <a:r>
              <a:rPr lang="ms-MY" sz="2000" spc="-20"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seperti</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firman</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Allah</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Swt.</a:t>
            </a:r>
            <a:r>
              <a:rPr lang="ms-MY" sz="2000" spc="-20"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dalam</a:t>
            </a:r>
            <a:r>
              <a:rPr lang="ms-MY" sz="2000" spc="-20"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QS.</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al-An’ām</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[06]:</a:t>
            </a:r>
            <a:r>
              <a:rPr lang="ms-MY" sz="2000" spc="-2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82</a:t>
            </a:r>
            <a:r>
              <a:rPr lang="ms-MY" sz="2000" spc="-6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berikut:</a:t>
            </a:r>
            <a:endParaRPr lang="en-US" sz="1800" dirty="0">
              <a:effectLst/>
              <a:latin typeface="Times New Roman" panose="02020603050405020304" pitchFamily="18" charset="0"/>
              <a:ea typeface="Times New Roman" panose="02020603050405020304" pitchFamily="18" charset="0"/>
            </a:endParaRPr>
          </a:p>
          <a:p>
            <a:br>
              <a:rPr lang="ms-MY" sz="1800" dirty="0">
                <a:effectLst/>
                <a:latin typeface="Times New Roman" panose="02020603050405020304" pitchFamily="18" charset="0"/>
                <a:ea typeface="Times New Roman" panose="02020603050405020304" pitchFamily="18" charset="0"/>
              </a:rPr>
            </a:br>
            <a:endParaRPr lang="en-US" dirty="0"/>
          </a:p>
        </p:txBody>
      </p:sp>
      <p:pic>
        <p:nvPicPr>
          <p:cNvPr id="5" name="Picture 4"/>
          <p:cNvPicPr>
            <a:picLocks noChangeAspect="1"/>
          </p:cNvPicPr>
          <p:nvPr/>
        </p:nvPicPr>
        <p:blipFill>
          <a:blip r:embed="rId1"/>
          <a:stretch>
            <a:fillRect/>
          </a:stretch>
        </p:blipFill>
        <p:spPr>
          <a:xfrm>
            <a:off x="1078865" y="4351655"/>
            <a:ext cx="9711690" cy="1145540"/>
          </a:xfrm>
          <a:prstGeom prst="rect">
            <a:avLst/>
          </a:prstGeom>
        </p:spPr>
      </p:pic>
      <p:pic>
        <p:nvPicPr>
          <p:cNvPr id="7" name="Picture 6"/>
          <p:cNvPicPr>
            <a:picLocks noChangeAspect="1"/>
          </p:cNvPicPr>
          <p:nvPr/>
        </p:nvPicPr>
        <p:blipFill>
          <a:blip r:embed="rId2"/>
          <a:stretch>
            <a:fillRect/>
          </a:stretch>
        </p:blipFill>
        <p:spPr>
          <a:xfrm>
            <a:off x="1550035" y="5497195"/>
            <a:ext cx="9239885" cy="12122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263" y="433137"/>
            <a:ext cx="9923646" cy="1453415"/>
          </a:xfrm>
        </p:spPr>
        <p:txBody>
          <a:bodyPr/>
          <a:lstStyle/>
          <a:p>
            <a:r>
              <a:rPr lang="ms-MY" sz="2000" b="0" cap="none" dirty="0">
                <a:solidFill>
                  <a:srgbClr val="231F20"/>
                </a:solidFill>
                <a:latin typeface="Times New Roman" panose="02020603050405020304" pitchFamily="18" charset="0"/>
                <a:ea typeface="Times New Roman" panose="02020603050405020304" pitchFamily="18" charset="0"/>
              </a:rPr>
              <a:t>	O</a:t>
            </a:r>
            <a:r>
              <a:rPr lang="ms-MY" sz="2000" b="0" cap="none" dirty="0">
                <a:solidFill>
                  <a:srgbClr val="231F20"/>
                </a:solidFill>
                <a:effectLst/>
                <a:latin typeface="Times New Roman" panose="02020603050405020304" pitchFamily="18" charset="0"/>
                <a:ea typeface="Times New Roman" panose="02020603050405020304" pitchFamily="18" charset="0"/>
              </a:rPr>
              <a:t>rang-orang yang menepati jalan hidayah adalah mereka yang tahu</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bersyukur, sehingga perbuatan mereka senantiasa sesuai dengan petunjuk</a:t>
            </a:r>
            <a:r>
              <a:rPr lang="ms-MY" sz="2000" b="0" cap="none" spc="-28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allah swt. inilah yang dimaksudkan dengan akhlak mulia.</a:t>
            </a:r>
            <a:endParaRPr lang="en-US" sz="2000" b="0" cap="none" dirty="0"/>
          </a:p>
        </p:txBody>
      </p:sp>
      <p:sp>
        <p:nvSpPr>
          <p:cNvPr id="3" name="Content Placeholder 2"/>
          <p:cNvSpPr>
            <a:spLocks noGrp="1"/>
          </p:cNvSpPr>
          <p:nvPr>
            <p:ph idx="1"/>
          </p:nvPr>
        </p:nvSpPr>
        <p:spPr>
          <a:xfrm>
            <a:off x="606392" y="1684421"/>
            <a:ext cx="10183528" cy="4485373"/>
          </a:xfrm>
        </p:spPr>
        <p:txBody>
          <a:bodyPr/>
          <a:lstStyle/>
          <a:p>
            <a:pPr algn="just"/>
            <a:r>
              <a:rPr lang="ms-MY" sz="180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Kesimpulannya adalah bahwa setiap orang yang mempunyai akidah</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yang</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sesuai</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dengan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perintah</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Allah</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Swt.</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al-Qur’an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hadits</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(benar),</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maka secara otomatis ibadahnya juga benar sesuai dengan syariat Islam,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sekaligus</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akhlaknya</a:t>
            </a:r>
            <a:r>
              <a:rPr lang="ms-MY" sz="2000" spc="-6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mulia</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t>
            </a:r>
            <a:r>
              <a:rPr lang="ms-MY" sz="2000" i="1" dirty="0">
                <a:solidFill>
                  <a:srgbClr val="231F20"/>
                </a:solidFill>
                <a:effectLst/>
                <a:latin typeface="Georgia" panose="02040502050405020303" pitchFamily="18" charset="0"/>
                <a:ea typeface="Times New Roman" panose="02020603050405020304" pitchFamily="18" charset="0"/>
              </a:rPr>
              <a:t>akhlaqul</a:t>
            </a:r>
            <a:r>
              <a:rPr lang="ms-MY" sz="2000" i="1" spc="-60" dirty="0">
                <a:solidFill>
                  <a:srgbClr val="231F20"/>
                </a:solidFill>
                <a:effectLst/>
                <a:latin typeface="Georgia" panose="02040502050405020303" pitchFamily="18" charset="0"/>
                <a:ea typeface="Times New Roman" panose="02020603050405020304" pitchFamily="18" charset="0"/>
              </a:rPr>
              <a:t> </a:t>
            </a:r>
            <a:r>
              <a:rPr lang="ms-MY" sz="2000" i="1" dirty="0">
                <a:solidFill>
                  <a:srgbClr val="231F20"/>
                </a:solidFill>
                <a:effectLst/>
                <a:latin typeface="Georgia" panose="02040502050405020303" pitchFamily="18" charset="0"/>
                <a:ea typeface="Times New Roman" panose="02020603050405020304" pitchFamily="18" charset="0"/>
              </a:rPr>
              <a:t>karimah</a:t>
            </a:r>
            <a:r>
              <a:rPr lang="ms-MY" sz="2000" dirty="0">
                <a:solidFill>
                  <a:srgbClr val="231F2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r>
              <a:rPr lang="ms-MY" sz="2000" dirty="0">
                <a:solidFill>
                  <a:srgbClr val="231F20"/>
                </a:solidFill>
                <a:effectLst/>
                <a:latin typeface="Times New Roman" panose="02020603050405020304" pitchFamily="18" charset="0"/>
                <a:ea typeface="Times New Roman" panose="02020603050405020304" pitchFamily="18" charset="0"/>
              </a:rPr>
              <a:t>        Pembahasan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tentang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akhlak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kaitannya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dengan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pendidikan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telah muncul dalam pemikiran para filsuf muslim awal, seperti Ibn</a:t>
            </a:r>
            <a:r>
              <a:rPr lang="ms-MY" sz="2000" spc="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Miskawaih, Al-Ghazali, dan Ikhwan Al-Shafa. Fazlur Rahman, dalam Abdul</a:t>
            </a:r>
            <a:r>
              <a:rPr lang="ms-MY" sz="2000" spc="-27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Kosim</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(2018),</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mengaitkan</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karakter</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dengan</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konsep</a:t>
            </a:r>
            <a:r>
              <a:rPr lang="ms-MY" sz="2000" spc="-10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tauhid.</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Oleh</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karenanya,</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keimanan harus fungsional dan berdampak nyata pada perilaku seseorang</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bentuk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perilaku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karakter</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sebagai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konsekuensi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moral.</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Menurut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Rahman,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kaitan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antara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tauhid</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humanisme</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merupakan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salah  satu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ajaran al-Qur’an dan dipraktikkan oleh generasi muslim awal. Dengan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Cambria" panose="02040503050406030204" pitchFamily="18" charset="0"/>
                <a:ea typeface="Times New Roman" panose="02020603050405020304" pitchFamily="18" charset="0"/>
              </a:rPr>
              <a:t>merujuk pada </a:t>
            </a:r>
            <a:r>
              <a:rPr lang="ms-MY" sz="2000" dirty="0">
                <a:solidFill>
                  <a:srgbClr val="231F20"/>
                </a:solidFill>
                <a:effectLst/>
                <a:latin typeface="Cambria" panose="02040503050406030204" pitchFamily="18" charset="0"/>
                <a:ea typeface="Times New Roman" panose="02020603050405020304" pitchFamily="18" charset="0"/>
              </a:rPr>
              <a:t>QS. al-Mā’ūn, Rahman menjelaskan interelasi antara</a:t>
            </a:r>
            <a:r>
              <a:rPr lang="ms-MY" sz="2000" spc="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keimanan di satu sisi dan pengembangan moral universal yang human-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istis</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a:t>
            </a:r>
            <a:r>
              <a:rPr lang="ms-MY" sz="2000" spc="-4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sisi</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lain.</a:t>
            </a:r>
            <a:endParaRPr lang="en-US" sz="2000" dirty="0">
              <a:effectLst/>
              <a:latin typeface="Times New Roman" panose="02020603050405020304" pitchFamily="18" charset="0"/>
              <a:ea typeface="Times New Roman" panose="02020603050405020304" pitchFamily="18" charset="0"/>
            </a:endParaRPr>
          </a:p>
          <a:p>
            <a:pPr algn="just"/>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269" y="510139"/>
            <a:ext cx="10106527" cy="1029903"/>
          </a:xfrm>
        </p:spPr>
        <p:txBody>
          <a:bodyPr/>
          <a:lstStyle/>
          <a:p>
            <a:r>
              <a:rPr lang="ms-MY" sz="2000" b="0" cap="none" dirty="0">
                <a:solidFill>
                  <a:srgbClr val="231F20"/>
                </a:solidFill>
                <a:latin typeface="Times New Roman" panose="02020603050405020304" pitchFamily="18" charset="0"/>
                <a:ea typeface="Times New Roman" panose="02020603050405020304" pitchFamily="18" charset="0"/>
              </a:rPr>
              <a:t>	A</a:t>
            </a:r>
            <a:r>
              <a:rPr lang="ms-MY" sz="2000" b="0" cap="none" dirty="0">
                <a:solidFill>
                  <a:srgbClr val="231F20"/>
                </a:solidFill>
                <a:effectLst/>
                <a:latin typeface="Times New Roman" panose="02020603050405020304" pitchFamily="18" charset="0"/>
                <a:ea typeface="Times New Roman" panose="02020603050405020304" pitchFamily="18" charset="0"/>
              </a:rPr>
              <a:t>spek</a:t>
            </a:r>
            <a:r>
              <a:rPr lang="ms-MY" sz="2000" b="0" cap="none" spc="26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akhlak</a:t>
            </a:r>
            <a:r>
              <a:rPr lang="ms-MY" sz="2000" b="0" cap="none" spc="26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atau</a:t>
            </a:r>
            <a:r>
              <a:rPr lang="ms-MY" sz="2000" b="0" cap="none" spc="26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moral </a:t>
            </a:r>
            <a:r>
              <a:rPr lang="ms-MY" sz="2000" b="0" cap="none" spc="-29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tidak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dapat</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dipisahkan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dari</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keterpaduan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potensi  manusia,  kebebasan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 dimilikinya, serta tanggung jawab yang diamanahkan allah swt.</a:t>
            </a:r>
            <a:endParaRPr lang="en-US" sz="2000" b="0" cap="none" dirty="0"/>
          </a:p>
        </p:txBody>
      </p:sp>
      <p:sp>
        <p:nvSpPr>
          <p:cNvPr id="3" name="Content Placeholder 2"/>
          <p:cNvSpPr>
            <a:spLocks noGrp="1"/>
          </p:cNvSpPr>
          <p:nvPr>
            <p:ph idx="1"/>
          </p:nvPr>
        </p:nvSpPr>
        <p:spPr>
          <a:xfrm>
            <a:off x="580339" y="1540042"/>
            <a:ext cx="9890234" cy="5102496"/>
          </a:xfrm>
        </p:spPr>
        <p:txBody>
          <a:bodyPr/>
          <a:lstStyle/>
          <a:p>
            <a:pPr marL="539750" marR="717550" indent="304800" algn="just">
              <a:lnSpc>
                <a:spcPct val="130000"/>
              </a:lnSpc>
              <a:spcBef>
                <a:spcPts val="695"/>
              </a:spcBef>
              <a:spcAft>
                <a:spcPts val="0"/>
              </a:spcAft>
            </a:pPr>
            <a:r>
              <a:rPr lang="ms-MY" sz="2000" dirty="0">
                <a:solidFill>
                  <a:srgbClr val="231F20"/>
                </a:solidFill>
                <a:effectLst/>
                <a:latin typeface="Times New Roman" panose="02020603050405020304" pitchFamily="18" charset="0"/>
                <a:ea typeface="Times New Roman" panose="02020603050405020304" pitchFamily="18" charset="0"/>
              </a:rPr>
              <a:t>Potensi</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kemampuan</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akal</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manusia</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a:t>
            </a:r>
            <a:r>
              <a:rPr lang="ms-MY" sz="2000" spc="3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mengetahui</a:t>
            </a:r>
            <a:r>
              <a:rPr lang="en-US" sz="2000" dirty="0">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kebaikan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keburukan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bersifat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objektif</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memberikan  kerangka </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kuat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menciptakan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pengetahuan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bermanfaat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menggu-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nakannya bagi kebajikan universal. Hal ini sebagaimana ditegaskan di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 al-Qur’an bahwa potensi dasar manusia yang diberikan Allah Swt.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adalah</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sifat</a:t>
            </a:r>
            <a:r>
              <a:rPr lang="ms-MY" sz="2000" spc="-85" dirty="0">
                <a:solidFill>
                  <a:srgbClr val="231F20"/>
                </a:solidFill>
                <a:effectLst/>
                <a:latin typeface="Times New Roman" panose="02020603050405020304" pitchFamily="18" charset="0"/>
                <a:ea typeface="Times New Roman" panose="02020603050405020304" pitchFamily="18" charset="0"/>
              </a:rPr>
              <a:t> </a:t>
            </a:r>
            <a:r>
              <a:rPr lang="ms-MY" sz="2000" i="1" spc="-5" dirty="0">
                <a:solidFill>
                  <a:srgbClr val="231F20"/>
                </a:solidFill>
                <a:effectLst/>
                <a:latin typeface="Georgia" panose="02040502050405020303" pitchFamily="18" charset="0"/>
                <a:ea typeface="Times New Roman" panose="02020603050405020304" pitchFamily="18" charset="0"/>
              </a:rPr>
              <a:t>fujur</a:t>
            </a:r>
            <a:r>
              <a:rPr lang="ms-MY" sz="2000" i="1" spc="-80" dirty="0">
                <a:solidFill>
                  <a:srgbClr val="231F20"/>
                </a:solidFill>
                <a:effectLst/>
                <a:latin typeface="Georgia" panose="02040502050405020303"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(cenderung</a:t>
            </a:r>
            <a:r>
              <a:rPr lang="ms-MY" sz="2000" spc="-8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kepada</a:t>
            </a:r>
            <a:r>
              <a:rPr lang="ms-MY" sz="2000" spc="-8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keburukan/kefasikan)</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sifat</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takwa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(cenderung kepada kebaikan), sebagaimana firman-Nya QS. asy-Syam [91]:</a:t>
            </a:r>
            <a:r>
              <a:rPr lang="ms-MY" sz="2000" spc="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7–8</a:t>
            </a:r>
            <a:r>
              <a:rPr lang="ms-MY" sz="2000" spc="-5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berikut:</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p:cNvPicPr>
            <a:picLocks noChangeAspect="1"/>
          </p:cNvPicPr>
          <p:nvPr/>
        </p:nvPicPr>
        <p:blipFill>
          <a:blip r:embed="rId1"/>
          <a:stretch>
            <a:fillRect/>
          </a:stretch>
        </p:blipFill>
        <p:spPr>
          <a:xfrm>
            <a:off x="5898515" y="4469765"/>
            <a:ext cx="4380865" cy="1089025"/>
          </a:xfrm>
          <a:prstGeom prst="rect">
            <a:avLst/>
          </a:prstGeom>
        </p:spPr>
      </p:pic>
      <p:pic>
        <p:nvPicPr>
          <p:cNvPr id="7" name="Picture 6"/>
          <p:cNvPicPr>
            <a:picLocks noChangeAspect="1"/>
          </p:cNvPicPr>
          <p:nvPr/>
        </p:nvPicPr>
        <p:blipFill>
          <a:blip r:embed="rId2"/>
          <a:stretch>
            <a:fillRect/>
          </a:stretch>
        </p:blipFill>
        <p:spPr>
          <a:xfrm>
            <a:off x="1721485" y="4398010"/>
            <a:ext cx="4177030" cy="1501775"/>
          </a:xfrm>
          <a:prstGeom prst="rect">
            <a:avLst/>
          </a:prstGeom>
        </p:spPr>
      </p:pic>
      <p:pic>
        <p:nvPicPr>
          <p:cNvPr id="9" name="Picture 8"/>
          <p:cNvPicPr>
            <a:picLocks noChangeAspect="1"/>
          </p:cNvPicPr>
          <p:nvPr/>
        </p:nvPicPr>
        <p:blipFill>
          <a:blip r:embed="rId3"/>
          <a:stretch>
            <a:fillRect/>
          </a:stretch>
        </p:blipFill>
        <p:spPr>
          <a:xfrm>
            <a:off x="894715" y="5558790"/>
            <a:ext cx="9384030" cy="11074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307" y="400834"/>
            <a:ext cx="10684701" cy="951977"/>
          </a:xfrm>
        </p:spPr>
        <p:txBody>
          <a:bodyPr/>
          <a:lstStyle/>
          <a:p>
            <a:pPr marL="742950" marR="0" lvl="1" indent="-285750">
              <a:spcBef>
                <a:spcPts val="600"/>
              </a:spcBef>
              <a:spcAft>
                <a:spcPts val="0"/>
              </a:spcAft>
              <a:tabLst>
                <a:tab pos="844550" algn="l"/>
                <a:tab pos="845185" algn="l"/>
              </a:tabLst>
            </a:pPr>
            <a:r>
              <a:rPr lang="ms-MY" sz="3200" b="1" dirty="0">
                <a:solidFill>
                  <a:srgbClr val="231F20"/>
                </a:solidFill>
                <a:latin typeface="Palatino Linotype" panose="02040502050505030304" pitchFamily="18" charset="0"/>
                <a:ea typeface="Palatino Linotype" panose="02040502050505030304" pitchFamily="18" charset="0"/>
                <a:cs typeface="Palatino Linotype" panose="02040502050505030304" pitchFamily="18" charset="0"/>
              </a:rPr>
              <a:t>C.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Dasar-Dasar</a:t>
            </a:r>
            <a:r>
              <a:rPr lang="ms-MY" sz="3200" b="1" spc="-50"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Pelaksanaan</a:t>
            </a:r>
            <a:r>
              <a:rPr lang="ms-MY" sz="3200" b="1" spc="-4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Pendidikan</a:t>
            </a:r>
            <a:r>
              <a:rPr lang="ms-MY" sz="3200" b="1" spc="-4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Agama</a:t>
            </a:r>
            <a:r>
              <a:rPr lang="ms-MY" sz="3200" b="1" spc="-45"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ms-MY" sz="3200" b="1" dirty="0">
                <a:solidFill>
                  <a:srgbClr val="231F20"/>
                </a:solidFill>
                <a:effectLst/>
                <a:latin typeface="Palatino Linotype" panose="02040502050505030304" pitchFamily="18" charset="0"/>
                <a:ea typeface="Palatino Linotype" panose="02040502050505030304" pitchFamily="18" charset="0"/>
                <a:cs typeface="Palatino Linotype" panose="02040502050505030304" pitchFamily="18" charset="0"/>
              </a:rPr>
              <a:t>Islam</a:t>
            </a:r>
            <a:br>
              <a:rPr lang="en-US" sz="4400" b="1" dirty="0">
                <a:effectLst/>
                <a:latin typeface="Palatino Linotype" panose="02040502050505030304" pitchFamily="18" charset="0"/>
                <a:ea typeface="Palatino Linotype" panose="02040502050505030304" pitchFamily="18" charset="0"/>
                <a:cs typeface="Palatino Linotype" panose="02040502050505030304" pitchFamily="18" charset="0"/>
              </a:rPr>
            </a:br>
            <a:endParaRPr lang="en-US" dirty="0"/>
          </a:p>
        </p:txBody>
      </p:sp>
      <p:sp>
        <p:nvSpPr>
          <p:cNvPr id="3" name="Content Placeholder 2"/>
          <p:cNvSpPr>
            <a:spLocks noGrp="1"/>
          </p:cNvSpPr>
          <p:nvPr>
            <p:ph idx="1"/>
          </p:nvPr>
        </p:nvSpPr>
        <p:spPr>
          <a:xfrm>
            <a:off x="388307" y="1177447"/>
            <a:ext cx="11198268" cy="5386191"/>
          </a:xfrm>
        </p:spPr>
        <p:txBody>
          <a:bodyPr/>
          <a:lstStyle/>
          <a:p>
            <a:r>
              <a:rPr lang="ms-MY" sz="2400" dirty="0">
                <a:solidFill>
                  <a:srgbClr val="231F20"/>
                </a:solidFill>
                <a:effectLst/>
                <a:latin typeface="Times New Roman" panose="02020603050405020304" pitchFamily="18" charset="0"/>
                <a:ea typeface="Times New Roman" panose="02020603050405020304" pitchFamily="18" charset="0"/>
              </a:rPr>
              <a:t>Dasar</a:t>
            </a:r>
            <a:r>
              <a:rPr lang="ms-MY" sz="2400" spc="-9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pelaksanaan</a:t>
            </a:r>
            <a:r>
              <a:rPr lang="ms-MY" sz="2400" spc="-9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pendi-</a:t>
            </a:r>
            <a:r>
              <a:rPr lang="ms-MY" sz="2400" spc="-29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dikan dapat dilihat dari dua segi, yaitu perspektif Islam dan perspektif</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umum.                  * Al Qur’an</a:t>
            </a:r>
            <a:endParaRPr lang="ms-MY" sz="2400" dirty="0">
              <a:solidFill>
                <a:srgbClr val="231F20"/>
              </a:solidFill>
              <a:effectLst/>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v"/>
            </a:pPr>
            <a:r>
              <a:rPr kumimoji="0" lang="ms-MY" sz="2400" b="0" i="0" u="none" strike="noStrike" kern="1200" cap="none" spc="0" normalizeH="0" baseline="0" noProof="0" dirty="0">
                <a:ln>
                  <a:noFill/>
                </a:ln>
                <a:solidFill>
                  <a:srgbClr val="231F20"/>
                </a:solidFill>
                <a:effectLst/>
                <a:uLnTx/>
                <a:uFillTx/>
                <a:latin typeface="Times New Roman" panose="02020603050405020304" pitchFamily="18" charset="0"/>
                <a:ea typeface="Times New Roman" panose="02020603050405020304" pitchFamily="18" charset="0"/>
                <a:cs typeface="+mn-cs"/>
              </a:rPr>
              <a:t>perspektif Islam                     * Hadist </a:t>
            </a:r>
            <a:endParaRPr kumimoji="0" lang="ms-MY" sz="2400" b="0" i="0" u="none" strike="noStrike" kern="1200" cap="none" spc="0" normalizeH="0" baseline="0" noProof="0" dirty="0">
              <a:ln>
                <a:noFill/>
              </a:ln>
              <a:solidFill>
                <a:srgbClr val="231F20"/>
              </a:solidFill>
              <a:effectLst/>
              <a:uLnTx/>
              <a:uFillTx/>
              <a:latin typeface="Times New Roman" panose="02020603050405020304" pitchFamily="18" charset="0"/>
              <a:ea typeface="Times New Roman" panose="02020603050405020304" pitchFamily="18" charset="0"/>
              <a:cs typeface="+mn-cs"/>
            </a:endParaRPr>
          </a:p>
          <a:p>
            <a:r>
              <a:rPr lang="ms-MY" dirty="0">
                <a:solidFill>
                  <a:srgbClr val="231F20"/>
                </a:solidFill>
                <a:latin typeface="Times New Roman" panose="02020603050405020304" pitchFamily="18" charset="0"/>
              </a:rPr>
              <a:t>				* Nilai  kemasyarakatan</a:t>
            </a:r>
            <a:endParaRPr lang="ms-MY" dirty="0">
              <a:solidFill>
                <a:srgbClr val="231F20"/>
              </a:solidFill>
              <a:latin typeface="Times New Roman" panose="02020603050405020304" pitchFamily="18" charset="0"/>
            </a:endParaRPr>
          </a:p>
          <a:p>
            <a:pPr marL="342900" indent="-342900">
              <a:buFont typeface="Wingdings" panose="05000000000000000000" pitchFamily="2" charset="2"/>
              <a:buChar char="v"/>
            </a:pPr>
            <a:r>
              <a:rPr lang="ms-MY" dirty="0">
                <a:solidFill>
                  <a:srgbClr val="231F20"/>
                </a:solidFill>
                <a:latin typeface="Times New Roman" panose="02020603050405020304" pitchFamily="18" charset="0"/>
              </a:rPr>
              <a:t>Persepetif umum sesui dengan ketentuan yang berlaku dimasyarakat .</a:t>
            </a:r>
            <a:endParaRPr lang="ms-MY" dirty="0">
              <a:solidFill>
                <a:srgbClr val="231F20"/>
              </a:solidFill>
              <a:latin typeface="Times New Roman" panose="02020603050405020304" pitchFamily="18" charset="0"/>
            </a:endParaRPr>
          </a:p>
          <a:p>
            <a:endParaRPr lang="en-US" dirty="0"/>
          </a:p>
        </p:txBody>
      </p:sp>
      <p:cxnSp>
        <p:nvCxnSpPr>
          <p:cNvPr id="7" name="Straight Arrow Connector 6"/>
          <p:cNvCxnSpPr/>
          <p:nvPr/>
        </p:nvCxnSpPr>
        <p:spPr>
          <a:xfrm>
            <a:off x="2743200" y="2655518"/>
            <a:ext cx="124007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743200" y="2655518"/>
            <a:ext cx="1240077" cy="5135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843408" y="2079321"/>
            <a:ext cx="1139869" cy="5761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99" y="241300"/>
            <a:ext cx="10303329" cy="1206500"/>
          </a:xfrm>
        </p:spPr>
        <p:txBody>
          <a:bodyPr/>
          <a:lstStyle/>
          <a:p>
            <a:r>
              <a:rPr lang="ms-MY" sz="2000" b="0" cap="none" dirty="0">
                <a:solidFill>
                  <a:srgbClr val="231F20"/>
                </a:solidFill>
                <a:latin typeface="Times New Roman" panose="02020603050405020304" pitchFamily="18" charset="0"/>
                <a:ea typeface="Times New Roman" panose="02020603050405020304" pitchFamily="18" charset="0"/>
              </a:rPr>
              <a:t>	S</a:t>
            </a:r>
            <a:r>
              <a:rPr lang="ms-MY" sz="2000" b="0" cap="none" dirty="0">
                <a:solidFill>
                  <a:srgbClr val="231F20"/>
                </a:solidFill>
                <a:effectLst/>
                <a:latin typeface="Times New Roman" panose="02020603050405020304" pitchFamily="18" charset="0"/>
                <a:ea typeface="Times New Roman" panose="02020603050405020304" pitchFamily="18" charset="0"/>
              </a:rPr>
              <a:t>umber</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ajaran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islam</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adalah</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asal</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ajaran</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islam</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(termasuk</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sumber agama islam di dalamnya). allah swt. telah menetapkan sumber</a:t>
            </a:r>
            <a:r>
              <a:rPr lang="ms-MY" sz="2000" b="0" cap="none" spc="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ajaran</a:t>
            </a:r>
            <a:r>
              <a:rPr lang="ms-MY" sz="2000" b="0" cap="none" spc="1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islam</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yang</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wajib</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diikuti</a:t>
            </a:r>
            <a:r>
              <a:rPr lang="ms-MY" sz="2000" b="0" cap="none" spc="1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oleh</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setiap</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muslim.</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ketetapan</a:t>
            </a:r>
            <a:r>
              <a:rPr lang="ms-MY" sz="2000" b="0" cap="none" spc="14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allah</a:t>
            </a:r>
            <a:r>
              <a:rPr lang="ms-MY" sz="2000" b="0" cap="none" spc="150"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Times New Roman" panose="02020603050405020304" pitchFamily="18" charset="0"/>
                <a:ea typeface="Times New Roman" panose="02020603050405020304" pitchFamily="18" charset="0"/>
              </a:rPr>
              <a:t>swt.</a:t>
            </a:r>
            <a:r>
              <a:rPr lang="ms-MY" sz="2000" b="0" cap="none" spc="-275" dirty="0">
                <a:solidFill>
                  <a:srgbClr val="231F20"/>
                </a:solidFill>
                <a:effectLst/>
                <a:latin typeface="Times New Roman" panose="02020603050405020304" pitchFamily="18" charset="0"/>
                <a:ea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itu</a:t>
            </a:r>
            <a:r>
              <a:rPr lang="ms-MY" sz="2000" b="0" cap="none" spc="-40"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terdapat</a:t>
            </a:r>
            <a:r>
              <a:rPr lang="ms-MY" sz="2000" b="0" cap="none" spc="-35"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dalam</a:t>
            </a:r>
            <a:r>
              <a:rPr lang="ms-MY" sz="2000" b="0" cap="none" spc="-40"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surat</a:t>
            </a:r>
            <a:r>
              <a:rPr lang="ms-MY" sz="2000" b="0" cap="none" spc="-35"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an-nisā’</a:t>
            </a:r>
            <a:r>
              <a:rPr lang="ms-MY" sz="2000" b="0" cap="none" spc="-40"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[4]:</a:t>
            </a:r>
            <a:r>
              <a:rPr lang="ms-MY" sz="2000" b="0" cap="none" spc="-35"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r>
              <a:rPr lang="ms-MY" sz="2000" b="0" cap="none"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59</a:t>
            </a:r>
            <a:r>
              <a:rPr lang="ms-MY" sz="2000" b="0" cap="none" spc="-40"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000" b="0" cap="none" dirty="0"/>
          </a:p>
        </p:txBody>
      </p:sp>
      <p:pic>
        <p:nvPicPr>
          <p:cNvPr id="5" name="Content Placeholder 4"/>
          <p:cNvPicPr>
            <a:picLocks noGrp="1" noChangeAspect="1"/>
          </p:cNvPicPr>
          <p:nvPr>
            <p:ph idx="1"/>
          </p:nvPr>
        </p:nvPicPr>
        <p:blipFill>
          <a:blip r:embed="rId1"/>
          <a:stretch>
            <a:fillRect/>
          </a:stretch>
        </p:blipFill>
        <p:spPr>
          <a:xfrm>
            <a:off x="674913" y="1687286"/>
            <a:ext cx="10014857" cy="2656114"/>
          </a:xfrm>
        </p:spPr>
      </p:pic>
      <p:sp>
        <p:nvSpPr>
          <p:cNvPr id="8" name="Rectangle 7"/>
          <p:cNvSpPr/>
          <p:nvPr/>
        </p:nvSpPr>
        <p:spPr>
          <a:xfrm>
            <a:off x="674913" y="4495800"/>
            <a:ext cx="10014857" cy="1491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s-MY" sz="180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Hai</a:t>
            </a:r>
            <a:r>
              <a:rPr lang="ms-MY" sz="1800" i="1" spc="-55">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orang-orang</a:t>
            </a:r>
            <a:r>
              <a:rPr lang="ms-MY" sz="1800" i="1" spc="-255">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yang beriman, taatilah (kehendak) Allah, taatilah (kehendak) Rasul-Nya, dan</a:t>
            </a:r>
            <a:r>
              <a:rPr lang="ms-MY" sz="1800" i="1" spc="5">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ulil</a:t>
            </a:r>
            <a:r>
              <a:rPr lang="ms-MY" sz="1800" i="1" spc="-55">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amri</a:t>
            </a:r>
            <a:r>
              <a:rPr lang="ms-MY" sz="1800" i="1" spc="-5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di</a:t>
            </a:r>
            <a:r>
              <a:rPr lang="ms-MY" sz="1800" i="1" spc="-5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i="1">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antaramu.</a:t>
            </a:r>
            <a:r>
              <a:rPr lang="ms-MY" sz="1800" i="1" spc="9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 </a:t>
            </a:r>
            <a:r>
              <a:rPr lang="ms-MY" sz="1800">
                <a:solidFill>
                  <a:srgbClr val="231F20"/>
                </a:solidFill>
                <a:effectLst/>
                <a:latin typeface="Times New Roman" panose="02020603050405020304" pitchFamily="18" charset="0"/>
                <a:ea typeface="Times New Roman" panose="02020603050405020304" pitchFamily="18" charset="0"/>
              </a:rPr>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285" y="500744"/>
            <a:ext cx="10374085" cy="838200"/>
          </a:xfrm>
        </p:spPr>
        <p:txBody>
          <a:bodyPr/>
          <a:lstStyle/>
          <a:p>
            <a:r>
              <a:rPr lang="ms-MY" sz="2000" dirty="0">
                <a:solidFill>
                  <a:srgbClr val="231F20"/>
                </a:solidFill>
                <a:effectLst/>
                <a:latin typeface="Times New Roman" panose="02020603050405020304" pitchFamily="18" charset="0"/>
                <a:ea typeface="Times New Roman" panose="02020603050405020304" pitchFamily="18" charset="0"/>
              </a:rPr>
              <a:t>1.</a:t>
            </a:r>
            <a:r>
              <a:rPr lang="ms-MY" sz="2000" cap="none" dirty="0">
                <a:solidFill>
                  <a:srgbClr val="231F20"/>
                </a:solidFill>
                <a:effectLst/>
                <a:latin typeface="Times New Roman" panose="02020603050405020304" pitchFamily="18" charset="0"/>
                <a:ea typeface="Times New Roman" panose="02020603050405020304" pitchFamily="18" charset="0"/>
              </a:rPr>
              <a:t>sumber ajaran islam yang pertama adalah al qur’an</a:t>
            </a:r>
            <a:br>
              <a:rPr lang="ms-MY" sz="2000" dirty="0">
                <a:solidFill>
                  <a:srgbClr val="231F20"/>
                </a:solidFill>
                <a:effectLst/>
                <a:latin typeface="Times New Roman" panose="02020603050405020304" pitchFamily="18" charset="0"/>
                <a:ea typeface="Times New Roman" panose="02020603050405020304" pitchFamily="18" charset="0"/>
              </a:rPr>
            </a:br>
            <a:r>
              <a:rPr lang="ms-MY" sz="2000" dirty="0">
                <a:solidFill>
                  <a:srgbClr val="231F20"/>
                </a:solidFill>
                <a:effectLst/>
                <a:latin typeface="Times New Roman" panose="02020603050405020304" pitchFamily="18" charset="0"/>
                <a:ea typeface="Times New Roman" panose="02020603050405020304" pitchFamily="18" charset="0"/>
              </a:rPr>
              <a:t>2. </a:t>
            </a:r>
            <a:r>
              <a:rPr lang="ms-MY" sz="2000" cap="none" dirty="0">
                <a:solidFill>
                  <a:srgbClr val="231F20"/>
                </a:solidFill>
                <a:effectLst/>
                <a:latin typeface="Times New Roman" panose="02020603050405020304" pitchFamily="18" charset="0"/>
                <a:ea typeface="Times New Roman" panose="02020603050405020304" pitchFamily="18" charset="0"/>
              </a:rPr>
              <a:t>sumber</a:t>
            </a:r>
            <a:r>
              <a:rPr lang="ms-MY" sz="2000" cap="none" spc="-115"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ajaran</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islam</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dirumuskan</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dengan</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jelas</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dalam</a:t>
            </a:r>
            <a:r>
              <a:rPr lang="ms-MY" sz="2000" cap="none" spc="-110"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percakapan</a:t>
            </a:r>
            <a:r>
              <a:rPr lang="ms-MY" sz="2000" cap="none" spc="-115"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nabi</a:t>
            </a:r>
            <a:r>
              <a:rPr lang="ms-MY" sz="2000" cap="none" spc="-285"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muhammad</a:t>
            </a:r>
            <a:r>
              <a:rPr lang="ms-MY" sz="2000" cap="none" spc="-35" dirty="0">
                <a:solidFill>
                  <a:srgbClr val="231F20"/>
                </a:solidFill>
                <a:effectLst/>
                <a:latin typeface="Times New Roman" panose="02020603050405020304" pitchFamily="18" charset="0"/>
                <a:ea typeface="Times New Roman" panose="02020603050405020304" pitchFamily="18" charset="0"/>
              </a:rPr>
              <a:t> </a:t>
            </a:r>
            <a:r>
              <a:rPr lang="ms-MY" sz="2000" cap="none" dirty="0">
                <a:solidFill>
                  <a:srgbClr val="231F20"/>
                </a:solidFill>
                <a:effectLst/>
                <a:latin typeface="Times New Roman" panose="02020603050405020304" pitchFamily="18" charset="0"/>
                <a:ea typeface="Times New Roman" panose="02020603050405020304" pitchFamily="18" charset="0"/>
              </a:rPr>
              <a:t>saw. ( hadist nabi)</a:t>
            </a:r>
            <a:endParaRPr lang="en-US" sz="2000" cap="none" dirty="0"/>
          </a:p>
        </p:txBody>
      </p:sp>
      <p:sp>
        <p:nvSpPr>
          <p:cNvPr id="3" name="Content Placeholder 2"/>
          <p:cNvSpPr>
            <a:spLocks noGrp="1"/>
          </p:cNvSpPr>
          <p:nvPr>
            <p:ph idx="1"/>
          </p:nvPr>
        </p:nvSpPr>
        <p:spPr>
          <a:xfrm>
            <a:off x="544195" y="1587500"/>
            <a:ext cx="10373995" cy="4305300"/>
          </a:xfrm>
        </p:spPr>
        <p:txBody>
          <a:bodyPr/>
          <a:lstStyle/>
          <a:p>
            <a:r>
              <a:rPr lang="ms-MY" sz="2000" i="1" dirty="0">
                <a:solidFill>
                  <a:srgbClr val="231F20"/>
                </a:solidFill>
                <a:effectLst/>
                <a:latin typeface="Georgia" panose="02040502050405020303" pitchFamily="18" charset="0"/>
                <a:ea typeface="Times New Roman" panose="02020603050405020304" pitchFamily="18" charset="0"/>
                <a:cs typeface="Times New Roman" panose="02020603050405020304" pitchFamily="18" charset="0"/>
              </a:rPr>
              <a:t>3.Sumber ajaran islam yang ke 3 yaitu Ra’yu </a:t>
            </a:r>
            <a:r>
              <a:rPr lang="ms-MY" sz="2000" dirty="0">
                <a:solidFill>
                  <a:srgbClr val="231F20"/>
                </a:solidFill>
                <a:effectLst/>
                <a:latin typeface="Times New Roman" panose="02020603050405020304" pitchFamily="18" charset="0"/>
                <a:ea typeface="Times New Roman" panose="02020603050405020304" pitchFamily="18" charset="0"/>
              </a:rPr>
              <a:t>atau akal pikiran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memenuhi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syarat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berijtihad.</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Berijtihad</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berarti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bersung-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guh-sungguh dengan mempergunakan seluruh kemampuan akal pikiran,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pengetahuan,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pengalaman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manusia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memenuhi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syarat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mengkaji dan memahami wahyu dan Sunnah serta mengalirkan ajaran,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rPr>
              <a:t>termasuk ajaran mengenai hukum (fikih) Islam dari keduanya. Ketiga</a:t>
            </a:r>
            <a:r>
              <a:rPr lang="ms-MY" sz="2000" spc="5" dirty="0">
                <a:solidFill>
                  <a:srgbClr val="231F20"/>
                </a:solidFill>
                <a:effectLst/>
                <a:latin typeface="Cambria" panose="020405030504060302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sumber</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ini</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merupakan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satu</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rangkaian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kesatuan</a:t>
            </a:r>
            <a:r>
              <a:rPr lang="ms-MY" sz="2000" spc="10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dengan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urutan</a:t>
            </a:r>
            <a:r>
              <a:rPr lang="ms-MY" sz="2000" spc="11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 tidak</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boleh</a:t>
            </a:r>
            <a:r>
              <a:rPr lang="ms-MY" sz="2000" spc="-4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terbalik.</a:t>
            </a:r>
            <a:endParaRPr lang="ms-MY" sz="2000" dirty="0">
              <a:solidFill>
                <a:srgbClr val="231F20"/>
              </a:solidFill>
              <a:effectLst/>
              <a:latin typeface="Times New Roman" panose="02020603050405020304" pitchFamily="18" charset="0"/>
              <a:ea typeface="Times New Roman" panose="02020603050405020304" pitchFamily="18" charset="0"/>
            </a:endParaRPr>
          </a:p>
          <a:p>
            <a:r>
              <a:rPr lang="ms-MY" sz="2000" dirty="0">
                <a:solidFill>
                  <a:srgbClr val="231F20"/>
                </a:solidFill>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Berbicara</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sumber,</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bisa</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juga</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diartikan</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dasar.</a:t>
            </a:r>
            <a:r>
              <a:rPr lang="ms-MY" sz="2000" spc="-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Dasar</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pelaksanaan</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pendi-</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dikan dapat dilihat dari dua segi, yaitu perspektif Islam dan perspektif</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umum. mengalirkan ajaran,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Cambria" panose="02040503050406030204" pitchFamily="18" charset="0"/>
                <a:ea typeface="Times New Roman" panose="02020603050405020304" pitchFamily="18" charset="0"/>
                <a:cs typeface="Times New Roman" panose="02020603050405020304" pitchFamily="18" charset="0"/>
              </a:rPr>
              <a:t>termasuk ajaran mengenai hukum (fikih) Islam dari keduanya.</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4" y="555172"/>
            <a:ext cx="10678886" cy="990600"/>
          </a:xfrm>
        </p:spPr>
        <p:txBody>
          <a:bodyPr/>
          <a:lstStyle/>
          <a:p>
            <a:r>
              <a:rPr lang="ms-MY" sz="2400" b="0" cap="none" dirty="0">
                <a:solidFill>
                  <a:srgbClr val="231F20"/>
                </a:solidFill>
                <a:latin typeface="Times New Roman" panose="02020603050405020304" pitchFamily="18" charset="0"/>
                <a:ea typeface="Times New Roman" panose="02020603050405020304" pitchFamily="18" charset="0"/>
              </a:rPr>
              <a:t>D</a:t>
            </a:r>
            <a:r>
              <a:rPr lang="ms-MY" sz="2400" b="0" cap="none" dirty="0">
                <a:solidFill>
                  <a:srgbClr val="231F20"/>
                </a:solidFill>
                <a:effectLst/>
                <a:latin typeface="Times New Roman" panose="02020603050405020304" pitchFamily="18" charset="0"/>
                <a:ea typeface="Times New Roman" panose="02020603050405020304" pitchFamily="18" charset="0"/>
              </a:rPr>
              <a:t>alam perspektif islam, dasar pelaksanaan pendidikan meliputi</a:t>
            </a:r>
            <a:r>
              <a:rPr lang="ms-MY" sz="2400" b="0" cap="none" spc="-300"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tiga</a:t>
            </a:r>
            <a:r>
              <a:rPr lang="ms-MY" sz="2400" b="0" cap="none" spc="-70"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hal</a:t>
            </a:r>
            <a:r>
              <a:rPr lang="ms-MY" sz="2400" b="0" cap="none" spc="-60"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penting,</a:t>
            </a:r>
            <a:r>
              <a:rPr lang="ms-MY" sz="2400" b="0" cap="none" spc="-60"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yaitu</a:t>
            </a:r>
            <a:r>
              <a:rPr lang="ms-MY" sz="2400" b="0" cap="none" spc="-65"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sebagai</a:t>
            </a:r>
            <a:r>
              <a:rPr lang="ms-MY" sz="2400" b="0" cap="none" spc="-65" dirty="0">
                <a:solidFill>
                  <a:srgbClr val="231F20"/>
                </a:solidFill>
                <a:effectLst/>
                <a:latin typeface="Times New Roman" panose="02020603050405020304" pitchFamily="18" charset="0"/>
                <a:ea typeface="Times New Roman" panose="02020603050405020304" pitchFamily="18" charset="0"/>
              </a:rPr>
              <a:t> </a:t>
            </a:r>
            <a:r>
              <a:rPr lang="ms-MY" sz="2400" b="0" cap="none" dirty="0">
                <a:solidFill>
                  <a:srgbClr val="231F20"/>
                </a:solidFill>
                <a:effectLst/>
                <a:latin typeface="Times New Roman" panose="02020603050405020304" pitchFamily="18" charset="0"/>
                <a:ea typeface="Times New Roman" panose="02020603050405020304" pitchFamily="18" charset="0"/>
              </a:rPr>
              <a:t>berikut:</a:t>
            </a:r>
            <a:br>
              <a:rPr lang="en-US" sz="2400" b="0" cap="none" dirty="0">
                <a:effectLst/>
                <a:latin typeface="Times New Roman" panose="02020603050405020304" pitchFamily="18" charset="0"/>
                <a:ea typeface="Times New Roman" panose="02020603050405020304" pitchFamily="18" charset="0"/>
              </a:rPr>
            </a:br>
            <a:endParaRPr lang="en-US" sz="2400" b="0" cap="none" dirty="0"/>
          </a:p>
        </p:txBody>
      </p:sp>
      <p:sp>
        <p:nvSpPr>
          <p:cNvPr id="3" name="Content Placeholder 2"/>
          <p:cNvSpPr>
            <a:spLocks noGrp="1"/>
          </p:cNvSpPr>
          <p:nvPr>
            <p:ph idx="1"/>
          </p:nvPr>
        </p:nvSpPr>
        <p:spPr>
          <a:xfrm>
            <a:off x="674915" y="1447800"/>
            <a:ext cx="10319656" cy="4855028"/>
          </a:xfrm>
        </p:spPr>
        <p:txBody>
          <a:bodyPr/>
          <a:lstStyle/>
          <a:p>
            <a:pPr marL="742950" marR="523240" lvl="1" indent="-285750" algn="just">
              <a:lnSpc>
                <a:spcPct val="130000"/>
              </a:lnSpc>
              <a:spcBef>
                <a:spcPts val="720"/>
              </a:spcBef>
              <a:spcAft>
                <a:spcPts val="0"/>
              </a:spcAft>
              <a:buClr>
                <a:srgbClr val="231F20"/>
              </a:buClr>
              <a:buSzPts val="1000"/>
              <a:buFont typeface="Times New Roman" panose="02020603050405020304" pitchFamily="18" charset="0"/>
              <a:buAutoNum type="arabicPeriod"/>
              <a:tabLst>
                <a:tab pos="1024890" algn="l"/>
              </a:tabLst>
            </a:pPr>
            <a:r>
              <a:rPr lang="ms-MY" spc="-5" dirty="0">
                <a:solidFill>
                  <a:srgbClr val="231F20"/>
                </a:solidFill>
                <a:effectLst/>
                <a:latin typeface="Times New Roman" panose="02020603050405020304" pitchFamily="18" charset="0"/>
                <a:ea typeface="Times New Roman" panose="02020603050405020304" pitchFamily="18" charset="0"/>
              </a:rPr>
              <a:t>Al-Qur’an,</a:t>
            </a:r>
            <a:r>
              <a:rPr lang="ms-MY" spc="-4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merupakan</a:t>
            </a:r>
            <a:r>
              <a:rPr lang="ms-MY" spc="-3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pedoman</a:t>
            </a:r>
            <a:r>
              <a:rPr lang="ms-MY" spc="-4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tertinggi</a:t>
            </a:r>
            <a:r>
              <a:rPr lang="ms-MY" spc="-3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yang</a:t>
            </a:r>
            <a:r>
              <a:rPr lang="ms-MY" spc="-4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menjadi</a:t>
            </a:r>
            <a:r>
              <a:rPr lang="ms-MY" spc="-3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petunjuk</a:t>
            </a:r>
            <a:r>
              <a:rPr lang="ms-MY" spc="-4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dan</a:t>
            </a:r>
            <a:r>
              <a:rPr lang="ms-MY" spc="-28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dasar</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hidup</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manusia</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di</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dunia.</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Dalam</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al-Qur’an,</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kita</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bisa</a:t>
            </a:r>
            <a:r>
              <a:rPr lang="ms-MY" spc="-6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menemukan</a:t>
            </a:r>
            <a:r>
              <a:rPr lang="ms-MY" spc="-28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jawaban semua permasalahan hidup, termasuk pendidikan dan ilmu</a:t>
            </a:r>
            <a:r>
              <a:rPr lang="ms-MY" spc="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pengetahuan.</a:t>
            </a:r>
            <a:endParaRPr lang="en-US" spc="-5" dirty="0">
              <a:effectLst/>
              <a:latin typeface="Times New Roman" panose="02020603050405020304" pitchFamily="18" charset="0"/>
              <a:ea typeface="Times New Roman" panose="02020603050405020304" pitchFamily="18" charset="0"/>
            </a:endParaRPr>
          </a:p>
          <a:p>
            <a:pPr marL="742950" marR="523240" lvl="1" indent="-285750" algn="just">
              <a:lnSpc>
                <a:spcPct val="130000"/>
              </a:lnSpc>
              <a:spcBef>
                <a:spcPts val="20"/>
              </a:spcBef>
              <a:spcAft>
                <a:spcPts val="0"/>
              </a:spcAft>
              <a:buClr>
                <a:srgbClr val="231F20"/>
              </a:buClr>
              <a:buSzPts val="1000"/>
              <a:buFont typeface="Times New Roman" panose="02020603050405020304" pitchFamily="18" charset="0"/>
              <a:buAutoNum type="arabicPeriod"/>
              <a:tabLst>
                <a:tab pos="1024890" algn="l"/>
              </a:tabLst>
            </a:pPr>
            <a:r>
              <a:rPr lang="ms-MY" spc="-5" dirty="0">
                <a:solidFill>
                  <a:srgbClr val="231F20"/>
                </a:solidFill>
                <a:effectLst/>
                <a:latin typeface="Times New Roman" panose="02020603050405020304" pitchFamily="18" charset="0"/>
                <a:ea typeface="Times New Roman" panose="02020603050405020304" pitchFamily="18" charset="0"/>
              </a:rPr>
              <a:t>Hadits,</a:t>
            </a:r>
            <a:r>
              <a:rPr lang="ms-MY" spc="-8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merupakan</a:t>
            </a:r>
            <a:r>
              <a:rPr lang="ms-MY" spc="-7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pedoman</a:t>
            </a:r>
            <a:r>
              <a:rPr lang="ms-MY" spc="-7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muslim</a:t>
            </a:r>
            <a:r>
              <a:rPr lang="ms-MY" spc="-8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dan</a:t>
            </a:r>
            <a:r>
              <a:rPr lang="ms-MY" spc="-7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muslimah</a:t>
            </a:r>
            <a:r>
              <a:rPr lang="ms-MY" spc="-8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setelah</a:t>
            </a:r>
            <a:r>
              <a:rPr lang="ms-MY" spc="-8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al-Qur’an.</a:t>
            </a:r>
            <a:r>
              <a:rPr lang="ms-MY" spc="-28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Dengan demikian, hadits juga merupakan dasar atau elemen dalam</a:t>
            </a:r>
            <a:r>
              <a:rPr lang="ms-MY" spc="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pendidikan.</a:t>
            </a:r>
            <a:endParaRPr lang="en-US" spc="-5" dirty="0">
              <a:effectLst/>
              <a:latin typeface="Times New Roman" panose="02020603050405020304" pitchFamily="18" charset="0"/>
              <a:ea typeface="Times New Roman" panose="02020603050405020304" pitchFamily="18" charset="0"/>
            </a:endParaRPr>
          </a:p>
          <a:p>
            <a:pPr marL="742950" marR="525145" lvl="1" indent="-285750" algn="just">
              <a:lnSpc>
                <a:spcPct val="130000"/>
              </a:lnSpc>
              <a:spcBef>
                <a:spcPts val="15"/>
              </a:spcBef>
              <a:spcAft>
                <a:spcPts val="0"/>
              </a:spcAft>
              <a:buClr>
                <a:srgbClr val="231F20"/>
              </a:buClr>
              <a:buSzPts val="1000"/>
              <a:buFont typeface="Times New Roman" panose="02020603050405020304" pitchFamily="18" charset="0"/>
              <a:buAutoNum type="arabicPeriod"/>
              <a:tabLst>
                <a:tab pos="1024890" algn="l"/>
              </a:tabLst>
            </a:pPr>
            <a:r>
              <a:rPr lang="ms-MY" spc="-5" dirty="0">
                <a:solidFill>
                  <a:srgbClr val="231F20"/>
                </a:solidFill>
                <a:effectLst/>
                <a:latin typeface="Times New Roman" panose="02020603050405020304" pitchFamily="18" charset="0"/>
                <a:ea typeface="Times New Roman" panose="02020603050405020304" pitchFamily="18" charset="0"/>
              </a:rPr>
              <a:t>Nilai-nilai sosial kemasyarakatan yang tidak bertentangan dengan</a:t>
            </a:r>
            <a:r>
              <a:rPr lang="ms-MY" spc="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al-Qur’an</a:t>
            </a:r>
            <a:r>
              <a:rPr lang="ms-MY" spc="-45"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dan</a:t>
            </a:r>
            <a:r>
              <a:rPr lang="ms-MY" spc="-40" dirty="0">
                <a:solidFill>
                  <a:srgbClr val="231F20"/>
                </a:solidFill>
                <a:effectLst/>
                <a:latin typeface="Times New Roman" panose="02020603050405020304" pitchFamily="18" charset="0"/>
                <a:ea typeface="Times New Roman" panose="02020603050405020304" pitchFamily="18" charset="0"/>
              </a:rPr>
              <a:t> </a:t>
            </a:r>
            <a:r>
              <a:rPr lang="ms-MY" spc="-5" dirty="0">
                <a:solidFill>
                  <a:srgbClr val="231F20"/>
                </a:solidFill>
                <a:effectLst/>
                <a:latin typeface="Times New Roman" panose="02020603050405020304" pitchFamily="18" charset="0"/>
                <a:ea typeface="Times New Roman" panose="02020603050405020304" pitchFamily="18" charset="0"/>
              </a:rPr>
              <a:t>hadits.</a:t>
            </a:r>
            <a:endParaRPr lang="en-US" spc="-5" dirty="0">
              <a:effectLst/>
              <a:latin typeface="Times New Roman" panose="02020603050405020304" pitchFamily="18" charset="0"/>
              <a:ea typeface="Times New Roman" panose="02020603050405020304" pitchFamily="18" charset="0"/>
            </a:endParaRPr>
          </a:p>
          <a:p>
            <a:r>
              <a:rPr lang="ms-MY" sz="2000" dirty="0">
                <a:solidFill>
                  <a:srgbClr val="231F20"/>
                </a:solidFill>
                <a:effectLst/>
                <a:latin typeface="Times New Roman" panose="02020603050405020304" pitchFamily="18" charset="0"/>
                <a:ea typeface="Times New Roman" panose="02020603050405020304" pitchFamily="18" charset="0"/>
              </a:rPr>
              <a:t>Al-Qur’an sebagai sumber pokok ajaran Islam masih bersifat global,</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membutuhkan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penjabaran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serta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penjelasan</a:t>
            </a:r>
            <a:r>
              <a:rPr lang="ms-MY" sz="1100" dirty="0">
                <a:solidFill>
                  <a:srgbClr val="231F20"/>
                </a:solidFill>
                <a:effectLst/>
                <a:latin typeface="Times New Roman" panose="02020603050405020304" pitchFamily="18" charset="0"/>
                <a:ea typeface="Times New Roman" panose="02020603050405020304" pitchFamily="18" charset="0"/>
              </a:rPr>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828" y="264043"/>
            <a:ext cx="9048307" cy="701158"/>
          </a:xfrm>
        </p:spPr>
        <p:txBody>
          <a:bodyPr/>
          <a:lstStyle/>
          <a:p>
            <a:r>
              <a:rPr lang="ms-MY" sz="2800" b="0" cap="none" dirty="0">
                <a:solidFill>
                  <a:srgbClr val="231F20"/>
                </a:solidFill>
                <a:effectLst/>
                <a:latin typeface="Times New Roman" panose="02020603050405020304" pitchFamily="18" charset="0"/>
                <a:ea typeface="Times New Roman" panose="02020603050405020304" pitchFamily="18" charset="0"/>
              </a:rPr>
              <a:t>misalnya,</a:t>
            </a:r>
            <a:r>
              <a:rPr lang="ms-MY" sz="2800" b="0" cap="none" spc="5" dirty="0">
                <a:solidFill>
                  <a:srgbClr val="231F20"/>
                </a:solidFill>
                <a:effectLst/>
                <a:latin typeface="Times New Roman" panose="02020603050405020304" pitchFamily="18" charset="0"/>
                <a:ea typeface="Times New Roman" panose="02020603050405020304" pitchFamily="18" charset="0"/>
              </a:rPr>
              <a:t> </a:t>
            </a:r>
            <a:r>
              <a:rPr lang="ms-MY" sz="2800" b="0" cap="none" dirty="0">
                <a:solidFill>
                  <a:srgbClr val="231F20"/>
                </a:solidFill>
                <a:effectLst/>
                <a:latin typeface="Times New Roman" panose="02020603050405020304" pitchFamily="18" charset="0"/>
                <a:ea typeface="Times New Roman" panose="02020603050405020304" pitchFamily="18" charset="0"/>
              </a:rPr>
              <a:t>dalam</a:t>
            </a:r>
            <a:r>
              <a:rPr lang="ms-MY" sz="2800" b="0" cap="none" spc="5" dirty="0">
                <a:solidFill>
                  <a:srgbClr val="231F20"/>
                </a:solidFill>
                <a:effectLst/>
                <a:latin typeface="Times New Roman" panose="02020603050405020304" pitchFamily="18" charset="0"/>
                <a:ea typeface="Times New Roman" panose="02020603050405020304" pitchFamily="18" charset="0"/>
              </a:rPr>
              <a:t> </a:t>
            </a:r>
            <a:r>
              <a:rPr lang="ms-MY" sz="2800" b="0" cap="none" dirty="0">
                <a:solidFill>
                  <a:srgbClr val="231F20"/>
                </a:solidFill>
                <a:effectLst/>
                <a:latin typeface="Times New Roman" panose="02020603050405020304" pitchFamily="18" charset="0"/>
                <a:ea typeface="Times New Roman" panose="02020603050405020304" pitchFamily="18" charset="0"/>
              </a:rPr>
              <a:t>hal</a:t>
            </a:r>
            <a:r>
              <a:rPr lang="ms-MY" sz="2800" b="0" cap="none" spc="5" dirty="0">
                <a:solidFill>
                  <a:srgbClr val="231F20"/>
                </a:solidFill>
                <a:effectLst/>
                <a:latin typeface="Times New Roman" panose="02020603050405020304" pitchFamily="18" charset="0"/>
                <a:ea typeface="Times New Roman" panose="02020603050405020304" pitchFamily="18" charset="0"/>
              </a:rPr>
              <a:t> </a:t>
            </a:r>
            <a:r>
              <a:rPr lang="ms-MY" sz="2800" b="0" cap="none" dirty="0">
                <a:solidFill>
                  <a:srgbClr val="231F20"/>
                </a:solidFill>
                <a:effectLst/>
                <a:latin typeface="Times New Roman" panose="02020603050405020304" pitchFamily="18" charset="0"/>
                <a:ea typeface="Times New Roman" panose="02020603050405020304" pitchFamily="18" charset="0"/>
              </a:rPr>
              <a:t>shalat, puasa, haji,</a:t>
            </a:r>
            <a:endParaRPr lang="en-US" sz="2800" b="0" cap="none" dirty="0"/>
          </a:p>
        </p:txBody>
      </p:sp>
      <p:sp>
        <p:nvSpPr>
          <p:cNvPr id="3" name="Content Placeholder 2"/>
          <p:cNvSpPr>
            <a:spLocks noGrp="1"/>
          </p:cNvSpPr>
          <p:nvPr>
            <p:ph idx="1"/>
          </p:nvPr>
        </p:nvSpPr>
        <p:spPr>
          <a:xfrm>
            <a:off x="988828" y="1640910"/>
            <a:ext cx="10069032" cy="4251890"/>
          </a:xfrm>
        </p:spPr>
        <p:txBody>
          <a:bodyPr/>
          <a:lstStyle/>
          <a:p>
            <a:pPr marL="719455" marR="523240" indent="304800" algn="just">
              <a:lnSpc>
                <a:spcPct val="130000"/>
              </a:lnSpc>
              <a:spcBef>
                <a:spcPts val="10"/>
              </a:spcBef>
              <a:spcAft>
                <a:spcPts val="0"/>
              </a:spcAft>
            </a:pPr>
            <a:r>
              <a:rPr lang="ms-MY" sz="2000" dirty="0">
                <a:solidFill>
                  <a:srgbClr val="231F20"/>
                </a:solidFill>
                <a:latin typeface="Times New Roman" panose="02020603050405020304" pitchFamily="18" charset="0"/>
                <a:ea typeface="Times New Roman" panose="02020603050405020304" pitchFamily="18" charset="0"/>
              </a:rPr>
              <a:t>A</a:t>
            </a:r>
            <a:r>
              <a:rPr lang="ms-MY" sz="2000" dirty="0">
                <a:solidFill>
                  <a:srgbClr val="231F20"/>
                </a:solidFill>
                <a:effectLst/>
                <a:latin typeface="Times New Roman" panose="02020603050405020304" pitchFamily="18" charset="0"/>
                <a:ea typeface="Times New Roman" panose="02020603050405020304" pitchFamily="18" charset="0"/>
              </a:rPr>
              <a:t>l-Qur’an menjelaskan secara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umum,</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dan</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tidak</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mendetail.</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Adapun</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Rasulullah</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Saw.</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diutus,</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salah</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satunya,</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a:t>
            </a:r>
            <a:r>
              <a:rPr lang="ms-MY" sz="2000" spc="12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menjelaskan</a:t>
            </a:r>
            <a:r>
              <a:rPr lang="ms-MY" sz="2000" spc="12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12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menjabarkan</a:t>
            </a:r>
            <a:r>
              <a:rPr lang="ms-MY" sz="2000" spc="12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sesuatu</a:t>
            </a:r>
            <a:r>
              <a:rPr lang="ms-MY" sz="2000" spc="12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13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masih</a:t>
            </a:r>
            <a:r>
              <a:rPr lang="ms-MY" sz="2000" spc="12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bersifat</a:t>
            </a:r>
            <a:r>
              <a:rPr lang="ms-MY" sz="2000" spc="13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umum</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a:t>
            </a:r>
            <a:r>
              <a:rPr lang="ms-MY" sz="2000" spc="-6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dalam</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al-Qur’an,</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walaupun</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semuanya</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adalah</a:t>
            </a:r>
            <a:r>
              <a:rPr lang="ms-MY" sz="2000" spc="-6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bimbingan</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dari</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Allah</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Swt.</a:t>
            </a:r>
            <a:endParaRPr lang="en-US" sz="2000" dirty="0">
              <a:effectLst/>
              <a:latin typeface="Times New Roman" panose="02020603050405020304" pitchFamily="18" charset="0"/>
              <a:ea typeface="Times New Roman" panose="02020603050405020304" pitchFamily="18" charset="0"/>
            </a:endParaRPr>
          </a:p>
          <a:p>
            <a:pPr algn="just"/>
            <a:r>
              <a:rPr lang="ms-MY" sz="2000" dirty="0">
                <a:solidFill>
                  <a:srgbClr val="231F20"/>
                </a:solidFill>
                <a:effectLst/>
                <a:latin typeface="Times New Roman" panose="02020603050405020304" pitchFamily="18" charset="0"/>
                <a:ea typeface="Times New Roman" panose="02020603050405020304" pitchFamily="18" charset="0"/>
              </a:rPr>
              <a:t>Dengan demikian, Sunnah Rasulullah Saw. berarti penjelasan secara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lebih</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rinci</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dari</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al-Qur’an</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7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bersifat</a:t>
            </a:r>
            <a:r>
              <a:rPr lang="ms-MY" sz="2000" spc="-7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umum.</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8952" y="320040"/>
            <a:ext cx="10671048" cy="769724"/>
          </a:xfrm>
        </p:spPr>
        <p:txBody>
          <a:bodyPr/>
          <a:lstStyle/>
          <a:p>
            <a:endParaRPr lang="en-US" dirty="0"/>
          </a:p>
        </p:txBody>
      </p:sp>
      <p:pic>
        <p:nvPicPr>
          <p:cNvPr id="7" name="Content Placeholder 6"/>
          <p:cNvPicPr>
            <a:picLocks noGrp="1" noChangeAspect="1"/>
          </p:cNvPicPr>
          <p:nvPr>
            <p:ph sz="half" idx="1"/>
          </p:nvPr>
        </p:nvPicPr>
        <p:blipFill>
          <a:blip r:embed="rId1"/>
          <a:stretch>
            <a:fillRect/>
          </a:stretch>
        </p:blipFill>
        <p:spPr>
          <a:xfrm>
            <a:off x="539750" y="1226924"/>
            <a:ext cx="11118850" cy="5311036"/>
          </a:xfrm>
        </p:spPr>
      </p:pic>
      <p:sp>
        <p:nvSpPr>
          <p:cNvPr id="4" name="Footer Placeholder 3"/>
          <p:cNvSpPr>
            <a:spLocks noGrp="1"/>
          </p:cNvSpPr>
          <p:nvPr>
            <p:ph type="ftr" sz="quarter" idx="11"/>
          </p:nvPr>
        </p:nvSpPr>
        <p:spPr/>
        <p:txBody>
          <a:bodyPr/>
          <a:lstStyle/>
          <a:p>
            <a:r>
              <a:rPr lang="en-US" dirty="0"/>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pic>
        <p:nvPicPr>
          <p:cNvPr id="9" name="Picture 8"/>
          <p:cNvPicPr>
            <a:picLocks noChangeAspect="1"/>
          </p:cNvPicPr>
          <p:nvPr/>
        </p:nvPicPr>
        <p:blipFill>
          <a:blip r:embed="rId2"/>
          <a:stretch>
            <a:fillRect/>
          </a:stretch>
        </p:blipFill>
        <p:spPr>
          <a:xfrm>
            <a:off x="2192056" y="320041"/>
            <a:ext cx="7427934" cy="7697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
            <a:ext cx="10671048" cy="682668"/>
          </a:xfrm>
        </p:spPr>
        <p:txBody>
          <a:bodyPr/>
          <a:lstStyle/>
          <a:p>
            <a:r>
              <a:rPr lang="en-US" sz="2800" cap="none" dirty="0"/>
              <a:t>arti </a:t>
            </a:r>
            <a:r>
              <a:rPr lang="en-US" sz="2800" cap="none" dirty="0" err="1"/>
              <a:t>hadist</a:t>
            </a:r>
            <a:r>
              <a:rPr lang="en-US" sz="2800" cap="none" dirty="0"/>
              <a:t>:</a:t>
            </a:r>
            <a:endParaRPr lang="en-US" sz="2800" cap="none" dirty="0"/>
          </a:p>
        </p:txBody>
      </p:sp>
      <p:sp>
        <p:nvSpPr>
          <p:cNvPr id="3" name="Content Placeholder 2"/>
          <p:cNvSpPr>
            <a:spLocks noGrp="1"/>
          </p:cNvSpPr>
          <p:nvPr>
            <p:ph sz="half" idx="1"/>
          </p:nvPr>
        </p:nvSpPr>
        <p:spPr>
          <a:xfrm>
            <a:off x="539496" y="1352811"/>
            <a:ext cx="11119104" cy="5185149"/>
          </a:xfrm>
        </p:spPr>
        <p:txBody>
          <a:bodyPr/>
          <a:lstStyle/>
          <a:p>
            <a:pPr algn="just"/>
            <a:r>
              <a:rPr lang="ms-MY" sz="2400" dirty="0">
                <a:solidFill>
                  <a:srgbClr val="231F20"/>
                </a:solidFill>
                <a:effectLst/>
                <a:latin typeface="Times New Roman" panose="02020603050405020304" pitchFamily="18" charset="0"/>
                <a:ea typeface="Times New Roman" panose="02020603050405020304" pitchFamily="18" charset="0"/>
              </a:rPr>
              <a:t>Umar</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Ra.</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berkata,</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“Ketika</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kami</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duduk-duduk</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di</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sisi</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Rasulullah</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Saw.</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suatu hari, tiba-tiba datanglah seorang laki-laki yang mengenakan baju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yang sangat putih dan berambut sangat hitam. Tidak tampak padanya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bekas-bekas perjalanan jauh, dan tidak ada seorang pun di antara kami</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yang</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mengenalnya.</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Hingga</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kemudian,</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ia</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duduk</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di</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hadapan</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Nabi</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Saw.</a:t>
            </a:r>
            <a:r>
              <a:rPr lang="ms-MY" sz="2400" spc="-5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lalu</a:t>
            </a:r>
            <a:r>
              <a:rPr lang="ms-MY" sz="2400" spc="-29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menempelkan kedua lututnya kepada kedua lutut Rasulullah Saw., seraya</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berkata,</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‘Ya</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Muhammad,</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beritahukan</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aku</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tentang</a:t>
            </a:r>
            <a:r>
              <a:rPr lang="ms-MY" sz="2400" spc="-5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Islam?’</a:t>
            </a:r>
            <a:endParaRPr lang="en-US" sz="2400" dirty="0">
              <a:effectLst/>
              <a:latin typeface="Times New Roman" panose="02020603050405020304" pitchFamily="18" charset="0"/>
              <a:ea typeface="Times New Roman" panose="02020603050405020304" pitchFamily="18" charset="0"/>
            </a:endParaRPr>
          </a:p>
          <a:p>
            <a:r>
              <a:rPr lang="ms-MY" sz="2800" dirty="0">
                <a:solidFill>
                  <a:srgbClr val="231F20"/>
                </a:solidFill>
                <a:effectLst/>
                <a:latin typeface="Times New Roman" panose="02020603050405020304" pitchFamily="18" charset="0"/>
                <a:ea typeface="Times New Roman" panose="02020603050405020304" pitchFamily="18" charset="0"/>
              </a:rPr>
              <a:t>“Maka Rasulullah Saw. bersabda, ‘Islam adalah engkau bersaksi bahwa</a:t>
            </a:r>
            <a:r>
              <a:rPr lang="ms-MY" sz="2800" spc="-27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tidak</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ada</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Tuhan</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yang</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disembah</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selain</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Allah,</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dan</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bahwa</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Nabi</a:t>
            </a:r>
            <a:r>
              <a:rPr lang="ms-MY" sz="2800" spc="-5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Muhammad</a:t>
            </a:r>
            <a:r>
              <a:rPr lang="ms-MY" sz="2800" spc="-29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adalah utusan Allah; engkau mendirikan shalat; menunaikan zakat;</a:t>
            </a:r>
            <a:r>
              <a:rPr lang="ms-MY" sz="2800" spc="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berpuasa</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pada</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bulan</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Ramadhan;</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dan</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pergi</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haji</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jika</a:t>
            </a:r>
            <a:r>
              <a:rPr lang="ms-MY" sz="2800" spc="-5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mampu.’</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Kemudian,</a:t>
            </a:r>
            <a:r>
              <a:rPr lang="ms-MY" sz="2800" spc="-6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ia</a:t>
            </a:r>
            <a:r>
              <a:rPr lang="ms-MY" sz="2800" spc="-28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berkata,</a:t>
            </a:r>
            <a:r>
              <a:rPr lang="ms-MY" sz="2800" spc="-75"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‘Engkau</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benar.’</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Kami</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semua</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heran,</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ia</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yang</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bertanya,</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ia</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pula</a:t>
            </a:r>
            <a:r>
              <a:rPr lang="ms-MY" sz="2800" spc="-7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yang</a:t>
            </a:r>
            <a:r>
              <a:rPr lang="ms-MY" sz="2800" spc="-290" dirty="0">
                <a:solidFill>
                  <a:srgbClr val="231F20"/>
                </a:solidFill>
                <a:effectLst/>
                <a:latin typeface="Times New Roman" panose="02020603050405020304" pitchFamily="18" charset="0"/>
                <a:ea typeface="Times New Roman" panose="02020603050405020304" pitchFamily="18" charset="0"/>
              </a:rPr>
              <a:t> </a:t>
            </a:r>
            <a:r>
              <a:rPr lang="ms-MY" sz="2800" dirty="0">
                <a:solidFill>
                  <a:srgbClr val="231F20"/>
                </a:solidFill>
                <a:effectLst/>
                <a:latin typeface="Times New Roman" panose="02020603050405020304" pitchFamily="18" charset="0"/>
                <a:ea typeface="Times New Roman" panose="02020603050405020304" pitchFamily="18" charset="0"/>
              </a:rPr>
              <a:t>membenarkan.</a:t>
            </a:r>
            <a:endParaRPr lang="en-US" sz="2800" dirty="0">
              <a:effectLst/>
              <a:latin typeface="Times New Roman" panose="02020603050405020304" pitchFamily="18" charset="0"/>
              <a:ea typeface="Times New Roman" panose="02020603050405020304" pitchFamily="18" charset="0"/>
            </a:endParaRPr>
          </a:p>
          <a:p>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9496" y="1139868"/>
            <a:ext cx="11119104" cy="5398092"/>
          </a:xfrm>
        </p:spPr>
        <p:txBody>
          <a:bodyPr/>
          <a:lstStyle/>
          <a:p>
            <a:r>
              <a:rPr lang="ms-MY" sz="2400" dirty="0">
                <a:solidFill>
                  <a:srgbClr val="231F20"/>
                </a:solidFill>
                <a:effectLst/>
                <a:latin typeface="Times New Roman" panose="02020603050405020304" pitchFamily="18" charset="0"/>
                <a:ea typeface="Times New Roman" panose="02020603050405020304" pitchFamily="18" charset="0"/>
              </a:rPr>
              <a:t>“Kemudian, ia bertanya lagi, “Beritahukan aku tentang iman.’ Lalu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beliau bersabda, ‘Engkau beriman kepada Allah, malaikat-malaikat-Nya,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kitab-kitab-Nya,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rasul-rasul-Nya,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dan</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hari</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akhir,</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dan</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engkau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beriman</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kepada takdir yang baik maupun yang buruk.’ Kemudian, ia berkata,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‘Engkau benar.’ Lalu, ia berkata lagi, ‘Beritahukan aku tentang ihsan.’</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Maka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beliau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bersabda,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‘Ihsan</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adalah</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engkau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beribadah</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kepada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Allah</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seakan-akan engkau melihat-Nya, jika engkau tidak melihat-Nya maka Dia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melihat</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engkau.’</a:t>
            </a:r>
            <a:endParaRPr lang="en-US" sz="2400" dirty="0">
              <a:effectLst/>
              <a:latin typeface="Times New Roman" panose="02020603050405020304" pitchFamily="18" charset="0"/>
              <a:ea typeface="Times New Roman" panose="02020603050405020304" pitchFamily="18" charset="0"/>
            </a:endParaRPr>
          </a:p>
          <a:p>
            <a:r>
              <a:rPr lang="ms-MY" sz="2400" dirty="0">
                <a:solidFill>
                  <a:srgbClr val="231F20"/>
                </a:solidFill>
                <a:effectLst/>
                <a:latin typeface="Times New Roman" panose="02020603050405020304" pitchFamily="18" charset="0"/>
                <a:ea typeface="Times New Roman" panose="02020603050405020304" pitchFamily="18" charset="0"/>
              </a:rPr>
              <a:t>“Setelah itu, ia berkata, ‘Beritahukan aku tentang hari kiamat (kapan</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kejadiannya)?’ Beliau bersabda, ‘Yang ditanya tidak lebih tahu dari yang</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bertanya.’ Ia berkata, ‘Beritahukan aku tentang tanda-tandanya.’ Beliau</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pun menjawab, ‘Jika seorang hamba melahirkan tuannya, dan jika engkau</a:t>
            </a:r>
            <a:r>
              <a:rPr lang="ms-MY" sz="2400" spc="-28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melihat seorang bertelanjang kaki dan dada, miskin dan penggembala</a:t>
            </a:r>
            <a:r>
              <a:rPr lang="ms-MY" sz="2400" spc="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domba,</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(kemudian)</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berlomba-lomba</a:t>
            </a:r>
            <a:r>
              <a:rPr lang="ms-MY" sz="2400" spc="-45"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meninggikan</a:t>
            </a:r>
            <a:r>
              <a:rPr lang="ms-MY" sz="2400" spc="-40" dirty="0">
                <a:solidFill>
                  <a:srgbClr val="231F20"/>
                </a:solidFill>
                <a:effectLst/>
                <a:latin typeface="Times New Roman" panose="02020603050405020304" pitchFamily="18" charset="0"/>
                <a:ea typeface="Times New Roman" panose="02020603050405020304" pitchFamily="18" charset="0"/>
              </a:rPr>
              <a:t> </a:t>
            </a:r>
            <a:r>
              <a:rPr lang="ms-MY" sz="2400" dirty="0">
                <a:solidFill>
                  <a:srgbClr val="231F20"/>
                </a:solidFill>
                <a:effectLst/>
                <a:latin typeface="Times New Roman" panose="02020603050405020304" pitchFamily="18" charset="0"/>
                <a:ea typeface="Times New Roman" panose="02020603050405020304" pitchFamily="18" charset="0"/>
              </a:rPr>
              <a:t>bangunannya.’</a:t>
            </a:r>
            <a:endParaRPr lang="en-US" sz="2400" dirty="0">
              <a:effectLst/>
              <a:latin typeface="Times New Roman" panose="02020603050405020304" pitchFamily="18" charset="0"/>
              <a:ea typeface="Times New Roman" panose="02020603050405020304" pitchFamily="18" charset="0"/>
            </a:endParaRPr>
          </a:p>
          <a:p>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9496" y="1227551"/>
            <a:ext cx="11119104" cy="5310409"/>
          </a:xfrm>
        </p:spPr>
        <p:txBody>
          <a:bodyPr/>
          <a:lstStyle/>
          <a:p>
            <a:pPr marL="719455" marR="536575" indent="304800" algn="just">
              <a:lnSpc>
                <a:spcPct val="130000"/>
              </a:lnSpc>
              <a:spcBef>
                <a:spcPts val="730"/>
              </a:spcBef>
              <a:spcAft>
                <a:spcPts val="0"/>
              </a:spcAft>
            </a:pPr>
            <a:r>
              <a:rPr lang="ms-MY" sz="2000" dirty="0">
                <a:solidFill>
                  <a:srgbClr val="231F20"/>
                </a:solidFill>
                <a:effectLst/>
                <a:latin typeface="Times New Roman" panose="02020603050405020304" pitchFamily="18" charset="0"/>
                <a:ea typeface="Times New Roman" panose="02020603050405020304" pitchFamily="18" charset="0"/>
              </a:rPr>
              <a:t>“Setelah itu, orang itu berlalu, dan aku berdiam sebentar. Kemudian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Rasulullah</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Saw.</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bertanya,</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‘Tahukah</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spc="-5" dirty="0">
                <a:solidFill>
                  <a:srgbClr val="231F20"/>
                </a:solidFill>
                <a:effectLst/>
                <a:latin typeface="Times New Roman" panose="02020603050405020304" pitchFamily="18" charset="0"/>
                <a:ea typeface="Times New Roman" panose="02020603050405020304" pitchFamily="18" charset="0"/>
              </a:rPr>
              <a:t>engkau,</a:t>
            </a:r>
            <a:r>
              <a:rPr lang="ms-MY" sz="2000" spc="-9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siapa</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bertanya</a:t>
            </a:r>
            <a:r>
              <a:rPr lang="ms-MY" sz="2000" spc="-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barusan?’</a:t>
            </a:r>
            <a:r>
              <a:rPr lang="ms-MY" sz="2000" spc="-29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Aku menjawab, ‘Allah dan Rasul-Nya lebih mengetahui.’ Beliau bersabda,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‘Ia adalah Jibril yang datang kepada kalian, (bermaksud) mengajarkan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agama</a:t>
            </a:r>
            <a:r>
              <a:rPr lang="ms-MY" sz="2000" spc="-50"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kalian.”</a:t>
            </a:r>
            <a:r>
              <a:rPr lang="ms-MY" sz="2000" spc="-4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(HR.</a:t>
            </a:r>
            <a:r>
              <a:rPr lang="ms-MY" sz="2000" spc="-5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Muslim).</a:t>
            </a:r>
            <a:endParaRPr lang="ms-MY" sz="2000" dirty="0">
              <a:solidFill>
                <a:srgbClr val="231F20"/>
              </a:solidFill>
              <a:effectLst/>
              <a:latin typeface="Times New Roman" panose="02020603050405020304" pitchFamily="18" charset="0"/>
              <a:ea typeface="Times New Roman" panose="02020603050405020304" pitchFamily="18" charset="0"/>
            </a:endParaRPr>
          </a:p>
          <a:p>
            <a:pPr marL="719455" marR="536575" indent="304800" algn="just">
              <a:lnSpc>
                <a:spcPct val="130000"/>
              </a:lnSpc>
              <a:spcBef>
                <a:spcPts val="730"/>
              </a:spcBef>
              <a:spcAft>
                <a:spcPts val="0"/>
              </a:spcAft>
            </a:pPr>
            <a:br>
              <a:rPr lang="ms-MY" sz="2000" dirty="0">
                <a:effectLst/>
                <a:latin typeface="Times New Roman" panose="02020603050405020304" pitchFamily="18" charset="0"/>
                <a:ea typeface="Times New Roman" panose="02020603050405020304" pitchFamily="18" charset="0"/>
              </a:rPr>
            </a:br>
            <a:r>
              <a:rPr lang="ms-MY" sz="2000" dirty="0">
                <a:solidFill>
                  <a:srgbClr val="231F20"/>
                </a:solidFill>
                <a:effectLst/>
                <a:latin typeface="Times New Roman" panose="02020603050405020304" pitchFamily="18" charset="0"/>
                <a:ea typeface="Times New Roman" panose="02020603050405020304" pitchFamily="18" charset="0"/>
              </a:rPr>
              <a:t>Hadits tersebut berisi tiga pilar, yaitu Islam, iman, dan ihsan. Ketiga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pilar</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tersebut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saling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terkait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menjadi</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satu</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kesatuan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tidak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dapat</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dipisahkan.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Islam</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adalah</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sikap</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tunduk</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pasrah</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kepada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Allah  Swt</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untuk menuruti perintah-Nya, seperti syahadat, shalat, puasa, zakat, dan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haji. Kemudian dilanjutkan dengan iman. Iman erat kaitannya dengan</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kehidupan seseorang, namun seringkali seseorang beriman hanya kepada</a:t>
            </a:r>
            <a:r>
              <a:rPr lang="ms-MY" sz="2000" spc="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yang tampak semata, misalkan kitab al-Qur’an, nabi, dan rasul yang telah</a:t>
            </a:r>
            <a:r>
              <a:rPr lang="ms-MY" sz="2000" spc="-285" dirty="0">
                <a:solidFill>
                  <a:srgbClr val="231F20"/>
                </a:solidFill>
                <a:effectLst/>
                <a:latin typeface="Times New Roman" panose="02020603050405020304" pitchFamily="18" charset="0"/>
                <a:ea typeface="Times New Roman" panose="02020603050405020304" pitchFamily="18" charset="0"/>
              </a:rPr>
              <a:t> </a:t>
            </a:r>
            <a:r>
              <a:rPr lang="ms-MY" sz="2000" dirty="0">
                <a:solidFill>
                  <a:srgbClr val="231F20"/>
                </a:solidFill>
                <a:effectLst/>
                <a:latin typeface="Times New Roman" panose="02020603050405020304" pitchFamily="18" charset="0"/>
                <a:ea typeface="Times New Roman" panose="02020603050405020304" pitchFamily="18" charset="0"/>
              </a:rPr>
              <a:t>dikisahkan.</a:t>
            </a:r>
            <a:endParaRPr lang="en-US" sz="2000" dirty="0">
              <a:effectLst/>
              <a:latin typeface="Times New Roman" panose="02020603050405020304" pitchFamily="18" charset="0"/>
              <a:ea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Oval 7"/>
          <p:cNvSpPr/>
          <p:nvPr/>
        </p:nvSpPr>
        <p:spPr>
          <a:xfrm>
            <a:off x="4450715" y="3272790"/>
            <a:ext cx="3895725" cy="33102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endParaRPr lang="en-US"/>
          </a:p>
        </p:txBody>
      </p:sp>
      <p:sp>
        <p:nvSpPr>
          <p:cNvPr id="9" name="Oval 8"/>
          <p:cNvSpPr/>
          <p:nvPr/>
        </p:nvSpPr>
        <p:spPr>
          <a:xfrm>
            <a:off x="1168400" y="3272790"/>
            <a:ext cx="3895725" cy="33102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endParaRPr lang="en-US"/>
          </a:p>
        </p:txBody>
      </p:sp>
      <p:sp>
        <p:nvSpPr>
          <p:cNvPr id="7" name="Oval 6"/>
          <p:cNvSpPr/>
          <p:nvPr/>
        </p:nvSpPr>
        <p:spPr>
          <a:xfrm>
            <a:off x="2737485" y="1574800"/>
            <a:ext cx="3895725" cy="33102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endParaRPr lang="en-US"/>
          </a:p>
        </p:txBody>
      </p:sp>
      <p:sp>
        <p:nvSpPr>
          <p:cNvPr id="2" name="Title 1"/>
          <p:cNvSpPr>
            <a:spLocks noGrp="1"/>
          </p:cNvSpPr>
          <p:nvPr>
            <p:ph type="title"/>
          </p:nvPr>
        </p:nvSpPr>
        <p:spPr>
          <a:xfrm>
            <a:off x="553720" y="795655"/>
            <a:ext cx="10541000" cy="790575"/>
          </a:xfrm>
        </p:spPr>
        <p:txBody>
          <a:bodyPr/>
          <a:p>
            <a:r>
              <a:rPr lang="en-US" sz="3200"/>
              <a:t>hadist 3 PILAr dalam islam</a:t>
            </a:r>
            <a:endParaRPr lang="en-US" sz="3200"/>
          </a:p>
        </p:txBody>
      </p:sp>
      <p:sp>
        <p:nvSpPr>
          <p:cNvPr id="4" name="Oval 3"/>
          <p:cNvSpPr/>
          <p:nvPr/>
        </p:nvSpPr>
        <p:spPr>
          <a:xfrm>
            <a:off x="1499870" y="3272790"/>
            <a:ext cx="3232150" cy="3195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600">
                <a:solidFill>
                  <a:srgbClr val="00B050"/>
                </a:solidFill>
              </a:rPr>
              <a:t>IMAN</a:t>
            </a:r>
            <a:endParaRPr lang="en-US" sz="3600">
              <a:solidFill>
                <a:srgbClr val="00B050"/>
              </a:solidFill>
            </a:endParaRPr>
          </a:p>
        </p:txBody>
      </p:sp>
      <p:sp>
        <p:nvSpPr>
          <p:cNvPr id="5" name="Oval 4"/>
          <p:cNvSpPr/>
          <p:nvPr/>
        </p:nvSpPr>
        <p:spPr>
          <a:xfrm>
            <a:off x="3070225" y="1688465"/>
            <a:ext cx="3232150" cy="3195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solidFill>
                  <a:srgbClr val="00B050"/>
                </a:solidFill>
              </a:rPr>
              <a:t>I</a:t>
            </a:r>
            <a:r>
              <a:rPr lang="en-US" sz="4400">
                <a:solidFill>
                  <a:srgbClr val="00B050"/>
                </a:solidFill>
              </a:rPr>
              <a:t>I</a:t>
            </a:r>
            <a:r>
              <a:rPr lang="en-US" sz="3600">
                <a:solidFill>
                  <a:srgbClr val="00B050"/>
                </a:solidFill>
              </a:rPr>
              <a:t>SLAM</a:t>
            </a:r>
            <a:endParaRPr lang="en-US" sz="3600">
              <a:solidFill>
                <a:srgbClr val="00B050"/>
              </a:solidFill>
            </a:endParaRPr>
          </a:p>
        </p:txBody>
      </p:sp>
      <p:sp>
        <p:nvSpPr>
          <p:cNvPr id="6" name="Oval 5"/>
          <p:cNvSpPr/>
          <p:nvPr/>
        </p:nvSpPr>
        <p:spPr>
          <a:xfrm>
            <a:off x="4603115" y="3272790"/>
            <a:ext cx="3232150" cy="3195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4000">
                <a:solidFill>
                  <a:srgbClr val="00B050"/>
                </a:solidFill>
              </a:rPr>
              <a:t>IKHSAN</a:t>
            </a:r>
            <a:endParaRPr lang="en-US" sz="4000">
              <a:solidFill>
                <a:srgbClr val="00B05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7047" y="1975104"/>
            <a:ext cx="5186903" cy="667512"/>
          </a:xfrm>
        </p:spPr>
        <p:txBody>
          <a:bodyPr/>
          <a:lstStyle/>
          <a:p>
            <a:r>
              <a:rPr lang="en-US" dirty="0" err="1"/>
              <a:t>trimakasih</a:t>
            </a:r>
            <a:endParaRPr lang="en-US" dirty="0"/>
          </a:p>
        </p:txBody>
      </p:sp>
      <p:sp>
        <p:nvSpPr>
          <p:cNvPr id="3" name="Subtitle 2"/>
          <p:cNvSpPr>
            <a:spLocks noGrp="1"/>
          </p:cNvSpPr>
          <p:nvPr>
            <p:ph type="subTitle" idx="1"/>
          </p:nvPr>
        </p:nvSpPr>
        <p:spPr/>
        <p:txBody>
          <a:bodyPr/>
          <a:lstStyle/>
          <a:p>
            <a:r>
              <a:rPr lang="en-US" dirty="0" err="1"/>
              <a:t>Sampai</a:t>
            </a:r>
            <a:r>
              <a:rPr lang="en-US" dirty="0"/>
              <a:t> </a:t>
            </a:r>
            <a:r>
              <a:rPr lang="en-US" dirty="0" err="1"/>
              <a:t>jumpa</a:t>
            </a:r>
            <a:r>
              <a:rPr lang="en-US" dirty="0"/>
              <a:t> di </a:t>
            </a:r>
            <a:r>
              <a:rPr lang="en-US" dirty="0" err="1"/>
              <a:t>materi</a:t>
            </a:r>
            <a:r>
              <a:rPr lang="en-US" dirty="0"/>
              <a:t> </a:t>
            </a:r>
            <a:r>
              <a:rPr lang="en-US" dirty="0" err="1"/>
              <a:t>berikutnya</a:t>
            </a:r>
            <a:r>
              <a:rPr lang="en-US" dirty="0"/>
              <a:t>.</a:t>
            </a:r>
            <a:endParaRPr lang="en-US" dirty="0"/>
          </a:p>
        </p:txBody>
      </p:sp>
      <p:sp>
        <p:nvSpPr>
          <p:cNvPr id="4" name="Pie 3"/>
          <p:cNvSpPr/>
          <p:nvPr/>
        </p:nvSpPr>
        <p:spPr>
          <a:xfrm>
            <a:off x="2644140" y="4639310"/>
            <a:ext cx="2165985" cy="883285"/>
          </a:xfrm>
          <a:prstGeom prst="pi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
        <p:nvSpPr>
          <p:cNvPr id="5" name="Pie 4"/>
          <p:cNvSpPr/>
          <p:nvPr/>
        </p:nvSpPr>
        <p:spPr>
          <a:xfrm>
            <a:off x="671195" y="5376545"/>
            <a:ext cx="2165985" cy="883285"/>
          </a:xfrm>
          <a:prstGeom prst="pi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
        <p:nvSpPr>
          <p:cNvPr id="6" name="Pie 5"/>
          <p:cNvSpPr/>
          <p:nvPr/>
        </p:nvSpPr>
        <p:spPr>
          <a:xfrm>
            <a:off x="4547870" y="3870325"/>
            <a:ext cx="2165985" cy="883285"/>
          </a:xfrm>
          <a:prstGeom prst="pi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
        <p:nvSpPr>
          <p:cNvPr id="7" name="Pie 6"/>
          <p:cNvSpPr/>
          <p:nvPr/>
        </p:nvSpPr>
        <p:spPr>
          <a:xfrm>
            <a:off x="5939155" y="2987040"/>
            <a:ext cx="2165985" cy="883285"/>
          </a:xfrm>
          <a:prstGeom prst="pi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
        <p:nvSpPr>
          <p:cNvPr id="8" name="Pie 7"/>
          <p:cNvSpPr/>
          <p:nvPr/>
        </p:nvSpPr>
        <p:spPr>
          <a:xfrm>
            <a:off x="7458710" y="1866900"/>
            <a:ext cx="2165985" cy="883285"/>
          </a:xfrm>
          <a:prstGeom prst="pi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{C370FC95-41EE-45AE-9F5F-DD7DC165FBF9}tf78438558_win32</Template>
  <TotalTime>0</TotalTime>
  <Words>13274</Words>
  <Application>WPS Presentation</Application>
  <PresentationFormat>Widescreen</PresentationFormat>
  <Paragraphs>160</Paragraphs>
  <Slides>26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SimSun</vt:lpstr>
      <vt:lpstr>Wingdings</vt:lpstr>
      <vt:lpstr>Times New Roman</vt:lpstr>
      <vt:lpstr>Arial Black</vt:lpstr>
      <vt:lpstr>Palatino Linotype</vt:lpstr>
      <vt:lpstr>Georgia</vt:lpstr>
      <vt:lpstr>Cambria</vt:lpstr>
      <vt:lpstr>Sabon Next LT</vt:lpstr>
      <vt:lpstr>Segoe Print</vt:lpstr>
      <vt:lpstr>Arial Unicode MS</vt:lpstr>
      <vt:lpstr>Office Theme</vt:lpstr>
      <vt:lpstr>Pendidikan agama islam  </vt:lpstr>
      <vt:lpstr>Hubungan Akidah  dengan  Akhlak (satu kesatuan yang tidak dapat dipisahkan)</vt:lpstr>
      <vt:lpstr>BAB 1.Pemahaman tentang Pendidikan 				Agama Islam </vt:lpstr>
      <vt:lpstr>A. Konsep Dasar Pendidikan  Agama Islam (PAI) </vt:lpstr>
      <vt:lpstr>	Menurut para ahli pendidikan adalah usaha membina dan mengembangkan aspek-aspek rohaniah dan jasmaniah yang berlangsung secara bertahap.2 akan tetapi, proses yang digunakan dalam usaha kependidikan adalah proses yang terarah dan bertujuan, yaitu mengarahkan anak didik (manusia) kepada titik optimal kemampuannya. sedangkan, tujuan yang hendak dicapai adalah terbentuknya kepribadian yang bulat dan utuh sebagai manusia individual, sosial, dan hamba tuhan yang mengabdikan diri kepada-nya.</vt:lpstr>
      <vt:lpstr>PowerPoint 演示文稿</vt:lpstr>
      <vt:lpstr>	sedangkan, dari sudut pandang individu, pendidikan merupakan proses perkembangan potensi secara maksimal, dan diwujudkan dalam bentuk konkret. konkret dalam arti, ia berkemampuan menciptakan sesuatu yang baru dan berguna untuk kehidupan manusia mendatang. </vt:lpstr>
      <vt:lpstr>surat at-Taḥrīm [66]: 6</vt:lpstr>
      <vt:lpstr> Surat Ar Rum Ayat 39</vt:lpstr>
      <vt:lpstr>	Dua ayat di atas memberikan pemahaman yang jelas tentang definisi pendidikan. surat ar-rūm [30]: 39 tersebut menjelaskan bahwa pendi- dikan merupakan usaha pendidik untuk mendewasakan anak didiknya. sedangkan, surat at-taḥrīm [66]: 6 menjelaskan bahwa pendidikan merupakan usaha untuk memelihara dan menuntun  peserta  didik  supaya taat terhadap peraturan yang berlaku dalam kehidupan. </vt:lpstr>
      <vt:lpstr>Untuk dapat mengembangkan potensi yang dimiliki, maka manusia perlu pendidikan</vt:lpstr>
      <vt:lpstr>B.Konsep Dasar Pembentukan Karakteristik Islami </vt:lpstr>
      <vt:lpstr>	Indikator dari iman. iman yang kuat melahirkan akhlak yang baik, sedangkan iman yang lemah melahirkan akhlak yang buruk. lebih lanjut, dapat dikatakan kaitannya dengan hubungan antara akidah dengan akhlak. hubungan akidah dengan akhlak dalam diri manusia sebagai orang yang beriman adalah merupakan satu kesatuan yang tidak dapat dipisahkan.</vt:lpstr>
      <vt:lpstr>	Orang-orang yang menepati jalan hidayah adalah mereka yang tahu bersyukur, sehingga perbuatan mereka senantiasa sesuai dengan petunjuk allah swt. inilah yang dimaksudkan dengan akhlak mulia.</vt:lpstr>
      <vt:lpstr>	Aspek akhlak atau moral  tidak dapat dipisahkan dari keterpaduan potensi  manusia,  kebebasan yang dimilikinya, serta tanggung jawab yang diamanahkan allah swt.</vt:lpstr>
      <vt:lpstr>C. Dasar-Dasar Pelaksanaan Pendidikan Agama Islam </vt:lpstr>
      <vt:lpstr>	Sumber ajaran islam adalah asal ajaran islam (termasuk sumber agama islam di dalamnya). allah swt. telah menetapkan sumber ajaran islam yang wajib diikuti oleh setiap muslim. ketetapan allah swt. itu terdapat dalam surat an-nisā’ [4]: 59 </vt:lpstr>
      <vt:lpstr>1.sumber ajaran islam yang pertama adalah al qur’an 2. sumber ajaran islam dirumuskan dengan jelas dalam percakapan nabi muhammad saw. ( hadist nabi)</vt:lpstr>
      <vt:lpstr>Dalam perspektif islam, dasar pelaksanaan pendidikan meliputi tiga hal penting, yaitu sebagai berikut: </vt:lpstr>
      <vt:lpstr>misalnya, dalam hal shalat, puasa, haji,</vt:lpstr>
      <vt:lpstr>PowerPoint 演示文稿</vt:lpstr>
      <vt:lpstr>arti hadist:</vt:lpstr>
      <vt:lpstr>PowerPoint 演示文稿</vt:lpstr>
      <vt:lpstr>PowerPoint 演示文稿</vt:lpstr>
      <vt:lpstr>hadist 3 PILAr dalam islam</vt:lpstr>
      <vt:lpstr>trimakasih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Pendidikan agama islam </dc:title>
  <dc:creator>chuzaemah chuzaemah</dc:creator>
  <cp:lastModifiedBy>Lenovo</cp:lastModifiedBy>
  <cp:revision>18</cp:revision>
  <dcterms:created xsi:type="dcterms:W3CDTF">2022-09-13T19:10:00Z</dcterms:created>
  <dcterms:modified xsi:type="dcterms:W3CDTF">2023-08-27T07:05:22Z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13AE3840E9AC41D4A96DF67CE1AE1E87</vt:lpwstr>
  </property>
  <property fmtid="{D5CDD505-2E9C-101B-9397-08002B2CF9AE}" pid="3" name="KSOProductBuildVer">
    <vt:lpwstr>1033-12.2.0.13110</vt:lpwstr>
  </property>
</Properties>
</file>