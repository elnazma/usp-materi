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93" r:id="rId7"/>
    <p:sldId id="291" r:id="rId8"/>
    <p:sldId id="292" r:id="rId9"/>
    <p:sldId id="274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1"/>
    <p:sldId id="272" r:id="rId22"/>
    <p:sldId id="288" r:id="rId23"/>
    <p:sldId id="271" r:id="rId24"/>
    <p:sldId id="275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89" d="100"/>
          <a:sy n="89" d="100"/>
        </p:scale>
        <p:origin x="-472" y="-3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>
            <a:fillRect/>
          </a:stretch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" y="0"/>
            <a:ext cx="12094845" cy="596709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" y="163195"/>
            <a:ext cx="11054715" cy="2192020"/>
          </a:xfrm>
        </p:spPr>
        <p:txBody>
          <a:bodyPr>
            <a:normAutofit/>
          </a:bodyPr>
          <a:lstStyle/>
          <a:p>
            <a:r>
              <a:rPr lang="en-US" sz="3600" dirty="0"/>
              <a:t>BAB 2. </a:t>
            </a:r>
            <a:br>
              <a:rPr lang="en-US" sz="3600" dirty="0"/>
            </a:br>
            <a:r>
              <a:rPr lang="en-US" sz="3600" dirty="0"/>
              <a:t>FITRAH MANUSIA DAN</a:t>
            </a:r>
            <a:br>
              <a:rPr lang="en-US" sz="3600" dirty="0"/>
            </a:br>
            <a:r>
              <a:rPr lang="en-US" sz="3600" dirty="0"/>
              <a:t> HIDAYAH BERDASARKAN AL QUR’AN </a:t>
            </a:r>
            <a:br>
              <a:rPr lang="en-US" sz="3600" dirty="0"/>
            </a:br>
            <a:r>
              <a:rPr lang="en-US" sz="3600" dirty="0"/>
              <a:t>DAN HADIST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USP  5 OKtOBER 2023</a:t>
            </a:r>
            <a:endParaRPr lang="en-US" sz="2400" dirty="0"/>
          </a:p>
          <a:p>
            <a:r>
              <a:rPr lang="en-US" sz="2400" dirty="0"/>
              <a:t>PENDIDIKAN AGAMA ISLAM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s-MY" sz="320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A. Pengertian</a:t>
            </a:r>
            <a:r>
              <a:rPr lang="ms-MY" sz="3200" spc="14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320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Fitrah</a:t>
            </a:r>
            <a:r>
              <a:rPr lang="ms-MY" sz="3200" spc="14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320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(Potensi</a:t>
            </a:r>
            <a:r>
              <a:rPr lang="ms-MY" sz="3200" spc="145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320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Dasar</a:t>
            </a:r>
            <a:r>
              <a:rPr lang="ms-MY" sz="3200" spc="14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320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yang</a:t>
            </a:r>
            <a:r>
              <a:rPr lang="ms-MY" sz="3200" spc="14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320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Dimiliki</a:t>
            </a:r>
            <a:r>
              <a:rPr lang="ms-MY" sz="3200" spc="145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320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Manusia)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Manusia</a:t>
            </a:r>
            <a:r>
              <a:rPr lang="ms-MY" sz="2400" spc="-5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adalah</a:t>
            </a:r>
            <a:r>
              <a:rPr lang="ms-MY" sz="24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makhluk</a:t>
            </a:r>
            <a:r>
              <a:rPr lang="ms-MY" sz="24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yang</a:t>
            </a:r>
            <a:r>
              <a:rPr lang="ms-MY" sz="2400" spc="-5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istimewa</a:t>
            </a:r>
            <a:r>
              <a:rPr lang="ms-MY" sz="24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</a:t>
            </a:r>
            <a:r>
              <a:rPr lang="ms-MY" sz="24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sisi</a:t>
            </a:r>
            <a:r>
              <a:rPr lang="ms-MY" sz="2400" spc="-5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Allah</a:t>
            </a:r>
            <a:r>
              <a:rPr lang="ms-MY" sz="24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Swt.,</a:t>
            </a:r>
            <a:r>
              <a:rPr lang="ms-MY" sz="24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ms-MY" sz="24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tugas </a:t>
            </a:r>
            <a:r>
              <a:rPr lang="ms-MY" sz="2400" spc="-28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sebagai khalifah di muka bumi. Di awal penciptaan Nabi Adam, malaikat </a:t>
            </a:r>
            <a:r>
              <a:rPr lang="ms-MY" sz="2400" spc="-28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mengakui keunggulan manusia dengan penghormatan di hadapan Nabi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Adam. Sedangkan, iblis menolak untuk memberi penghormatan kepada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Nabi</a:t>
            </a:r>
            <a:r>
              <a:rPr lang="ms-MY" sz="2400" spc="-3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Adam,</a:t>
            </a:r>
            <a:r>
              <a:rPr lang="ms-MY" sz="2400" spc="-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karena</a:t>
            </a:r>
            <a:r>
              <a:rPr lang="ms-MY" sz="2400" spc="-3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kesombongan</a:t>
            </a:r>
            <a:r>
              <a:rPr lang="ms-MY" sz="2400" spc="-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iblis</a:t>
            </a:r>
            <a:r>
              <a:rPr lang="ms-MY" sz="2400" spc="-3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yang</a:t>
            </a:r>
            <a:r>
              <a:rPr lang="ms-MY" sz="2400" spc="-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merasa</a:t>
            </a:r>
            <a:r>
              <a:rPr lang="ms-MY" sz="2400" spc="-3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lebih</a:t>
            </a:r>
            <a:r>
              <a:rPr lang="ms-MY" sz="2400" spc="-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mulia.</a:t>
            </a:r>
            <a:r>
              <a:rPr lang="ms-MY" sz="2400" spc="-3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Malaikat</a:t>
            </a:r>
            <a:r>
              <a:rPr lang="ms-MY" sz="2400" spc="-28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diciptakan untuk taat, melakukan sesuatu sesuai perintah. Iblis, setelah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menolak untuk hormat kepada Nabi Adam, otomatis mendeklarasikan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ms-MY" sz="2400" spc="-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menjadi</a:t>
            </a:r>
            <a:r>
              <a:rPr lang="ms-MY" sz="2400" spc="-2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musuh</a:t>
            </a:r>
            <a:r>
              <a:rPr lang="ms-MY" sz="2400" spc="-2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bagi</a:t>
            </a:r>
            <a:r>
              <a:rPr lang="ms-MY" sz="2400" spc="-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manusia</a:t>
            </a:r>
            <a:r>
              <a:rPr lang="ms-MY" sz="2400" spc="-2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sampai</a:t>
            </a:r>
            <a:r>
              <a:rPr lang="ms-MY" sz="2400" spc="-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hari</a:t>
            </a:r>
            <a:r>
              <a:rPr lang="ms-MY" sz="2400" spc="-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kiamat.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712269"/>
            <a:ext cx="9603275" cy="679385"/>
          </a:xfrm>
        </p:spPr>
        <p:txBody>
          <a:bodyPr>
            <a:normAutofit/>
          </a:bodyPr>
          <a:lstStyle/>
          <a:p>
            <a:r>
              <a:rPr lang="ms-MY" sz="2400" cap="none" dirty="0">
                <a:solidFill>
                  <a:srgbClr val="231F20"/>
                </a:solidFill>
                <a:latin typeface="Cambria" panose="02040503050406030204" pitchFamily="18" charset="0"/>
                <a:ea typeface="Times New Roman" panose="02020603050405020304" pitchFamily="18" charset="0"/>
              </a:rPr>
              <a:t>M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anusia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diciptakan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lengkap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dengan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karakteristik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dan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fitrahnya.</a:t>
            </a:r>
            <a:endParaRPr lang="en-US" sz="2400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59806"/>
            <a:ext cx="9603275" cy="3406539"/>
          </a:xfrm>
        </p:spPr>
        <p:txBody>
          <a:bodyPr>
            <a:normAutofit fontScale="92500"/>
          </a:bodyPr>
          <a:lstStyle/>
          <a:p>
            <a:pPr algn="just"/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Selain diciptakan untuk beribadah, manusia juga memiliki fitrah berpas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</a:t>
            </a:r>
            <a:r>
              <a:rPr lang="ms-MY" sz="2400" spc="-2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ang-pasangan. Manusia juga tempatnya salah dan lupa. </a:t>
            </a:r>
            <a:endParaRPr lang="ms-MY" sz="2400" dirty="0">
              <a:solidFill>
                <a:srgbClr val="231F2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Secara etimologi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lughatan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),</a:t>
            </a:r>
            <a:r>
              <a:rPr lang="ms-MY" sz="2400" spc="-1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fitrah</a:t>
            </a:r>
            <a:r>
              <a:rPr lang="ms-MY" sz="2400" spc="-1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berasal</a:t>
            </a:r>
            <a:r>
              <a:rPr lang="ms-MY" sz="2400" spc="-1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dari</a:t>
            </a:r>
            <a:r>
              <a:rPr lang="ms-MY" sz="2400" spc="-1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bahasa</a:t>
            </a:r>
            <a:r>
              <a:rPr lang="ms-MY" sz="2400" spc="-1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Arab</a:t>
            </a:r>
            <a:r>
              <a:rPr lang="ms-MY" sz="2400" spc="-1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akar</a:t>
            </a:r>
            <a:r>
              <a:rPr lang="ms-MY" sz="2400" spc="-1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kata</a:t>
            </a:r>
            <a:r>
              <a:rPr lang="ms-MY" sz="2400" spc="-1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fa-tha-ra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ms-MY" sz="2400" spc="-4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yang</a:t>
            </a:r>
            <a:r>
              <a:rPr lang="ms-MY" sz="2400" spc="-4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berarti</a:t>
            </a:r>
            <a:r>
              <a:rPr lang="ms-MY" sz="2400" spc="-26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menjadikan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”.</a:t>
            </a:r>
            <a:r>
              <a:rPr lang="ms-MY" sz="2400" spc="-1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Karena</a:t>
            </a:r>
            <a:r>
              <a:rPr lang="ms-MY" sz="2400" spc="-9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itu,</a:t>
            </a:r>
            <a:r>
              <a:rPr lang="ms-MY" sz="2400" spc="-9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kata</a:t>
            </a:r>
            <a:r>
              <a:rPr lang="ms-MY" sz="2400" spc="-1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fitrah</a:t>
            </a:r>
            <a:r>
              <a:rPr lang="ms-MY" sz="2400" spc="-9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berarti</a:t>
            </a:r>
            <a:r>
              <a:rPr lang="ms-MY" sz="2400" spc="-9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menjadikan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.26</a:t>
            </a:r>
            <a:r>
              <a:rPr lang="ms-MY" sz="2400" spc="-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ms-MY" sz="2400" spc="-13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pengertian</a:t>
            </a:r>
            <a:r>
              <a:rPr lang="ms-MY" sz="2400" spc="-26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lain, kata 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fathara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sepadan dengan kata 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khalaqa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dan 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ansya’a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yang artinya</a:t>
            </a:r>
            <a:r>
              <a:rPr lang="ms-MY" sz="2400" spc="-2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mencipta. Biasanya, kata 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fathara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khalaqa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dan 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ansy’a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digunakan dalam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al-Qur’an</a:t>
            </a:r>
            <a:r>
              <a:rPr lang="ms-MY" sz="2400" spc="6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ms-MY" sz="2400" spc="6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menunjukkan</a:t>
            </a:r>
            <a:r>
              <a:rPr lang="ms-MY" sz="2400" spc="6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pengertian</a:t>
            </a:r>
            <a:r>
              <a:rPr lang="ms-MY" sz="2400" spc="6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mencipta,</a:t>
            </a:r>
            <a:r>
              <a:rPr lang="ms-MY" sz="2400" spc="6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menjadikan</a:t>
            </a:r>
            <a:r>
              <a:rPr lang="ms-MY" sz="2400" spc="6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sesuatu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makna</a:t>
            </a:r>
            <a:r>
              <a:rPr lang="ms-MY" sz="2400" cap="none" spc="-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lain</a:t>
            </a:r>
            <a:r>
              <a:rPr lang="ms-MY" sz="2400" cap="none" spc="-2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adalah</a:t>
            </a:r>
            <a:r>
              <a:rPr lang="ms-MY" sz="2400" cap="none" spc="-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i="1" cap="none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shifatu</a:t>
            </a:r>
            <a:r>
              <a:rPr lang="ms-MY" sz="2400" i="1" cap="none" spc="-25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400" i="1" cap="none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al-insani</a:t>
            </a:r>
            <a:r>
              <a:rPr lang="ms-MY" sz="2400" i="1" cap="none" spc="-4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400" i="1" cap="none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ath-thabi’iyah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ms-MY" sz="2400" cap="none" spc="-2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makna</a:t>
            </a:r>
            <a:r>
              <a:rPr lang="ms-MY" sz="2400" cap="none" spc="-2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lainnya,</a:t>
            </a:r>
            <a:r>
              <a:rPr lang="ms-MY" sz="2400" cap="none" spc="-2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fitrah</a:t>
            </a:r>
            <a:r>
              <a:rPr lang="ms-MY" sz="2400" cap="none" spc="-2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ms-MY" sz="2400" cap="none" spc="-2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400" i="1" cap="none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ad-dinu</a:t>
            </a:r>
            <a:r>
              <a:rPr lang="ms-MY" sz="2400" i="1" cap="none" spc="-4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400" i="1" cap="none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wa</a:t>
            </a:r>
            <a:r>
              <a:rPr lang="ms-MY" sz="2400" i="1" cap="none" spc="-4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400" i="1" cap="none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as-sunnah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400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ms-MY" sz="2400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secara</a:t>
            </a:r>
            <a:r>
              <a:rPr lang="ms-MY" sz="2400" spc="-6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terminologi,</a:t>
            </a:r>
            <a:r>
              <a:rPr lang="ms-MY" sz="2400" spc="-5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selain</a:t>
            </a:r>
            <a:r>
              <a:rPr lang="ms-MY" sz="2400" spc="-6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memiliki</a:t>
            </a:r>
            <a:r>
              <a:rPr lang="ms-MY" sz="2400" spc="-5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potensi</a:t>
            </a:r>
            <a:r>
              <a:rPr lang="ms-MY" sz="2400" spc="-5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untuk</a:t>
            </a:r>
            <a:r>
              <a:rPr lang="ms-MY" sz="2400" spc="-6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beragama</a:t>
            </a:r>
            <a:r>
              <a:rPr lang="ms-MY" sz="2400" spc="-5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tauhid,</a:t>
            </a:r>
            <a:r>
              <a:rPr lang="ms-MY" sz="2400" spc="-6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fitrah</a:t>
            </a:r>
            <a:r>
              <a:rPr lang="ms-MY" sz="2400" spc="-24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manusia juga bebas untuk mengikuti atau tidak aturan-aturan lingkungan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dalam mengaktualisasikan potensi tauhid (ketaatan pada Tuhan) tersebut.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Hal ini tergantung pada tinggi-rendahnya tingkat pengaruh lingkungan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terhadap</a:t>
            </a:r>
            <a:r>
              <a:rPr lang="ms-MY" sz="2400" spc="-2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fitrahnya.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ms-MY" sz="26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Uraian</a:t>
            </a:r>
            <a:r>
              <a:rPr lang="ms-MY" sz="2600" spc="-4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Al-Maududi</a:t>
            </a:r>
            <a:r>
              <a:rPr lang="ms-MY" sz="2600" spc="-4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ini</a:t>
            </a:r>
            <a:r>
              <a:rPr lang="ms-MY" sz="2600" spc="-4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menunjukkan</a:t>
            </a:r>
            <a:r>
              <a:rPr lang="ms-MY" sz="2600" spc="-4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kepada</a:t>
            </a:r>
            <a:r>
              <a:rPr lang="ms-MY" sz="2600" spc="-4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kita</a:t>
            </a:r>
            <a:r>
              <a:rPr lang="ms-MY" sz="2600" spc="-4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bahwa</a:t>
            </a:r>
            <a:r>
              <a:rPr lang="ms-MY" sz="2600" spc="-4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meskipun</a:t>
            </a:r>
            <a:r>
              <a:rPr lang="ms-MY" sz="2600" spc="-3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manusia</a:t>
            </a:r>
            <a:r>
              <a:rPr lang="ms-MY" sz="2600" spc="-7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telah</a:t>
            </a:r>
            <a:r>
              <a:rPr lang="ms-MY" sz="2600" spc="-6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diberi</a:t>
            </a:r>
            <a:r>
              <a:rPr lang="ms-MY" sz="2600" spc="-6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kemampuan</a:t>
            </a:r>
            <a:r>
              <a:rPr lang="ms-MY" sz="2600" spc="-6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potensial</a:t>
            </a:r>
            <a:r>
              <a:rPr lang="ms-MY" sz="2600" spc="-7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ms-MY" sz="2600" spc="-6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berpikir,</a:t>
            </a:r>
            <a:r>
              <a:rPr lang="ms-MY" sz="2600" spc="-6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berkehendak</a:t>
            </a:r>
            <a:r>
              <a:rPr lang="ms-MY" sz="2600" spc="-3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bebas,</a:t>
            </a:r>
            <a:r>
              <a:rPr lang="ms-MY" sz="2600" spc="-5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dan</a:t>
            </a:r>
            <a:r>
              <a:rPr lang="ms-MY" sz="26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memilih,</a:t>
            </a:r>
            <a:r>
              <a:rPr lang="ms-MY" sz="2600" spc="-5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namun</a:t>
            </a:r>
            <a:r>
              <a:rPr lang="ms-MY" sz="26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pada</a:t>
            </a:r>
            <a:r>
              <a:rPr lang="ms-MY" sz="2600" spc="-5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hakikatnya</a:t>
            </a:r>
            <a:r>
              <a:rPr lang="ms-MY" sz="26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ia</a:t>
            </a:r>
            <a:r>
              <a:rPr lang="ms-MY" sz="26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dilahirkan</a:t>
            </a:r>
            <a:r>
              <a:rPr lang="ms-MY" sz="2600" spc="-5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sebagai</a:t>
            </a:r>
            <a:r>
              <a:rPr lang="ms-MY" sz="26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muslim.</a:t>
            </a:r>
            <a:r>
              <a:rPr lang="ms-MY" sz="2600" spc="-29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Segala</a:t>
            </a:r>
            <a:r>
              <a:rPr lang="ms-MY" sz="2600" spc="-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gerak</a:t>
            </a:r>
            <a:r>
              <a:rPr lang="ms-MY" sz="2600" spc="-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dan</a:t>
            </a:r>
            <a:r>
              <a:rPr lang="ms-MY" sz="2600" spc="-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lakunya</a:t>
            </a:r>
            <a:r>
              <a:rPr lang="ms-MY" sz="2600" spc="-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cenderung</a:t>
            </a:r>
            <a:r>
              <a:rPr lang="ms-MY" sz="2600" spc="-2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berserah</a:t>
            </a:r>
            <a:r>
              <a:rPr lang="ms-MY" sz="2600" spc="-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diri</a:t>
            </a:r>
            <a:r>
              <a:rPr lang="ms-MY" sz="2600" spc="-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kepada</a:t>
            </a:r>
            <a:r>
              <a:rPr lang="ms-MY" sz="2600" spc="-2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6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Penciptanya.</a:t>
            </a:r>
            <a:endParaRPr lang="en-US" sz="2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922655" y="805180"/>
            <a:ext cx="10132695" cy="2169160"/>
          </a:xfrm>
          <a:prstGeom prst="rect">
            <a:avLst/>
          </a:prstGeom>
        </p:spPr>
      </p:pic>
      <p:pic>
        <p:nvPicPr>
          <p:cNvPr id="5" name="Content Placeholder 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22655" y="177800"/>
            <a:ext cx="2879725" cy="4184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290" y="2974975"/>
            <a:ext cx="10130790" cy="25165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manusia adalah tempatnya salah dan lupa</a:t>
            </a:r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72490" y="1925320"/>
            <a:ext cx="10583545" cy="3819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52170" y="607695"/>
            <a:ext cx="10202545" cy="1057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805" y="2060575"/>
            <a:ext cx="10202545" cy="1666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0" y="0"/>
            <a:ext cx="3984625" cy="776605"/>
          </a:xfrm>
        </p:spPr>
        <p:txBody>
          <a:bodyPr>
            <a:normAutofit/>
          </a:bodyPr>
          <a:p>
            <a:r>
              <a:rPr lang="en-US" sz="2220"/>
              <a:t>5 hak fitrah manusia</a:t>
            </a:r>
            <a:endParaRPr lang="en-US" sz="2220"/>
          </a:p>
        </p:txBody>
      </p:sp>
      <p:sp>
        <p:nvSpPr>
          <p:cNvPr id="4" name="Right Arrow 3"/>
          <p:cNvSpPr/>
          <p:nvPr/>
        </p:nvSpPr>
        <p:spPr>
          <a:xfrm rot="1200000">
            <a:off x="854075" y="331470"/>
            <a:ext cx="3129915" cy="18046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DIN</a:t>
            </a:r>
            <a:endParaRPr lang="en-US"/>
          </a:p>
        </p:txBody>
      </p:sp>
      <p:sp>
        <p:nvSpPr>
          <p:cNvPr id="5" name="Right Arrow 4"/>
          <p:cNvSpPr/>
          <p:nvPr/>
        </p:nvSpPr>
        <p:spPr>
          <a:xfrm rot="20580000">
            <a:off x="582295" y="2980055"/>
            <a:ext cx="2873375" cy="18046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JIWA</a:t>
            </a:r>
            <a:endParaRPr lang="en-US"/>
          </a:p>
        </p:txBody>
      </p:sp>
      <p:sp>
        <p:nvSpPr>
          <p:cNvPr id="6" name="Right Arrow 5"/>
          <p:cNvSpPr/>
          <p:nvPr/>
        </p:nvSpPr>
        <p:spPr>
          <a:xfrm rot="9840000">
            <a:off x="7518400" y="-21590"/>
            <a:ext cx="2873375" cy="18046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CINTA</a:t>
            </a:r>
            <a:endParaRPr lang="en-US"/>
          </a:p>
        </p:txBody>
      </p:sp>
      <p:sp>
        <p:nvSpPr>
          <p:cNvPr id="7" name="Right Arrow 6"/>
          <p:cNvSpPr/>
          <p:nvPr/>
        </p:nvSpPr>
        <p:spPr>
          <a:xfrm rot="12960000">
            <a:off x="7125970" y="3799840"/>
            <a:ext cx="2873375" cy="18046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HARGA DIRI</a:t>
            </a:r>
            <a:endParaRPr lang="en-US"/>
          </a:p>
        </p:txBody>
      </p:sp>
      <p:sp>
        <p:nvSpPr>
          <p:cNvPr id="8" name="Right Arrow 7"/>
          <p:cNvSpPr/>
          <p:nvPr/>
        </p:nvSpPr>
        <p:spPr>
          <a:xfrm rot="17400000">
            <a:off x="3576955" y="4505325"/>
            <a:ext cx="2873375" cy="18046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AKAL</a:t>
            </a:r>
            <a:endParaRPr lang="en-US"/>
          </a:p>
        </p:txBody>
      </p:sp>
      <p:sp>
        <p:nvSpPr>
          <p:cNvPr id="9" name="Explosion 1 8"/>
          <p:cNvSpPr/>
          <p:nvPr/>
        </p:nvSpPr>
        <p:spPr>
          <a:xfrm rot="20880000">
            <a:off x="4198620" y="551180"/>
            <a:ext cx="3675380" cy="3781425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/>
              <a:t>AHSANI TAQWIM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s-MY" sz="2400" b="1" dirty="0">
                <a:solidFill>
                  <a:srgbClr val="231F20"/>
                </a:solidFill>
                <a:effectLst/>
                <a:latin typeface="Palatino Linotype" panose="0204050205050503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B. Teori</a:t>
            </a:r>
            <a:r>
              <a:rPr lang="ms-MY" sz="2400" b="1" spc="45" dirty="0">
                <a:solidFill>
                  <a:srgbClr val="231F20"/>
                </a:solidFill>
                <a:effectLst/>
                <a:latin typeface="Palatino Linotype" panose="0204050205050503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ms-MY" sz="2400" b="1" dirty="0">
                <a:solidFill>
                  <a:srgbClr val="231F20"/>
                </a:solidFill>
                <a:effectLst/>
                <a:latin typeface="Palatino Linotype" panose="0204050205050503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tentang</a:t>
            </a:r>
            <a:r>
              <a:rPr lang="ms-MY" sz="2400" b="1" spc="45" dirty="0">
                <a:solidFill>
                  <a:srgbClr val="231F20"/>
                </a:solidFill>
                <a:effectLst/>
                <a:latin typeface="Palatino Linotype" panose="0204050205050503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 </a:t>
            </a:r>
            <a:r>
              <a:rPr lang="ms-MY" sz="2400" b="1" dirty="0">
                <a:solidFill>
                  <a:srgbClr val="231F20"/>
                </a:solidFill>
                <a:effectLst/>
                <a:latin typeface="Palatino Linotype" panose="0204050205050503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  <a:t>Fitrah</a:t>
            </a:r>
            <a:br>
              <a:rPr lang="en-US" sz="1800" b="1" dirty="0">
                <a:effectLst/>
                <a:latin typeface="Palatino Linotype" panose="02040502050505030304" pitchFamily="18" charset="0"/>
                <a:ea typeface="Palatino Linotype" panose="02040502050505030304" pitchFamily="18" charset="0"/>
                <a:cs typeface="Palatino Linotype" panose="0204050205050503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Manusia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diciptakan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struktur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yang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paling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baik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antara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makhluk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Allah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Swt.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yang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lain.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Struktur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manusia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terdiri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atas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unsur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jasmaniah (fisiologis)</a:t>
            </a:r>
            <a:r>
              <a:rPr lang="ms-MY" spc="1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dan</a:t>
            </a:r>
            <a:r>
              <a:rPr lang="ms-MY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rohaniah</a:t>
            </a:r>
            <a:r>
              <a:rPr lang="ms-MY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(psikologis). Dalam</a:t>
            </a:r>
            <a:r>
              <a:rPr lang="ms-MY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struktur</a:t>
            </a:r>
            <a:r>
              <a:rPr lang="ms-MY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jasmaniah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dan rohaniah, Allah Swt. memberikan seperangkat kemampuan dasar yang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memiliki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kecenderungan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berkembang,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psikologi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disebut  potensi-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alitas atau disposisi, yang menurut aliran psikologi behaviorisme disebut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prepotence</a:t>
            </a:r>
            <a:r>
              <a:rPr lang="ms-MY" i="1" spc="-60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refiexes</a:t>
            </a:r>
            <a:r>
              <a:rPr lang="ms-MY" i="1" spc="-60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(kemampuan</a:t>
            </a:r>
            <a:r>
              <a:rPr lang="ms-MY" spc="-7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dasar</a:t>
            </a:r>
            <a:r>
              <a:rPr lang="ms-MY" spc="-7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yang</a:t>
            </a:r>
            <a:r>
              <a:rPr lang="ms-MY" spc="-7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secara</a:t>
            </a:r>
            <a:r>
              <a:rPr lang="ms-MY" spc="-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otomatis</a:t>
            </a:r>
            <a:r>
              <a:rPr lang="ms-MY" spc="-7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ms-MY" spc="-7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berkem-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bang).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pandangan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Islam,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kemampuan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dasar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atau  pembawaan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disebut fitrah.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s-MY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kata fitrah ini disebutkan dalam al-qur’an surat ar-rūm</a:t>
            </a:r>
            <a:r>
              <a:rPr lang="ms-MY" cap="none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[30]:</a:t>
            </a:r>
            <a:r>
              <a:rPr lang="ms-MY" cap="none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en-US" cap="none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69085" y="1863090"/>
            <a:ext cx="9485630" cy="2160270"/>
          </a:xfrm>
        </p:spPr>
      </p:pic>
      <p:sp>
        <p:nvSpPr>
          <p:cNvPr id="6" name="Rectangle 5"/>
          <p:cNvSpPr/>
          <p:nvPr/>
        </p:nvSpPr>
        <p:spPr>
          <a:xfrm>
            <a:off x="1568918" y="4023360"/>
            <a:ext cx="9485936" cy="18707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719455" marR="537210" algn="just">
              <a:lnSpc>
                <a:spcPct val="128000"/>
              </a:lnSpc>
              <a:spcBef>
                <a:spcPts val="640"/>
              </a:spcBef>
              <a:spcAft>
                <a:spcPts val="0"/>
              </a:spcAft>
            </a:pPr>
            <a:r>
              <a:rPr lang="ms-MY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Maka hadapkanlah wajahmu dengan lurus kepada agama Allah; (tetaplah</a:t>
            </a:r>
            <a:r>
              <a:rPr lang="ms-MY" sz="18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atas) fitrah Allah yang telah menciptakan manusia menurut fitrah itu.</a:t>
            </a:r>
            <a:r>
              <a:rPr lang="ms-MY" sz="1800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Tidak</a:t>
            </a:r>
            <a:r>
              <a:rPr lang="ms-MY" sz="1800" spc="-1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ada</a:t>
            </a:r>
            <a:r>
              <a:rPr lang="ms-MY" sz="1800" spc="-1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perubahan</a:t>
            </a:r>
            <a:r>
              <a:rPr lang="ms-MY" sz="1800" spc="-1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pada</a:t>
            </a:r>
            <a:r>
              <a:rPr lang="ms-MY" sz="1800" spc="-1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fitrah</a:t>
            </a:r>
            <a:r>
              <a:rPr lang="ms-MY" sz="1800" spc="-1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Allah</a:t>
            </a:r>
            <a:r>
              <a:rPr lang="ms-MY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29.</a:t>
            </a:r>
            <a:r>
              <a:rPr lang="ms-MY" sz="1800" spc="-4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(Itulah)</a:t>
            </a:r>
            <a:r>
              <a:rPr lang="ms-MY" sz="18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agama</a:t>
            </a:r>
            <a:r>
              <a:rPr lang="ms-MY" sz="1800" spc="-4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yang</a:t>
            </a:r>
            <a:r>
              <a:rPr lang="ms-MY" sz="1800" spc="-4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lurus;</a:t>
            </a:r>
            <a:r>
              <a:rPr lang="ms-MY" sz="1800" spc="-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tetapi</a:t>
            </a:r>
            <a:r>
              <a:rPr lang="ms-MY" sz="1800" spc="-27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kebanyakan</a:t>
            </a:r>
            <a:r>
              <a:rPr lang="ms-MY" sz="1800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manusia</a:t>
            </a:r>
            <a:r>
              <a:rPr lang="ms-MY" sz="1800" spc="-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tidak</a:t>
            </a:r>
            <a:r>
              <a:rPr lang="ms-MY" sz="1800" spc="-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mengetahui”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610" y="288290"/>
            <a:ext cx="9603105" cy="690245"/>
          </a:xfrm>
        </p:spPr>
        <p:txBody>
          <a:bodyPr/>
          <a:lstStyle/>
          <a:p>
            <a:r>
              <a:rPr lang="en-US" cap="none" dirty="0" err="1"/>
              <a:t>hadist</a:t>
            </a:r>
            <a:r>
              <a:rPr lang="en-US" cap="none" dirty="0"/>
              <a:t> </a:t>
            </a:r>
            <a:r>
              <a:rPr lang="en-US" cap="none" dirty="0" err="1"/>
              <a:t>tentang</a:t>
            </a:r>
            <a:r>
              <a:rPr lang="en-US" cap="none" dirty="0"/>
              <a:t> fitrah </a:t>
            </a:r>
            <a:r>
              <a:rPr lang="en-US" cap="none" dirty="0" err="1"/>
              <a:t>manusia</a:t>
            </a:r>
            <a:endParaRPr lang="en-US" cap="none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3050" y="844550"/>
            <a:ext cx="11577320" cy="5084445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s-MY" sz="2800" cap="none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ms-MY" sz="28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ecara terminologis </a:t>
            </a:r>
            <a:r>
              <a:rPr lang="ms-MY" sz="28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istilah fitrah dalam al-qur’an dan hadits  adalah</a:t>
            </a:r>
            <a:endParaRPr lang="en-US" sz="2800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ms-MY" b="1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Pertama</a:t>
            </a:r>
            <a:r>
              <a:rPr lang="ms-MY" b="1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,</a:t>
            </a:r>
            <a:r>
              <a:rPr lang="ms-MY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fitrah yang disebutkan dalam ayat di atas mengandung</a:t>
            </a:r>
            <a:r>
              <a:rPr lang="ms-MY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implikasi kependidikan yang berkonotasi kepada paham nativisme. Oleh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karena itu, fitrah mengandung makna </a:t>
            </a:r>
            <a:r>
              <a:rPr lang="ms-MY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kejadian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yang di dalamnya berisi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potensi dasar beragama yang benar dan lurus (</a:t>
            </a:r>
            <a:r>
              <a:rPr lang="ms-MY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ad-din al-qayyim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), yaitu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Islam.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Potensi dasar ini tidak dapat diubah oleh siapa pun atau lingkungan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apa</a:t>
            </a:r>
            <a:r>
              <a:rPr lang="ms-MY" spc="-2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pun,</a:t>
            </a:r>
            <a:r>
              <a:rPr lang="ms-MY" spc="-2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karena</a:t>
            </a:r>
            <a:r>
              <a:rPr lang="ms-MY" spc="-2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fitrah</a:t>
            </a:r>
            <a:r>
              <a:rPr lang="ms-MY" spc="-2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itu</a:t>
            </a:r>
            <a:r>
              <a:rPr lang="ms-MY" spc="-2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merupakan</a:t>
            </a:r>
            <a:r>
              <a:rPr lang="ms-MY" spc="-2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ciptaan</a:t>
            </a:r>
            <a:r>
              <a:rPr lang="ms-MY" spc="-2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Allah</a:t>
            </a:r>
            <a:r>
              <a:rPr lang="ms-MY" spc="-2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Swt.</a:t>
            </a:r>
            <a:r>
              <a:rPr lang="ms-MY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Pengertian</a:t>
            </a:r>
            <a:r>
              <a:rPr lang="ms-MY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fitrah  yang  bercorak  nativistik</a:t>
            </a:r>
            <a:r>
              <a:rPr lang="ms-MY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ini</a:t>
            </a:r>
            <a:r>
              <a:rPr lang="ms-MY" spc="18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berkaitan</a:t>
            </a:r>
            <a:r>
              <a:rPr lang="ms-MY" spc="18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juga</a:t>
            </a:r>
            <a:r>
              <a:rPr lang="ms-MY" spc="18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dengan</a:t>
            </a:r>
            <a:r>
              <a:rPr lang="ms-MY" spc="18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faktor</a:t>
            </a:r>
            <a:r>
              <a:rPr lang="ms-MY" spc="18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keturunan</a:t>
            </a:r>
            <a:r>
              <a:rPr lang="ms-MY" spc="18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yang</a:t>
            </a:r>
            <a:r>
              <a:rPr lang="ms-MY" spc="18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bersumber</a:t>
            </a:r>
            <a:r>
              <a:rPr lang="ms-MY" spc="18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dari</a:t>
            </a:r>
            <a:r>
              <a:rPr lang="ms-MY" spc="19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orang</a:t>
            </a:r>
            <a:r>
              <a:rPr lang="ms-MY" spc="-29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tua,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termasuk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keturunan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beragama.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Faktor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keturunan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religiusitas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ini</a:t>
            </a:r>
            <a:r>
              <a:rPr lang="ms-MY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didasarkan</a:t>
            </a:r>
            <a:r>
              <a:rPr lang="ms-MY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pada</a:t>
            </a:r>
            <a:r>
              <a:rPr lang="ms-MY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beberapa</a:t>
            </a:r>
            <a:r>
              <a:rPr lang="ms-MY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dalil</a:t>
            </a:r>
            <a:r>
              <a:rPr lang="ms-MY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al-Qur’an</a:t>
            </a:r>
            <a:r>
              <a:rPr lang="ms-MY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dan</a:t>
            </a:r>
            <a:r>
              <a:rPr lang="ms-MY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hadits,</a:t>
            </a:r>
            <a:r>
              <a:rPr lang="ms-MY" spc="-1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</a:t>
            </a:r>
            <a:r>
              <a:rPr lang="ms-MY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antaranya: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s-MY" sz="28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faktor</a:t>
            </a:r>
            <a:r>
              <a:rPr lang="ms-MY" sz="2800" cap="none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8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keturunan</a:t>
            </a:r>
            <a:r>
              <a:rPr lang="ms-MY" sz="2800" cap="none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8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religiusitas</a:t>
            </a:r>
            <a:r>
              <a:rPr lang="ms-MY" sz="2800" cap="none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8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ini</a:t>
            </a:r>
            <a:r>
              <a:rPr lang="ms-MY" sz="2800" cap="none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8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didasarkan</a:t>
            </a:r>
            <a:r>
              <a:rPr lang="ms-MY" sz="2800" cap="none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8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pada</a:t>
            </a:r>
            <a:r>
              <a:rPr lang="ms-MY" sz="2800" cap="none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8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beberapa</a:t>
            </a:r>
            <a:r>
              <a:rPr lang="ms-MY" sz="2800" cap="none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8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dalil</a:t>
            </a:r>
            <a:r>
              <a:rPr lang="ms-MY" sz="2800" cap="none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ms-MY" sz="2800" cap="none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ms-MY" sz="2800" cap="none" spc="-15" dirty="0">
                <a:solidFill>
                  <a:srgbClr val="231F2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ms-MY" sz="28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l-Qur’an</a:t>
            </a:r>
            <a:r>
              <a:rPr lang="ms-MY" sz="2800" cap="none" spc="-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sz="2800" cap="none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84300" y="1853565"/>
            <a:ext cx="9772015" cy="662305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4300" y="2608580"/>
            <a:ext cx="9771380" cy="8204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299210" y="3428365"/>
            <a:ext cx="9857105" cy="262509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539750" marR="718185" algn="just">
              <a:lnSpc>
                <a:spcPct val="130000"/>
              </a:lnSpc>
              <a:spcBef>
                <a:spcPts val="990"/>
              </a:spcBef>
              <a:spcAft>
                <a:spcPts val="0"/>
              </a:spcAft>
            </a:pPr>
            <a:r>
              <a:rPr lang="ms-MY" sz="180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“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Nuh</a:t>
            </a:r>
            <a:r>
              <a:rPr lang="ms-MY" sz="1800" i="1" spc="5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berkata,</a:t>
            </a:r>
            <a:r>
              <a:rPr lang="ms-MY" sz="1800" i="1" spc="5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’Ya</a:t>
            </a:r>
            <a:r>
              <a:rPr lang="ms-MY" sz="1800" i="1" spc="5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Tuhanku,</a:t>
            </a:r>
            <a:r>
              <a:rPr lang="ms-MY" sz="1800" i="1" spc="5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janganlah</a:t>
            </a:r>
            <a:r>
              <a:rPr lang="ms-MY" sz="1800" i="1" spc="5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Engkau</a:t>
            </a:r>
            <a:r>
              <a:rPr lang="ms-MY" sz="1800" i="1" spc="5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biarkan</a:t>
            </a:r>
            <a:r>
              <a:rPr lang="ms-MY" sz="1800" i="1" spc="5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seorang</a:t>
            </a:r>
            <a:r>
              <a:rPr lang="ms-MY" sz="1800" i="1" spc="24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pun</a:t>
            </a:r>
            <a:r>
              <a:rPr lang="ms-MY" sz="1800" i="1" spc="24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di</a:t>
            </a:r>
            <a:r>
              <a:rPr lang="ms-MY" sz="1800" i="1" spc="5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antara orang-orang kafir itu tinggal di atas bumi. Sesungguhnya jika Engkau</a:t>
            </a:r>
            <a:r>
              <a:rPr lang="ms-MY" sz="1800" i="1" spc="5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biarkan</a:t>
            </a:r>
            <a:r>
              <a:rPr lang="ms-MY" sz="1800" i="1" spc="5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mereka</a:t>
            </a:r>
            <a:r>
              <a:rPr lang="ms-MY" sz="1800" i="1" spc="5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tinggal,</a:t>
            </a:r>
            <a:r>
              <a:rPr lang="ms-MY" sz="1800" i="1" spc="5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niscaya</a:t>
            </a:r>
            <a:r>
              <a:rPr lang="ms-MY" sz="1800" i="1" spc="5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mereka</a:t>
            </a:r>
            <a:r>
              <a:rPr lang="ms-MY" sz="1800" i="1" spc="5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akan</a:t>
            </a:r>
            <a:r>
              <a:rPr lang="ms-MY" sz="1800" i="1" spc="5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menyesatkan</a:t>
            </a:r>
            <a:r>
              <a:rPr lang="ms-MY" sz="1800" i="1" spc="5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hamba-ham-</a:t>
            </a:r>
            <a:r>
              <a:rPr lang="ms-MY" sz="1800" i="1" spc="5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ba-Mu, dan mereka tidak akan melahirkan selain anak yang berbuat maksiat</a:t>
            </a:r>
            <a:r>
              <a:rPr lang="ms-MY" sz="1800" i="1" spc="5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lagi</a:t>
            </a:r>
            <a:r>
              <a:rPr lang="ms-MY" sz="1800" i="1" spc="2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sangat</a:t>
            </a:r>
            <a:r>
              <a:rPr lang="ms-MY" sz="1800" i="1" spc="25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800" i="1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kafir.</a:t>
            </a:r>
            <a:r>
              <a:rPr lang="ms-MY" sz="180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”</a:t>
            </a:r>
            <a:r>
              <a:rPr lang="ms-MY" sz="1800" spc="4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80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(QS.</a:t>
            </a:r>
            <a:r>
              <a:rPr lang="ms-MY" sz="1800" spc="45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80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Nūh</a:t>
            </a:r>
            <a:r>
              <a:rPr lang="ms-MY" sz="1800" spc="4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80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[71]:</a:t>
            </a:r>
            <a:r>
              <a:rPr lang="ms-MY" sz="1800" spc="5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80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26–27).</a:t>
            </a:r>
            <a:endParaRPr lang="en-US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l">
              <a:spcBef>
                <a:spcPts val="25"/>
              </a:spcBef>
              <a:spcAft>
                <a:spcPts val="0"/>
              </a:spcAft>
            </a:pPr>
            <a:r>
              <a:rPr lang="ms-MY" sz="1800"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 </a:t>
            </a:r>
            <a:endParaRPr lang="en-US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Sebagaimana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dikemukakan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Ali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Fikry,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salah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seorang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ahli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pendi-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dikan Mesir, kecenderungan nafsu itu berpindah dari orang tua secara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turun-temurun. Oleh karena itu, anak adalah rahasia dari orang tuanya.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Manusia,</a:t>
            </a:r>
            <a:r>
              <a:rPr lang="ms-MY" sz="2400" spc="23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sejak</a:t>
            </a:r>
            <a:r>
              <a:rPr lang="ms-MY" sz="2400" spc="23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awal</a:t>
            </a:r>
            <a:r>
              <a:rPr lang="ms-MY" sz="2400" spc="23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perkembangannya,</a:t>
            </a:r>
            <a:r>
              <a:rPr lang="ms-MY" sz="2400" spc="23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berada</a:t>
            </a:r>
            <a:r>
              <a:rPr lang="ms-MY" sz="2400" spc="23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ms-MY" sz="2400" spc="23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garis</a:t>
            </a:r>
            <a:r>
              <a:rPr lang="ms-MY" sz="2400" spc="23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keturunan</a:t>
            </a:r>
            <a:r>
              <a:rPr lang="ms-MY" sz="2400" spc="-29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dari</a:t>
            </a:r>
            <a:r>
              <a:rPr lang="ms-MY" sz="2400" spc="-9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keagamaan</a:t>
            </a:r>
            <a:r>
              <a:rPr lang="ms-MY" sz="2400" spc="-9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orang</a:t>
            </a:r>
            <a:r>
              <a:rPr lang="ms-MY" sz="2400" spc="-9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tuanya.</a:t>
            </a:r>
            <a:r>
              <a:rPr lang="ms-MY" sz="2400" spc="-9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Jika</a:t>
            </a:r>
            <a:r>
              <a:rPr lang="ms-MY" sz="2400" spc="-9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orang</a:t>
            </a:r>
            <a:r>
              <a:rPr lang="ms-MY" sz="2400" spc="-9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tuanya</a:t>
            </a:r>
            <a:r>
              <a:rPr lang="ms-MY" sz="2400" spc="-9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muslim,</a:t>
            </a:r>
            <a:r>
              <a:rPr lang="ms-MY" sz="2400" spc="-9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otomatis</a:t>
            </a:r>
            <a:r>
              <a:rPr lang="ms-MY" sz="2400" spc="-9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anaknya</a:t>
            </a:r>
            <a:r>
              <a:rPr lang="ms-MY" sz="2400" spc="-29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menjadi muslim. Jika mereka kafir maka anaknya akan menjadi kafir</a:t>
            </a:r>
            <a:r>
              <a:rPr lang="ms-MY" sz="2400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pula.31</a:t>
            </a:r>
            <a:r>
              <a:rPr lang="ms-MY" sz="2400" spc="4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Salah</a:t>
            </a:r>
            <a:r>
              <a:rPr lang="ms-MY" sz="2400" spc="-8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satu</a:t>
            </a:r>
            <a:r>
              <a:rPr lang="ms-MY" sz="2400" spc="-9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sabda</a:t>
            </a:r>
            <a:r>
              <a:rPr lang="ms-MY" sz="2400" spc="-9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Nabi</a:t>
            </a:r>
            <a:r>
              <a:rPr lang="ms-MY" sz="2400" spc="-9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Saw.</a:t>
            </a:r>
            <a:r>
              <a:rPr lang="ms-MY" sz="2400" spc="-8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yang</a:t>
            </a:r>
            <a:r>
              <a:rPr lang="ms-MY" sz="2400" spc="-8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ms-MY" sz="2400" spc="-8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dijadikan</a:t>
            </a:r>
            <a:r>
              <a:rPr lang="ms-MY" sz="2400" spc="-9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sumber</a:t>
            </a:r>
            <a:r>
              <a:rPr lang="ms-MY" sz="2400" spc="-9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pandangan</a:t>
            </a:r>
            <a:r>
              <a:rPr lang="ms-MY" sz="2400" spc="-29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nativisme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agama Islam adalah agama fitrah.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33</a:t>
            </a:r>
            <a:r>
              <a:rPr lang="ms-MY" sz="2400" spc="17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Pendapat Muhammad Abduh ini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serupa dengan pendapat Abu A’la al-Maududi, yang menyatakan bahwa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agama Islam identik dengan watak 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thabi’iy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manusia (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human nature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)34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karena Islam memang agama fitrah. Agama Islam, sebagai agama fitrah,</a:t>
            </a:r>
            <a:r>
              <a:rPr lang="ms-MY" sz="2400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disamakan oleh Ibnu Qayyim dengan kecenderungan asli anak bayi yang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secara</a:t>
            </a:r>
            <a:r>
              <a:rPr lang="ms-MY" sz="2400" spc="-7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instingtif</a:t>
            </a:r>
            <a:r>
              <a:rPr lang="ms-MY" sz="2400" spc="-6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(naluriah)</a:t>
            </a:r>
            <a:r>
              <a:rPr lang="ms-MY" sz="2400" spc="-6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menerima</a:t>
            </a:r>
            <a:r>
              <a:rPr lang="ms-MY" sz="2400" spc="-7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air</a:t>
            </a:r>
            <a:r>
              <a:rPr lang="ms-MY" sz="2400" spc="-6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susu</a:t>
            </a:r>
            <a:r>
              <a:rPr lang="ms-MY" sz="2400" spc="-6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ibunya.35</a:t>
            </a:r>
            <a:r>
              <a:rPr lang="ms-MY" sz="2400" spc="6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Manusia</a:t>
            </a:r>
            <a:r>
              <a:rPr lang="ms-MY" sz="2400" spc="-7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menerima </a:t>
            </a:r>
            <a:r>
              <a:rPr lang="ms-MY" sz="2400" spc="-28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agama Islam bukan karena paksaan, melainkan karena adanya kecend-</a:t>
            </a:r>
            <a:r>
              <a:rPr lang="ms-MY" sz="24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erungan</a:t>
            </a:r>
            <a:r>
              <a:rPr lang="ms-MY" sz="2400" spc="-2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asli,</a:t>
            </a:r>
            <a:r>
              <a:rPr lang="ms-MY" sz="2400" spc="-2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yaitu</a:t>
            </a:r>
            <a:r>
              <a:rPr lang="ms-MY" sz="2400" spc="-2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fitrah</a:t>
            </a:r>
            <a:r>
              <a:rPr lang="ms-MY" sz="2400" spc="-2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Islamiyah.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ms-MY" sz="2400" b="1" i="1" cap="none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kedua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dalil-dalil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lainnya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yang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diinterpretasikan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mengartikan fitrah yang mengandung kecenderungan yang netral</a:t>
            </a:r>
            <a:endParaRPr lang="en-US" sz="2400" cap="none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51580" y="1925053"/>
            <a:ext cx="9781102" cy="1503947"/>
          </a:xfrm>
        </p:spPr>
      </p:pic>
      <p:sp>
        <p:nvSpPr>
          <p:cNvPr id="6" name="Rectangle 5"/>
          <p:cNvSpPr/>
          <p:nvPr/>
        </p:nvSpPr>
        <p:spPr>
          <a:xfrm>
            <a:off x="1451579" y="3590223"/>
            <a:ext cx="9781102" cy="25795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s-MY" sz="28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 Allah mengeluarkan kamu dari perut ibumu dalam keadaan tidak</a:t>
            </a:r>
            <a:r>
              <a:rPr lang="ms-MY" sz="2800" i="1" spc="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8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mengetahui sesuatu pun, dan Dia memberi kamu pendengaran, penglihatan</a:t>
            </a:r>
            <a:r>
              <a:rPr lang="ms-MY" sz="2800" i="1" spc="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8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ms-MY" sz="2800" i="1" spc="-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8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hati, agar</a:t>
            </a:r>
            <a:r>
              <a:rPr lang="ms-MY" sz="2800" i="1" spc="-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8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kamu bersyukur.</a:t>
            </a:r>
            <a:r>
              <a:rPr lang="ms-MY" sz="28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ms-MY" sz="2800" spc="2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8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(QS.</a:t>
            </a:r>
            <a:r>
              <a:rPr lang="ms-MY" sz="2800" spc="2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8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an-Nahl</a:t>
            </a:r>
            <a:r>
              <a:rPr lang="ms-MY" sz="2800" spc="1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8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[16]:</a:t>
            </a:r>
            <a:r>
              <a:rPr lang="ms-MY" sz="2800" spc="2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8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78).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173255"/>
            <a:ext cx="9603275" cy="1680499"/>
          </a:xfrm>
        </p:spPr>
        <p:txBody>
          <a:bodyPr>
            <a:normAutofit/>
          </a:bodyPr>
          <a:lstStyle/>
          <a:p>
            <a:r>
              <a:rPr lang="ms-MY" sz="2400" b="1" i="1" cap="none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ketiga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konsep al-quran yang menunjukkan bahwa setiap manusia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diberi</a:t>
            </a:r>
            <a:r>
              <a:rPr lang="ms-MY" sz="2400" cap="none" spc="-3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kecenderungan</a:t>
            </a:r>
            <a:r>
              <a:rPr lang="ms-MY" sz="2400" cap="none" spc="-3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nafsu</a:t>
            </a:r>
            <a:r>
              <a:rPr lang="ms-MY" sz="2400" cap="none" spc="-3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ms-MY" sz="2400" cap="none" spc="-3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menjadikannya</a:t>
            </a:r>
            <a:r>
              <a:rPr lang="ms-MY" sz="2400" cap="none" spc="-3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kafir</a:t>
            </a:r>
            <a:r>
              <a:rPr lang="ms-MY" sz="2400" cap="none" spc="-3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bagi</a:t>
            </a:r>
            <a:r>
              <a:rPr lang="ms-MY" sz="2400" cap="none" spc="-3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</a:t>
            </a:r>
            <a:r>
              <a:rPr lang="ms-MY" sz="2400" cap="none" spc="-3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ingkar</a:t>
            </a:r>
            <a:r>
              <a:rPr lang="ms-MY" sz="2400" cap="none" spc="-24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terhadap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tuhannya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dan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kecenderungan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yang  membawa  sikap  bertakwa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bagi yang menaati perintah-nya.</a:t>
            </a:r>
            <a:endParaRPr lang="en-US" sz="2400" cap="none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52501" y="1853754"/>
            <a:ext cx="10541000" cy="1181546"/>
          </a:xfrm>
        </p:spPr>
      </p:pic>
      <p:sp>
        <p:nvSpPr>
          <p:cNvPr id="6" name="Rectangle 5"/>
          <p:cNvSpPr/>
          <p:nvPr/>
        </p:nvSpPr>
        <p:spPr>
          <a:xfrm>
            <a:off x="952501" y="3187700"/>
            <a:ext cx="10642599" cy="29972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719455" marR="537845" algn="just">
              <a:lnSpc>
                <a:spcPct val="130000"/>
              </a:lnSpc>
              <a:spcBef>
                <a:spcPts val="1120"/>
              </a:spcBef>
              <a:spcAft>
                <a:spcPts val="0"/>
              </a:spcAft>
            </a:pP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Dan</a:t>
            </a:r>
            <a:r>
              <a:rPr lang="ms-MY" sz="2400" i="1" spc="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jiwa</a:t>
            </a:r>
            <a:r>
              <a:rPr lang="ms-MY" sz="2400" i="1" spc="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serta</a:t>
            </a:r>
            <a:r>
              <a:rPr lang="ms-MY" sz="2400" i="1" spc="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penyempurnaannya</a:t>
            </a:r>
            <a:r>
              <a:rPr lang="ms-MY" sz="2400" i="1" spc="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(ciptaannya).</a:t>
            </a:r>
            <a:r>
              <a:rPr lang="ms-MY" sz="2400" i="1" spc="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Maka</a:t>
            </a:r>
            <a:r>
              <a:rPr lang="ms-MY" sz="2400" i="1" spc="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Allah</a:t>
            </a:r>
            <a:r>
              <a:rPr lang="ms-MY" sz="2400" i="1" spc="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mengil-</a:t>
            </a:r>
            <a:r>
              <a:rPr lang="ms-MY" sz="2400" i="1" spc="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hamkan kepada jiwa itu (jalan) kefasikan dan ketakwaannya. Sesungguhnya</a:t>
            </a:r>
            <a:r>
              <a:rPr lang="ms-MY" sz="2400" i="1" spc="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beruntunglah orang yang mensucikan jiwa itu. Dan sesungguhnya merugilah</a:t>
            </a:r>
            <a:r>
              <a:rPr lang="ms-MY" sz="2400" i="1" spc="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orang</a:t>
            </a:r>
            <a:r>
              <a:rPr lang="ms-MY" sz="2400" i="1" spc="1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yang</a:t>
            </a:r>
            <a:r>
              <a:rPr lang="ms-MY" sz="2400" i="1" spc="1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24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mengotorinya.</a:t>
            </a:r>
            <a:r>
              <a:rPr lang="ms-MY" sz="24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”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ms-MY" sz="2400" b="1" i="1" cap="none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keempat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komponen psikologis dalam fitrah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adalah</a:t>
            </a:r>
            <a:r>
              <a:rPr lang="ms-MY" sz="2400" cap="none" spc="2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kemampuan</a:t>
            </a:r>
            <a:r>
              <a:rPr lang="ms-MY" sz="2400" cap="none" spc="25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dasar</a:t>
            </a:r>
            <a:r>
              <a:rPr lang="ms-MY" sz="2400" cap="none" spc="2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perkembangan</a:t>
            </a:r>
            <a:r>
              <a:rPr lang="ms-MY" sz="2400" cap="none" spc="25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manusia</a:t>
            </a:r>
            <a:r>
              <a:rPr lang="ms-MY" sz="2400" cap="none" spc="25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yang</a:t>
            </a:r>
            <a:r>
              <a:rPr lang="ms-MY" sz="2400" cap="none" spc="25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dianugerahkan allah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swt.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komponen-komponen potensial fitrah tersebut adalah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sebagai</a:t>
            </a:r>
            <a:r>
              <a:rPr lang="ms-MY" sz="2400" cap="none" spc="-4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berikut:41</a:t>
            </a:r>
            <a:br>
              <a:rPr lang="en-US" sz="2400" cap="none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sz="2400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742950" marR="537210" lvl="1" indent="-285750" algn="just">
              <a:lnSpc>
                <a:spcPct val="130000"/>
              </a:lnSpc>
              <a:spcBef>
                <a:spcPts val="690"/>
              </a:spcBef>
              <a:spcAft>
                <a:spcPts val="0"/>
              </a:spcAft>
              <a:buFont typeface="+mj-lt"/>
              <a:buAutoNum type="arabicPeriod"/>
              <a:tabLst>
                <a:tab pos="1024890" algn="l"/>
              </a:tabLst>
            </a:pP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Komponen dasar untuk beragama Islam. Faktor iman merupakan inti</a:t>
            </a:r>
            <a:r>
              <a:rPr lang="ms-MY" sz="8000" spc="-29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beragama</a:t>
            </a:r>
            <a:r>
              <a:rPr lang="ms-MY" sz="8000" spc="-5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manusia.</a:t>
            </a:r>
            <a:endParaRPr lang="en-US" sz="8000" spc="-5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537210" lvl="1" indent="-285750" algn="just">
              <a:lnSpc>
                <a:spcPct val="130000"/>
              </a:lnSpc>
              <a:spcBef>
                <a:spcPts val="690"/>
              </a:spcBef>
              <a:spcAft>
                <a:spcPts val="0"/>
              </a:spcAft>
              <a:buFont typeface="+mj-lt"/>
              <a:buAutoNum type="arabicPeriod"/>
              <a:tabLst>
                <a:tab pos="1024890" algn="l"/>
              </a:tabLst>
            </a:pPr>
            <a:r>
              <a:rPr lang="ms-MY" sz="80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Mawahib </a:t>
            </a:r>
            <a:r>
              <a:rPr lang="ms-MY" sz="8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(bakat) dan </a:t>
            </a:r>
            <a:r>
              <a:rPr lang="ms-MY" sz="80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qabliyat </a:t>
            </a:r>
            <a:r>
              <a:rPr lang="ms-MY" sz="8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(tendensi atau kecenderungan) yang</a:t>
            </a:r>
            <a:r>
              <a:rPr lang="ms-MY" sz="8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mengacu</a:t>
            </a:r>
            <a:r>
              <a:rPr lang="ms-MY" sz="8000" spc="-3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80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pada</a:t>
            </a:r>
            <a:r>
              <a:rPr lang="ms-MY" sz="8000" spc="-3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80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keimanan</a:t>
            </a:r>
            <a:r>
              <a:rPr lang="ms-MY" sz="8000" spc="-3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80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kepada</a:t>
            </a:r>
            <a:r>
              <a:rPr lang="ms-MY" sz="8000" spc="-3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80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Allah</a:t>
            </a:r>
            <a:r>
              <a:rPr lang="ms-MY" sz="8000" spc="-3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80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Swt.</a:t>
            </a:r>
            <a:r>
              <a:rPr lang="ms-MY" sz="8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ms-MY" sz="8000" dirty="0">
              <a:solidFill>
                <a:srgbClr val="231F2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538480" lvl="1" indent="-28575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1024890" algn="l"/>
              </a:tabLst>
            </a:pPr>
            <a:r>
              <a:rPr lang="ms-MY" sz="8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Naluri dan kewahyuan (revilasi) bagaikan dua sisi dari mata uang</a:t>
            </a:r>
            <a:r>
              <a:rPr lang="ms-MY" sz="8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logam,</a:t>
            </a:r>
            <a:r>
              <a:rPr lang="ms-MY" sz="8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keduanya</a:t>
            </a:r>
            <a:r>
              <a:rPr lang="ms-MY" sz="8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saling</a:t>
            </a:r>
            <a:r>
              <a:rPr lang="ms-MY" sz="8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terpadu</a:t>
            </a:r>
            <a:r>
              <a:rPr lang="ms-MY" sz="8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ms-MY" sz="8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perkembangan</a:t>
            </a:r>
            <a:r>
              <a:rPr lang="ms-MY" sz="8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manusia.</a:t>
            </a: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ms-MY" sz="8000" spc="-5" dirty="0">
              <a:solidFill>
                <a:srgbClr val="231F2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538480" lvl="1" indent="-28575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1024890" algn="l"/>
              </a:tabLst>
            </a:pP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Kemampuan</a:t>
            </a:r>
            <a:r>
              <a:rPr lang="ms-MY" sz="8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dasar</a:t>
            </a:r>
            <a:r>
              <a:rPr lang="ms-MY" sz="8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ms-MY" sz="8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beragama</a:t>
            </a:r>
            <a:r>
              <a:rPr lang="ms-MY" sz="8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secara</a:t>
            </a:r>
            <a:r>
              <a:rPr lang="ms-MY" sz="8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umum,</a:t>
            </a:r>
            <a:r>
              <a:rPr lang="ms-MY" sz="8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tidak</a:t>
            </a:r>
            <a:r>
              <a:rPr lang="ms-MY" sz="8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hanya</a:t>
            </a:r>
            <a:r>
              <a:rPr lang="ms-MY" sz="80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terbatas</a:t>
            </a:r>
            <a:r>
              <a:rPr lang="ms-MY" sz="8000" spc="-4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pada</a:t>
            </a:r>
            <a:r>
              <a:rPr lang="ms-MY" sz="8000" spc="-4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agama</a:t>
            </a:r>
            <a:r>
              <a:rPr lang="ms-MY" sz="8000" spc="-3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Islam.</a:t>
            </a:r>
            <a:endParaRPr lang="en-US" sz="8000" spc="-5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538480" lvl="1" indent="-285750" algn="just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tabLst>
                <a:tab pos="1024890" algn="l"/>
              </a:tabLst>
            </a:pPr>
            <a:r>
              <a:rPr lang="ms-MY" sz="8000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Dalam</a:t>
            </a:r>
            <a:r>
              <a:rPr lang="ms-MY" sz="8000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fitrah,</a:t>
            </a:r>
            <a:r>
              <a:rPr lang="ms-MY" sz="8000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tidak</a:t>
            </a:r>
            <a:r>
              <a:rPr lang="ms-MY" sz="8000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terdapat</a:t>
            </a:r>
            <a:r>
              <a:rPr lang="ms-MY" sz="8000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komponen</a:t>
            </a:r>
            <a:r>
              <a:rPr lang="ms-MY" sz="8000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psikologis</a:t>
            </a:r>
            <a:r>
              <a:rPr lang="ms-MY" sz="8000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apa</a:t>
            </a:r>
            <a:r>
              <a:rPr lang="ms-MY" sz="8000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pun,</a:t>
            </a:r>
            <a:r>
              <a:rPr lang="ms-MY" sz="8000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karena</a:t>
            </a:r>
            <a:r>
              <a:rPr lang="ms-MY" sz="8000" spc="-23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fitrah diartikan sebagai kondisi jiwa yang suci, bersih, yang reseptif</a:t>
            </a:r>
            <a:r>
              <a:rPr lang="ms-MY" sz="8000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terbuka</a:t>
            </a:r>
            <a:r>
              <a:rPr lang="ms-MY" sz="8000" spc="8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kepada</a:t>
            </a:r>
            <a:r>
              <a:rPr lang="ms-MY" sz="8000" spc="8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pengaruh</a:t>
            </a:r>
            <a:r>
              <a:rPr lang="ms-MY" sz="8000" spc="9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eksternal,</a:t>
            </a:r>
            <a:r>
              <a:rPr lang="ms-MY" sz="8000" spc="8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termasuk</a:t>
            </a:r>
            <a:r>
              <a:rPr lang="ms-MY" sz="8000" spc="9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8000" spc="-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pendidikan.</a:t>
            </a:r>
            <a:endParaRPr lang="en-US" sz="8000" spc="-5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 algn="just">
              <a:spcBef>
                <a:spcPts val="45"/>
              </a:spcBef>
              <a:spcAft>
                <a:spcPts val="0"/>
              </a:spcAft>
              <a:buNone/>
            </a:pPr>
            <a:endParaRPr lang="en-US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537210" lvl="1" indent="-285750" algn="just">
              <a:lnSpc>
                <a:spcPct val="130000"/>
              </a:lnSpc>
              <a:spcBef>
                <a:spcPts val="690"/>
              </a:spcBef>
              <a:spcAft>
                <a:spcPts val="0"/>
              </a:spcAft>
              <a:buFont typeface="+mj-lt"/>
              <a:buAutoNum type="arabicPeriod"/>
              <a:tabLst>
                <a:tab pos="1024890" algn="l"/>
              </a:tabLst>
            </a:pPr>
            <a:endParaRPr lang="ms-MY" sz="1800" dirty="0">
              <a:solidFill>
                <a:srgbClr val="231F2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537210" lvl="1" indent="-285750" algn="just">
              <a:lnSpc>
                <a:spcPct val="130000"/>
              </a:lnSpc>
              <a:spcBef>
                <a:spcPts val="690"/>
              </a:spcBef>
              <a:spcAft>
                <a:spcPts val="0"/>
              </a:spcAft>
              <a:buFont typeface="+mj-lt"/>
              <a:buAutoNum type="arabicPeriod"/>
              <a:tabLst>
                <a:tab pos="1024890" algn="l"/>
              </a:tabLst>
            </a:pPr>
            <a:endParaRPr lang="ms-MY" sz="1000" dirty="0">
              <a:solidFill>
                <a:srgbClr val="231F20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537210" lvl="1" indent="-285750" algn="just">
              <a:lnSpc>
                <a:spcPct val="130000"/>
              </a:lnSpc>
              <a:spcBef>
                <a:spcPts val="690"/>
              </a:spcBef>
              <a:spcAft>
                <a:spcPts val="0"/>
              </a:spcAft>
              <a:buFont typeface="+mj-lt"/>
              <a:buAutoNum type="arabicPeriod"/>
              <a:tabLst>
                <a:tab pos="1024890" algn="l"/>
              </a:tabLst>
            </a:pP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635" y="10795"/>
            <a:ext cx="12193270" cy="61899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7670" y="309245"/>
            <a:ext cx="11320780" cy="5291455"/>
          </a:xfrm>
        </p:spPr>
        <p:txBody>
          <a:bodyPr/>
          <a:p>
            <a:pPr lvl="1"/>
            <a:r>
              <a:rPr lang="en-US" sz="2160"/>
              <a:t>Diagram di atas menunjukkan aspek-aspek psikologis fitrah yang saling mempengaruhi satu sama  lain.  Aspek-aspek  tersebut  dapat dijelaskan sebagai berikut:</a:t>
            </a:r>
            <a:endParaRPr lang="en-US" sz="2160"/>
          </a:p>
          <a:p>
            <a:r>
              <a:rPr lang="en-US" sz="2400"/>
              <a:t>1.Fitrah adalah faktor kemampuan dasar perkembangan manusia yang dibawa sejak lahir dan berpusat pada “potensi dasar” untuk berkembang.</a:t>
            </a:r>
            <a:endParaRPr lang="en-US" sz="2400"/>
          </a:p>
          <a:p>
            <a:r>
              <a:rPr lang="en-US" sz="2400"/>
              <a:t>2.Potensi dasar tersebut berkembang secara menyeluruh (integral) yang menggerakkan seluruh aspeknya secara mekanistis satu sama lain dan saling mempengaruhi menuju tujuan tertentu.</a:t>
            </a:r>
            <a:endParaRPr lang="en-US" sz="2400"/>
          </a:p>
          <a:p>
            <a:r>
              <a:rPr lang="en-US" sz="2400"/>
              <a:t>3. Aspek-aspek fitrah merupakan komponen dasar yang bersifat dinamis dan responsif terhadap pengaruh lingkungan sekitar, termasuk pengaruh pendidikan. Komponen-komponen dasar tersebut:Bakat,Insting atau gharizah,Nafsu ,Karakter,hereditas,intuisi.</a:t>
            </a:r>
            <a:endParaRPr lang="en-US" sz="2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ms-MY" sz="2400" cap="none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lebih</a:t>
            </a:r>
            <a:r>
              <a:rPr lang="ms-MY" sz="2400" cap="none" spc="-5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menyederhanakan</a:t>
            </a:r>
            <a:r>
              <a:rPr lang="ms-MY" sz="2400" cap="none" spc="-5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pemahaman</a:t>
            </a:r>
            <a:r>
              <a:rPr lang="ms-MY" sz="2400" cap="none" spc="-5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terkait</a:t>
            </a:r>
            <a:r>
              <a:rPr lang="ms-MY" sz="2400" cap="none" spc="-5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dengan</a:t>
            </a:r>
            <a:r>
              <a:rPr lang="ms-MY" sz="2400" cap="none" spc="-5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teori</a:t>
            </a:r>
            <a:r>
              <a:rPr lang="ms-MY" sz="2400" cap="none" spc="-5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fitrah</a:t>
            </a:r>
            <a:r>
              <a:rPr lang="ms-MY" sz="2400" cap="none" spc="-5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tersebut,</a:t>
            </a:r>
            <a:r>
              <a:rPr lang="ms-MY" sz="2400" cap="none" spc="-24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berikut bisa diperhatikan cara-cara mengenal allah swt. sebagai </a:t>
            </a:r>
            <a:r>
              <a:rPr lang="ms-MY" sz="2400" i="1" cap="none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al-khaliq</a:t>
            </a:r>
            <a:r>
              <a:rPr lang="ms-MY" sz="2400" cap="none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,yaitu :</a:t>
            </a:r>
            <a:endParaRPr lang="en-US" sz="2400" cap="non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610" y="2015490"/>
            <a:ext cx="9603105" cy="4044950"/>
          </a:xfrm>
        </p:spPr>
        <p:txBody>
          <a:bodyPr>
            <a:noAutofit/>
          </a:bodyPr>
          <a:lstStyle/>
          <a:p>
            <a:pPr marL="1005205" marR="536575" indent="-285750" algn="just" fontAlgn="auto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ms-MY" sz="19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(a)</a:t>
            </a:r>
            <a:r>
              <a:rPr lang="ms-MY" sz="1900" spc="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9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Nur</a:t>
            </a:r>
            <a:r>
              <a:rPr lang="ms-MY" sz="1900" i="1" spc="2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9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Ilahi</a:t>
            </a:r>
            <a:r>
              <a:rPr lang="ms-MY" sz="1900" i="1" spc="30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(QS.</a:t>
            </a:r>
            <a:r>
              <a:rPr lang="ms-MY" sz="1900" spc="1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al-Hujur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āt</a:t>
            </a:r>
            <a:r>
              <a:rPr lang="ms-MY" sz="1900" spc="5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[49]:</a:t>
            </a:r>
            <a:r>
              <a:rPr lang="ms-MY" sz="1900" spc="5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10),</a:t>
            </a:r>
            <a:r>
              <a:rPr lang="ms-MY" sz="1900" spc="5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endParaRPr lang="ms-MY" sz="1900" spc="50" dirty="0">
              <a:solidFill>
                <a:srgbClr val="231F20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</a:endParaRPr>
          </a:p>
          <a:p>
            <a:pPr marL="1005205" marR="536575" indent="-285750" algn="just" fontAlgn="auto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(b)</a:t>
            </a:r>
            <a:r>
              <a:rPr lang="ms-MY" sz="1900" spc="5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9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Taqlid</a:t>
            </a:r>
            <a:r>
              <a:rPr lang="ms-MY" sz="1900" i="1" spc="25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(QS.</a:t>
            </a:r>
            <a:r>
              <a:rPr lang="ms-MY" sz="1900" spc="2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ūsuf</a:t>
            </a:r>
            <a:r>
              <a:rPr lang="ms-MY" sz="1900" spc="5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[12]:</a:t>
            </a:r>
            <a:r>
              <a:rPr lang="ms-MY" sz="1900" spc="5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106),</a:t>
            </a:r>
            <a:endParaRPr lang="ms-MY" sz="1900" dirty="0">
              <a:solidFill>
                <a:srgbClr val="231F20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</a:endParaRPr>
          </a:p>
          <a:p>
            <a:pPr marL="1005205" marR="536575" indent="-285750" algn="just" fontAlgn="auto">
              <a:lnSpc>
                <a:spcPct val="100000"/>
              </a:lnSpc>
              <a:spcBef>
                <a:spcPts val="47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en-US" alt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Surat Al Ikhlas</a:t>
            </a:r>
            <a:endParaRPr lang="en-US" sz="19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</a:pP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(c) Yakin </a:t>
            </a:r>
            <a:r>
              <a:rPr lang="ms-MY" sz="19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ms-MY" sz="1900" spc="5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ms-MY" sz="1900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lebih</a:t>
            </a:r>
            <a:r>
              <a:rPr lang="ms-MY" sz="1900" spc="-5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900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menyederhanakan</a:t>
            </a:r>
            <a:r>
              <a:rPr lang="ms-MY" sz="1900" spc="-5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900" spc="-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pemahaman</a:t>
            </a:r>
            <a:r>
              <a:rPr lang="ms-MY" sz="1900" spc="-5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terkait</a:t>
            </a:r>
            <a:r>
              <a:rPr lang="ms-MY" sz="1900" spc="-5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dengan</a:t>
            </a:r>
            <a:r>
              <a:rPr lang="ms-MY" sz="1900" spc="-5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teori</a:t>
            </a:r>
            <a:r>
              <a:rPr lang="ms-MY" sz="1900" spc="-5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fitrah</a:t>
            </a:r>
            <a:r>
              <a:rPr lang="ms-MY" sz="1900" spc="-5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tersebut,</a:t>
            </a:r>
            <a:r>
              <a:rPr lang="ms-MY" sz="1900" spc="-24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berikut bisa diperhatikan cara-cara mengenal Allah Swt. sebagai </a:t>
            </a:r>
            <a:r>
              <a:rPr lang="ms-MY" sz="1900" i="1" dirty="0">
                <a:solidFill>
                  <a:srgbClr val="231F20"/>
                </a:solidFill>
                <a:effectLst/>
                <a:latin typeface="Georgia" panose="02040502050405020303" pitchFamily="18" charset="0"/>
                <a:ea typeface="Times New Roman" panose="02020603050405020304" pitchFamily="18" charset="0"/>
              </a:rPr>
              <a:t>al-Khaliq</a:t>
            </a:r>
            <a:r>
              <a:rPr lang="ms-MY" sz="19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(QS. al-Baqarah [2]: 46), </a:t>
            </a:r>
            <a:endParaRPr lang="ms-MY" sz="1900" dirty="0">
              <a:solidFill>
                <a:srgbClr val="231F20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</a:pP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(d) Kosmologi (QS. al-Baqarah [2]: 164)</a:t>
            </a:r>
            <a:endParaRPr lang="ms-MY" sz="1900" dirty="0">
              <a:solidFill>
                <a:srgbClr val="231F20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</a:pP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(e)</a:t>
            </a:r>
            <a:r>
              <a:rPr lang="ms-MY" sz="1900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Astronomi (QS. ath-Thāriq [89]: 1–2, QS. asy-Syams [91]: 1, 2), </a:t>
            </a:r>
            <a:endParaRPr lang="ms-MY" sz="1900" dirty="0">
              <a:solidFill>
                <a:srgbClr val="231F20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</a:pP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(f) Antropologi</a:t>
            </a:r>
            <a:r>
              <a:rPr lang="ms-MY" sz="1900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(QS. ath-Thāriq [89]: 5–7, QS. ar-Rūm [30]: 20), </a:t>
            </a:r>
            <a:endParaRPr lang="ms-MY" sz="1900" dirty="0">
              <a:solidFill>
                <a:srgbClr val="231F20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lnSpc>
                <a:spcPct val="100000"/>
              </a:lnSpc>
            </a:pP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(g) Psikologi (QS.</a:t>
            </a:r>
            <a:r>
              <a:rPr lang="ms-MY" sz="1900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ar-Rūm</a:t>
            </a:r>
            <a:r>
              <a:rPr lang="ms-MY" sz="1900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[30]: 21). Demikian juga bisa ditelusuri dalam ayat-ayat, seperti dalam QS.</a:t>
            </a:r>
            <a:r>
              <a:rPr lang="ms-MY" sz="1900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al-M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āidah</a:t>
            </a:r>
            <a:r>
              <a:rPr lang="ms-MY" sz="1900" spc="1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[5]:</a:t>
            </a:r>
            <a:r>
              <a:rPr lang="ms-MY" sz="1900" spc="1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50,</a:t>
            </a:r>
            <a:r>
              <a:rPr lang="ms-MY" sz="1900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QS.</a:t>
            </a:r>
            <a:r>
              <a:rPr lang="ms-MY" sz="1900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al-An’ām</a:t>
            </a:r>
            <a:r>
              <a:rPr lang="ms-MY" sz="1900" spc="1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[6]:</a:t>
            </a:r>
            <a:r>
              <a:rPr lang="ms-MY" sz="1900" spc="1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75,</a:t>
            </a:r>
            <a:r>
              <a:rPr lang="ms-MY" sz="1900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ms-MY" sz="1900" spc="1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QS.</a:t>
            </a:r>
            <a:r>
              <a:rPr lang="ms-MY" sz="1900" spc="5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ar-Ra’d</a:t>
            </a:r>
            <a:r>
              <a:rPr lang="ms-MY" sz="1900" spc="1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[13]:</a:t>
            </a:r>
            <a:r>
              <a:rPr lang="ms-MY" sz="1900" spc="1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1900" dirty="0">
                <a:solidFill>
                  <a:srgbClr val="231F20"/>
                </a:solidFill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ms-MY" sz="1900" dirty="0">
              <a:solidFill>
                <a:srgbClr val="231F20"/>
              </a:solidFill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635" y="0"/>
            <a:ext cx="12192000" cy="61226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0</TotalTime>
  <Words>8132</Words>
  <Application>WPS Presentation</Application>
  <PresentationFormat>Widescreen</PresentationFormat>
  <Paragraphs>100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4" baseType="lpstr">
      <vt:lpstr>Arial</vt:lpstr>
      <vt:lpstr>SimSun</vt:lpstr>
      <vt:lpstr>Wingdings</vt:lpstr>
      <vt:lpstr>Times New Roman</vt:lpstr>
      <vt:lpstr>Cambria</vt:lpstr>
      <vt:lpstr>Georgia</vt:lpstr>
      <vt:lpstr>Palatino Linotype</vt:lpstr>
      <vt:lpstr>Gill Sans MT</vt:lpstr>
      <vt:lpstr>Microsoft YaHei</vt:lpstr>
      <vt:lpstr>Arial Unicode MS</vt:lpstr>
      <vt:lpstr>Calibri</vt:lpstr>
      <vt:lpstr>Gallery</vt:lpstr>
      <vt:lpstr>BAB 2.  FITRAH MANUSIA DAN  HIDAYAH BERDASARKAN AL QUR’AN  DAN HADIST</vt:lpstr>
      <vt:lpstr>A. Pengertian Fitrah (Potensi Dasar yang Dimiliki Manusia)</vt:lpstr>
      <vt:lpstr>Manusia diciptakan lengkap dengan karakteristik dan fitrahnya.</vt:lpstr>
      <vt:lpstr>makna lain adalah shifatu al-insani ath-thabi’iyah. makna lainnya, fitrah adalah ad-dinu wa as-sunnah.</vt:lpstr>
      <vt:lpstr>PowerPoint 演示文稿</vt:lpstr>
      <vt:lpstr>PowerPoint 演示文稿</vt:lpstr>
      <vt:lpstr>PowerPoint 演示文稿</vt:lpstr>
      <vt:lpstr>5 hak fitrah manusia</vt:lpstr>
      <vt:lpstr> B. Teori tentang Fitrah </vt:lpstr>
      <vt:lpstr>kata fitrah ini disebutkan dalam al-qur’an surat ar-rūm [30]: 30</vt:lpstr>
      <vt:lpstr>hadist tentang fitrah manusia</vt:lpstr>
      <vt:lpstr>Secara terminologis istilah fitrah dalam al-qur’an dan hadits  adalah</vt:lpstr>
      <vt:lpstr>faktor keturunan religiusitas ini didasarkan pada beberapa dalil  Al-Qur’an </vt:lpstr>
      <vt:lpstr>PowerPoint 演示文稿</vt:lpstr>
      <vt:lpstr>PowerPoint 演示文稿</vt:lpstr>
      <vt:lpstr>kedua, dalil-dalil lainnya yang dapat diinterpretasikan untuk mengartikan fitrah yang mengandung kecenderungan yang netral</vt:lpstr>
      <vt:lpstr>ketiga, konsep al-quran yang menunjukkan bahwa setiap manusia diberi kecenderungan nafsu untuk menjadikannya kafir bagi yang ingkar terhadap tuhannya dan kecenderungan yang  membawa  sikap  bertakwa bagi yang menaati perintah-nya.</vt:lpstr>
      <vt:lpstr>keempat, komponen psikologis dalam fitrah adalah kemampuan dasar perkembangan manusia yang dianugerahkan allah swt. komponen-komponen potensial fitrah tersebut adalah sebagai berikut:41 </vt:lpstr>
      <vt:lpstr>PowerPoint 演示文稿</vt:lpstr>
      <vt:lpstr>PowerPoint 演示文稿</vt:lpstr>
      <vt:lpstr>untuk lebih menyederhanakan pemahaman terkait dengan teori fitrah tersebut, berikut bisa diperhatikan cara-cara mengenal allah swt. sebagai al-khaliq,yaitu :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BAB 2. FITRAH MANUSIA DAN HIDAYAH BERDASARKAN AL QUR’AN DAN HADIST</dc:title>
  <dc:creator>chuzaemah chuzaemah</dc:creator>
  <cp:lastModifiedBy>Lenovo</cp:lastModifiedBy>
  <cp:revision>18</cp:revision>
  <dcterms:created xsi:type="dcterms:W3CDTF">2022-09-25T17:15:00Z</dcterms:created>
  <dcterms:modified xsi:type="dcterms:W3CDTF">2023-10-02T13:15:17Z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F020102003BF4665991EF72E44655DFB</vt:lpwstr>
  </property>
  <property fmtid="{D5CDD505-2E9C-101B-9397-08002B2CF9AE}" pid="3" name="KSOProductBuildVer">
    <vt:lpwstr>1033-12.2.0.13215</vt:lpwstr>
  </property>
</Properties>
</file>