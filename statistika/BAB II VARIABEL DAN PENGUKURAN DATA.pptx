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BAB II VARIABEL DAN PENGUKURAN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Ir. </a:t>
            </a:r>
            <a:r>
              <a:rPr lang="en-US" dirty="0" err="1" smtClean="0"/>
              <a:t>Masruki</a:t>
            </a:r>
            <a:r>
              <a:rPr lang="en-US" dirty="0" smtClean="0"/>
              <a:t> </a:t>
            </a:r>
            <a:r>
              <a:rPr lang="en-US" dirty="0" err="1" smtClean="0"/>
              <a:t>Kabib</a:t>
            </a:r>
            <a:r>
              <a:rPr lang="en-US" dirty="0" smtClean="0"/>
              <a:t>, MT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57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CAPAIAN 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2400" dirty="0" err="1" smtClean="0"/>
              <a:t>Mahasiswa</a:t>
            </a:r>
            <a:r>
              <a:rPr lang="en-US" sz="2400" dirty="0" smtClean="0"/>
              <a:t> </a:t>
            </a:r>
            <a:r>
              <a:rPr lang="en-US" sz="2400" dirty="0" err="1" smtClean="0"/>
              <a:t>Memahami</a:t>
            </a:r>
            <a:r>
              <a:rPr lang="en-US" sz="2400" dirty="0" smtClean="0"/>
              <a:t> </a:t>
            </a:r>
            <a:r>
              <a:rPr lang="en-US" sz="2400" dirty="0" err="1" smtClean="0"/>
              <a:t>jenis-jenis</a:t>
            </a:r>
            <a:r>
              <a:rPr lang="en-US" sz="2400" dirty="0" smtClean="0"/>
              <a:t> </a:t>
            </a:r>
            <a:r>
              <a:rPr lang="en-US" sz="2400" dirty="0" err="1" smtClean="0"/>
              <a:t>variabel</a:t>
            </a:r>
            <a:endParaRPr lang="en-US" sz="2400" dirty="0" smtClean="0"/>
          </a:p>
          <a:p>
            <a:pPr marL="342900" indent="-342900">
              <a:buAutoNum type="arabicPeriod"/>
            </a:pPr>
            <a:r>
              <a:rPr lang="en-US" sz="2400" dirty="0" err="1" smtClean="0"/>
              <a:t>Mahasiswa</a:t>
            </a:r>
            <a:r>
              <a:rPr lang="en-US" sz="2400" dirty="0" smtClean="0"/>
              <a:t> </a:t>
            </a:r>
            <a:r>
              <a:rPr lang="en-US" sz="2400" dirty="0" err="1" smtClean="0"/>
              <a:t>dapat</a:t>
            </a:r>
            <a:r>
              <a:rPr lang="en-US" sz="2400" dirty="0" smtClean="0"/>
              <a:t> </a:t>
            </a:r>
            <a:r>
              <a:rPr lang="en-US" sz="2400" dirty="0" err="1" smtClean="0"/>
              <a:t>menentukan</a:t>
            </a:r>
            <a:r>
              <a:rPr lang="en-US" sz="2400" dirty="0" smtClean="0"/>
              <a:t> variable </a:t>
            </a:r>
            <a:r>
              <a:rPr lang="en-US" sz="2400" dirty="0" err="1" smtClean="0"/>
              <a:t>dalam</a:t>
            </a:r>
            <a:r>
              <a:rPr lang="en-US" sz="2400" dirty="0" smtClean="0"/>
              <a:t> </a:t>
            </a:r>
            <a:r>
              <a:rPr lang="en-US" sz="2400" dirty="0" err="1" smtClean="0"/>
              <a:t>penelitian</a:t>
            </a:r>
            <a:endParaRPr lang="en-US" sz="2400" dirty="0" smtClean="0"/>
          </a:p>
          <a:p>
            <a:pPr marL="342900" indent="-342900">
              <a:buAutoNum type="arabicPeriod"/>
            </a:pPr>
            <a:r>
              <a:rPr lang="en-US" sz="2400" dirty="0" err="1" smtClean="0"/>
              <a:t>Mahasiswa</a:t>
            </a:r>
            <a:r>
              <a:rPr lang="en-US" sz="2400" dirty="0" smtClean="0"/>
              <a:t> </a:t>
            </a:r>
            <a:r>
              <a:rPr lang="en-US" sz="2400" dirty="0" err="1" smtClean="0"/>
              <a:t>dapat</a:t>
            </a:r>
            <a:r>
              <a:rPr lang="en-US" sz="2400" dirty="0" smtClean="0"/>
              <a:t> </a:t>
            </a:r>
            <a:r>
              <a:rPr lang="en-US" sz="2400" dirty="0" err="1" smtClean="0"/>
              <a:t>melakukan</a:t>
            </a:r>
            <a:r>
              <a:rPr lang="en-US" sz="2400" dirty="0" smtClean="0"/>
              <a:t> </a:t>
            </a:r>
            <a:r>
              <a:rPr lang="en-US" sz="2400" dirty="0" err="1" smtClean="0"/>
              <a:t>pengukuran</a:t>
            </a:r>
            <a:r>
              <a:rPr lang="en-US" sz="2400" dirty="0" smtClean="0"/>
              <a:t>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90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A. PROSES PENELITIAN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8" y="2434557"/>
            <a:ext cx="10624678" cy="352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1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 VARIABEL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/>
              <a:t>Variabel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konsep</a:t>
            </a:r>
            <a:r>
              <a:rPr lang="en-US" sz="3200" dirty="0"/>
              <a:t> yang </a:t>
            </a:r>
            <a:r>
              <a:rPr lang="en-US" sz="3200" dirty="0" err="1"/>
              <a:t>mempunyai</a:t>
            </a:r>
            <a:r>
              <a:rPr lang="en-US" sz="3200" dirty="0"/>
              <a:t> </a:t>
            </a:r>
            <a:r>
              <a:rPr lang="en-US" sz="3200" dirty="0" err="1"/>
              <a:t>nilai</a:t>
            </a:r>
            <a:r>
              <a:rPr lang="en-US" sz="3200" dirty="0"/>
              <a:t> yang </a:t>
            </a:r>
            <a:r>
              <a:rPr lang="en-US" sz="3200" dirty="0" err="1"/>
              <a:t>berubah-ubah</a:t>
            </a:r>
            <a:r>
              <a:rPr lang="en-US" sz="3200" dirty="0"/>
              <a:t>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mempunyai</a:t>
            </a:r>
            <a:r>
              <a:rPr lang="en-US" sz="3200" dirty="0"/>
              <a:t> </a:t>
            </a:r>
            <a:r>
              <a:rPr lang="en-US" sz="3200" dirty="0" err="1"/>
              <a:t>variasi</a:t>
            </a:r>
            <a:r>
              <a:rPr lang="en-US" sz="3200" dirty="0"/>
              <a:t> </a:t>
            </a:r>
            <a:r>
              <a:rPr lang="en-US" sz="3200" dirty="0" err="1"/>
              <a:t>nilai</a:t>
            </a:r>
            <a:r>
              <a:rPr lang="en-US" sz="3200" dirty="0"/>
              <a:t>, </a:t>
            </a:r>
            <a:r>
              <a:rPr lang="en-US" sz="3200" dirty="0" err="1"/>
              <a:t>keadaan</a:t>
            </a:r>
            <a:r>
              <a:rPr lang="en-US" sz="3200" dirty="0"/>
              <a:t>, </a:t>
            </a:r>
            <a:r>
              <a:rPr lang="en-US" sz="3200" dirty="0" err="1"/>
              <a:t>kategori</a:t>
            </a:r>
            <a:r>
              <a:rPr lang="en-US" sz="3200" dirty="0"/>
              <a:t>,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 smtClean="0"/>
              <a:t>kondisi</a:t>
            </a:r>
            <a:endParaRPr lang="en-US" sz="3200" dirty="0" smtClean="0"/>
          </a:p>
          <a:p>
            <a:r>
              <a:rPr lang="sv-SE" sz="3200" dirty="0"/>
              <a:t>variabel diartikan sebagai proses penentuan batasan atau penjelasan ilmiah yang didasarkan pada kajian teori yang mendasari variabel tersebut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22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JENIS VARIBEL BERDASARKAN JENIS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/>
              <a:t>diskrit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yang </a:t>
            </a:r>
            <a:r>
              <a:rPr lang="en-US" sz="2400" dirty="0" err="1"/>
              <a:t>harga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nilainya</a:t>
            </a:r>
            <a:r>
              <a:rPr lang="en-US" sz="2400" dirty="0"/>
              <a:t> </a:t>
            </a:r>
            <a:r>
              <a:rPr lang="en-US" sz="2400" dirty="0" err="1"/>
              <a:t>terputus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ditampilkan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pecahan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1313" indent="0">
              <a:buNone/>
            </a:pPr>
            <a:r>
              <a:rPr lang="en-US" sz="2400" dirty="0" err="1" smtClean="0"/>
              <a:t>Nilai</a:t>
            </a:r>
            <a:r>
              <a:rPr lang="en-US" sz="2400" dirty="0" smtClean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diskrit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umumnya</a:t>
            </a:r>
            <a:r>
              <a:rPr lang="en-US" sz="2400" dirty="0"/>
              <a:t>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proses </a:t>
            </a:r>
            <a:r>
              <a:rPr lang="en-US" sz="2400" dirty="0" err="1"/>
              <a:t>membilang</a:t>
            </a:r>
            <a:r>
              <a:rPr lang="en-US" sz="2400" dirty="0"/>
              <a:t>, </a:t>
            </a:r>
            <a:r>
              <a:rPr lang="en-US" sz="2400" dirty="0" err="1"/>
              <a:t>misalnya</a:t>
            </a:r>
            <a:r>
              <a:rPr lang="en-US" sz="2400" dirty="0"/>
              <a:t> </a:t>
            </a:r>
            <a:r>
              <a:rPr lang="en-US" sz="2400" dirty="0" err="1"/>
              <a:t>membilang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kemasukan</a:t>
            </a:r>
            <a:r>
              <a:rPr lang="en-US" sz="2400" dirty="0"/>
              <a:t> goal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pertandingan</a:t>
            </a:r>
            <a:r>
              <a:rPr lang="en-US" sz="2400" dirty="0"/>
              <a:t> </a:t>
            </a:r>
            <a:r>
              <a:rPr lang="en-US" sz="2400" dirty="0" err="1"/>
              <a:t>sepak</a:t>
            </a:r>
            <a:r>
              <a:rPr lang="en-US" sz="2400" dirty="0"/>
              <a:t> bola, </a:t>
            </a:r>
            <a:endParaRPr lang="en-US" sz="2400" dirty="0" smtClean="0"/>
          </a:p>
          <a:p>
            <a:pPr marL="287338" indent="-287338">
              <a:buNone/>
            </a:pPr>
            <a:r>
              <a:rPr lang="en-US" sz="2400" dirty="0" smtClean="0"/>
              <a:t>2.   </a:t>
            </a: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 smtClean="0"/>
              <a:t>kontinyu</a:t>
            </a:r>
            <a:r>
              <a:rPr lang="en-US" sz="2400" dirty="0" smtClean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yang </a:t>
            </a:r>
            <a:r>
              <a:rPr lang="en-US" sz="2400" dirty="0" err="1"/>
              <a:t>nilainya</a:t>
            </a:r>
            <a:r>
              <a:rPr lang="en-US" sz="2400" dirty="0"/>
              <a:t> </a:t>
            </a:r>
            <a:r>
              <a:rPr lang="en-US" sz="2400" dirty="0" err="1"/>
              <a:t>rapat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</a:t>
            </a:r>
            <a:r>
              <a:rPr lang="en-US" sz="2400" dirty="0" err="1"/>
              <a:t>pecahan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desimal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1313" indent="0">
              <a:buNone/>
            </a:pPr>
            <a:r>
              <a:rPr lang="en-US" sz="2400" dirty="0" err="1" smtClean="0"/>
              <a:t>Pada</a:t>
            </a:r>
            <a:r>
              <a:rPr lang="en-US" sz="2400" dirty="0" smtClean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kontinu</a:t>
            </a:r>
            <a:r>
              <a:rPr lang="en-US" sz="2400" dirty="0"/>
              <a:t> </a:t>
            </a:r>
            <a:r>
              <a:rPr lang="en-US" sz="2400" dirty="0" err="1"/>
              <a:t>berlaku</a:t>
            </a:r>
            <a:r>
              <a:rPr lang="en-US" sz="2400" dirty="0"/>
              <a:t> </a:t>
            </a:r>
            <a:r>
              <a:rPr lang="en-US" sz="2400" dirty="0" err="1"/>
              <a:t>postulat</a:t>
            </a:r>
            <a:r>
              <a:rPr lang="en-US" sz="2400" dirty="0"/>
              <a:t> </a:t>
            </a:r>
            <a:r>
              <a:rPr lang="en-US" sz="2400" dirty="0" err="1"/>
              <a:t>bilangan</a:t>
            </a:r>
            <a:r>
              <a:rPr lang="en-US" sz="2400" dirty="0"/>
              <a:t> </a:t>
            </a:r>
            <a:r>
              <a:rPr lang="en-US" sz="2400" dirty="0" err="1"/>
              <a:t>rasional</a:t>
            </a:r>
            <a:r>
              <a:rPr lang="en-US" sz="2400" dirty="0"/>
              <a:t>, </a:t>
            </a:r>
            <a:r>
              <a:rPr lang="en-US" sz="2400" dirty="0" err="1"/>
              <a:t>yakni</a:t>
            </a:r>
            <a:r>
              <a:rPr lang="en-US" sz="2400" dirty="0"/>
              <a:t> di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bilangan</a:t>
            </a:r>
            <a:r>
              <a:rPr lang="en-US" sz="2400" dirty="0"/>
              <a:t> </a:t>
            </a:r>
            <a:r>
              <a:rPr lang="en-US" sz="2400" dirty="0" err="1"/>
              <a:t>rasional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berhingga</a:t>
            </a:r>
            <a:r>
              <a:rPr lang="en-US" sz="2400" dirty="0"/>
              <a:t> </a:t>
            </a:r>
            <a:r>
              <a:rPr lang="en-US" sz="2400" dirty="0" err="1"/>
              <a:t>bilangan</a:t>
            </a:r>
            <a:r>
              <a:rPr lang="en-US" sz="2400" dirty="0"/>
              <a:t> </a:t>
            </a:r>
            <a:r>
              <a:rPr lang="en-US" sz="2400" dirty="0" err="1"/>
              <a:t>rasional</a:t>
            </a:r>
            <a:r>
              <a:rPr lang="en-US" sz="2400" dirty="0"/>
              <a:t> </a:t>
            </a:r>
            <a:r>
              <a:rPr lang="en-US" sz="2400" dirty="0" err="1"/>
              <a:t>lainnya</a:t>
            </a:r>
            <a:r>
              <a:rPr lang="en-US" sz="2400" dirty="0"/>
              <a:t>. </a:t>
            </a:r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kontinu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umur</a:t>
            </a:r>
            <a:r>
              <a:rPr lang="en-US" sz="2400" dirty="0"/>
              <a:t>, </a:t>
            </a:r>
            <a:r>
              <a:rPr lang="en-US" sz="2400" dirty="0" err="1"/>
              <a:t>tinggi</a:t>
            </a:r>
            <a:r>
              <a:rPr lang="en-US" sz="2400" dirty="0"/>
              <a:t> </a:t>
            </a:r>
            <a:r>
              <a:rPr lang="en-US" sz="2400" dirty="0" err="1"/>
              <a:t>badan</a:t>
            </a:r>
            <a:r>
              <a:rPr lang="en-US" sz="2400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61019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JENIS VARIABEL BERDASARKAN FUNGSI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/>
              <a:t>bebas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independen</a:t>
            </a:r>
            <a:r>
              <a:rPr lang="en-US" sz="2400" dirty="0" smtClean="0"/>
              <a:t>)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 smtClean="0"/>
              <a:t>mempengaruhi</a:t>
            </a:r>
            <a:r>
              <a:rPr lang="en-US" sz="2400" dirty="0" smtClean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lain. </a:t>
            </a:r>
            <a:endParaRPr lang="en-US" sz="2400" dirty="0" smtClean="0"/>
          </a:p>
          <a:p>
            <a:pPr marL="463550" indent="0">
              <a:buNone/>
            </a:pPr>
            <a:r>
              <a:rPr lang="en-US" sz="2400" dirty="0" err="1" smtClean="0"/>
              <a:t>Contoh</a:t>
            </a:r>
            <a:r>
              <a:rPr lang="en-US" sz="2400" dirty="0" smtClean="0"/>
              <a:t> :</a:t>
            </a:r>
          </a:p>
          <a:p>
            <a:pPr marL="463550" indent="0">
              <a:buNone/>
            </a:pP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 smtClean="0"/>
              <a:t>tinggi</a:t>
            </a:r>
            <a:r>
              <a:rPr lang="en-US" sz="2400" dirty="0" smtClean="0"/>
              <a:t> </a:t>
            </a:r>
            <a:r>
              <a:rPr lang="en-US" sz="2400" dirty="0" err="1" smtClean="0"/>
              <a:t>badan</a:t>
            </a:r>
            <a:r>
              <a:rPr lang="en-US" sz="2400" dirty="0" smtClean="0"/>
              <a:t> </a:t>
            </a:r>
            <a:r>
              <a:rPr lang="en-US" sz="2400" dirty="0" err="1" smtClean="0"/>
              <a:t>mempengaruhi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kecepatan</a:t>
            </a:r>
            <a:r>
              <a:rPr lang="en-US" sz="2400" dirty="0" smtClean="0"/>
              <a:t> </a:t>
            </a:r>
            <a:r>
              <a:rPr lang="en-US" sz="2400" dirty="0" err="1" smtClean="0"/>
              <a:t>lari</a:t>
            </a:r>
            <a:r>
              <a:rPr lang="en-US" sz="2400" dirty="0" smtClean="0"/>
              <a:t> </a:t>
            </a:r>
            <a:r>
              <a:rPr lang="en-US" sz="2400" dirty="0" err="1" smtClean="0"/>
              <a:t>atlit</a:t>
            </a:r>
            <a:endParaRPr lang="en-US" sz="2400" dirty="0"/>
          </a:p>
          <a:p>
            <a:pPr marL="463550" indent="-463550">
              <a:buNone/>
            </a:pPr>
            <a:r>
              <a:rPr lang="en-US" sz="2400" dirty="0" smtClean="0"/>
              <a:t>2.  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bebas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biasa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dependen</a:t>
            </a:r>
            <a:r>
              <a:rPr lang="en-US" sz="2400" dirty="0"/>
              <a:t>, </a:t>
            </a:r>
            <a:r>
              <a:rPr lang="en-US" sz="2400" dirty="0" err="1"/>
              <a:t>respons</a:t>
            </a:r>
            <a:r>
              <a:rPr lang="en-US" sz="2400" dirty="0"/>
              <a:t>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 smtClean="0"/>
              <a:t>kriteria</a:t>
            </a:r>
            <a:r>
              <a:rPr lang="en-US" sz="2400" dirty="0" smtClean="0"/>
              <a:t>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id-ID" sz="2400" dirty="0"/>
              <a:t>variabel yang dipengaruhi oleh variabel lain. </a:t>
            </a:r>
            <a:endParaRPr lang="en-US" sz="2400" dirty="0" smtClean="0"/>
          </a:p>
          <a:p>
            <a:pPr marL="463550" indent="0">
              <a:buNone/>
            </a:pPr>
            <a:r>
              <a:rPr lang="en-US" sz="2400" dirty="0" err="1" smtClean="0"/>
              <a:t>Contoh</a:t>
            </a:r>
            <a:r>
              <a:rPr lang="en-US" sz="2400" dirty="0" smtClean="0"/>
              <a:t> :</a:t>
            </a:r>
          </a:p>
          <a:p>
            <a:pPr marL="463550" indent="0">
              <a:buNone/>
            </a:pP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 smtClean="0"/>
              <a:t>berat</a:t>
            </a:r>
            <a:r>
              <a:rPr lang="en-US" sz="2400" dirty="0" smtClean="0"/>
              <a:t> </a:t>
            </a:r>
            <a:r>
              <a:rPr lang="en-US" sz="2400" dirty="0" err="1" smtClean="0"/>
              <a:t>badan</a:t>
            </a:r>
            <a:r>
              <a:rPr lang="en-US" sz="2400" dirty="0" smtClean="0"/>
              <a:t> di </a:t>
            </a:r>
            <a:r>
              <a:rPr lang="en-US" sz="2400" dirty="0" err="1" smtClean="0"/>
              <a:t>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dirty="0" err="1" smtClean="0"/>
              <a:t>Jumlah</a:t>
            </a:r>
            <a:r>
              <a:rPr lang="en-US" sz="2400" dirty="0" smtClean="0"/>
              <a:t> </a:t>
            </a:r>
            <a:r>
              <a:rPr lang="en-US" sz="2400" dirty="0" err="1" smtClean="0"/>
              <a:t>konsumsi</a:t>
            </a:r>
            <a:r>
              <a:rPr lang="en-US" sz="2400" dirty="0" smtClean="0"/>
              <a:t> </a:t>
            </a:r>
            <a:r>
              <a:rPr lang="en-US" sz="2400" dirty="0" err="1" smtClean="0"/>
              <a:t>makanan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3.   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50961" y="4757214"/>
            <a:ext cx="95352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kontrol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yang </a:t>
            </a:r>
            <a:r>
              <a:rPr lang="en-US" sz="2400" dirty="0" err="1"/>
              <a:t>ikut</a:t>
            </a:r>
            <a:r>
              <a:rPr lang="en-US" sz="2400" dirty="0"/>
              <a:t> </a:t>
            </a:r>
            <a:r>
              <a:rPr lang="en-US" sz="2400" dirty="0" err="1"/>
              <a:t>memengaruhi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bebas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pengaruhnya</a:t>
            </a:r>
            <a:r>
              <a:rPr lang="en-US" sz="2400" dirty="0"/>
              <a:t> </a:t>
            </a:r>
            <a:r>
              <a:rPr lang="en-US" sz="2400" dirty="0" err="1"/>
              <a:t>dikontrol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 smtClean="0"/>
              <a:t>dinetralisir</a:t>
            </a:r>
            <a:endParaRPr lang="en-US" sz="2400" dirty="0" smtClean="0"/>
          </a:p>
          <a:p>
            <a:r>
              <a:rPr lang="en-US" sz="2400" dirty="0" err="1" smtClean="0"/>
              <a:t>Contoh</a:t>
            </a:r>
            <a:r>
              <a:rPr lang="en-US" sz="2400" dirty="0" smtClean="0"/>
              <a:t> :</a:t>
            </a:r>
          </a:p>
          <a:p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mengontrol</a:t>
            </a:r>
            <a:r>
              <a:rPr lang="en-US" sz="2400" dirty="0" smtClean="0"/>
              <a:t> </a:t>
            </a:r>
            <a:r>
              <a:rPr lang="en-US" sz="2400" dirty="0" err="1" smtClean="0"/>
              <a:t>berat</a:t>
            </a:r>
            <a:r>
              <a:rPr lang="en-US" sz="2400" dirty="0" smtClean="0"/>
              <a:t> </a:t>
            </a:r>
            <a:r>
              <a:rPr lang="en-US" sz="2400" dirty="0" err="1" smtClean="0"/>
              <a:t>badan</a:t>
            </a:r>
            <a:r>
              <a:rPr lang="en-US" sz="2400" dirty="0" smtClean="0"/>
              <a:t> </a:t>
            </a:r>
            <a:r>
              <a:rPr lang="en-US" sz="2400" dirty="0" err="1" smtClean="0"/>
              <a:t>maka</a:t>
            </a:r>
            <a:r>
              <a:rPr lang="en-US" sz="2400" dirty="0" smtClean="0"/>
              <a:t> </a:t>
            </a:r>
            <a:r>
              <a:rPr lang="en-US" sz="2400" dirty="0" err="1" smtClean="0"/>
              <a:t>jenis</a:t>
            </a:r>
            <a:r>
              <a:rPr lang="en-US" sz="2400" dirty="0" smtClean="0"/>
              <a:t> </a:t>
            </a:r>
            <a:r>
              <a:rPr lang="en-US" sz="2400" dirty="0" err="1" smtClean="0"/>
              <a:t>makan</a:t>
            </a:r>
            <a:r>
              <a:rPr lang="en-US" sz="2400" dirty="0" smtClean="0"/>
              <a:t> yang </a:t>
            </a:r>
            <a:r>
              <a:rPr lang="en-US" sz="2400" dirty="0" err="1" smtClean="0"/>
              <a:t>dikonsumsi</a:t>
            </a:r>
            <a:r>
              <a:rPr lang="en-US" sz="2400" dirty="0" smtClean="0"/>
              <a:t> </a:t>
            </a:r>
            <a:r>
              <a:rPr lang="en-US" sz="2400" dirty="0" err="1" smtClean="0"/>
              <a:t>sayuran</a:t>
            </a:r>
            <a:r>
              <a:rPr lang="en-US" sz="2400" dirty="0" smtClean="0"/>
              <a:t> </a:t>
            </a:r>
            <a:r>
              <a:rPr lang="en-US" sz="2400" dirty="0" err="1" smtClean="0"/>
              <a:t>atau</a:t>
            </a:r>
            <a:r>
              <a:rPr lang="en-US" sz="2400" dirty="0" smtClean="0"/>
              <a:t> </a:t>
            </a:r>
            <a:r>
              <a:rPr lang="en-US" sz="2400" dirty="0" err="1" smtClean="0"/>
              <a:t>buah</a:t>
            </a:r>
            <a:r>
              <a:rPr lang="en-US" sz="2400" dirty="0" smtClean="0"/>
              <a:t> </a:t>
            </a:r>
            <a:r>
              <a:rPr lang="en-US" sz="2400" dirty="0" err="1" smtClean="0"/>
              <a:t>buhan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4477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JENIS VARIABEL BERDASARKAN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142067"/>
            <a:ext cx="10969387" cy="4135903"/>
          </a:xfrm>
        </p:spPr>
        <p:txBody>
          <a:bodyPr>
            <a:normAutofit fontScale="92500"/>
          </a:bodyPr>
          <a:lstStyle/>
          <a:p>
            <a:pPr marL="177800" indent="-177800">
              <a:buNone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sz="2400" dirty="0" err="1"/>
              <a:t>Variabel</a:t>
            </a:r>
            <a:r>
              <a:rPr lang="en-US" sz="2400" dirty="0"/>
              <a:t> moderator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lain yang </a:t>
            </a:r>
            <a:r>
              <a:rPr lang="en-US" sz="2400" dirty="0" err="1"/>
              <a:t>dianggap</a:t>
            </a:r>
            <a:r>
              <a:rPr lang="en-US" sz="2400" dirty="0"/>
              <a:t> </a:t>
            </a:r>
            <a:r>
              <a:rPr lang="en-US" sz="2400" dirty="0" err="1"/>
              <a:t>berpengaruh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terikat</a:t>
            </a:r>
            <a:r>
              <a:rPr lang="en-US" sz="2400" dirty="0"/>
              <a:t> </a:t>
            </a:r>
            <a:r>
              <a:rPr lang="en-US" sz="2400" dirty="0" err="1"/>
              <a:t>tetapi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pengaruh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. </a:t>
            </a:r>
          </a:p>
          <a:p>
            <a:pPr marL="177800" indent="-177800">
              <a:buNone/>
            </a:pPr>
            <a:r>
              <a:rPr lang="en-US" sz="2400" dirty="0"/>
              <a:t>5. </a:t>
            </a:r>
            <a:r>
              <a:rPr lang="en-US" sz="2400" dirty="0" err="1"/>
              <a:t>Variabel</a:t>
            </a:r>
            <a:r>
              <a:rPr lang="en-US" sz="2400" dirty="0"/>
              <a:t> intervening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yang </a:t>
            </a:r>
            <a:r>
              <a:rPr lang="en-US" sz="2400" dirty="0" err="1"/>
              <a:t>dipengaruhi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bebas</a:t>
            </a:r>
            <a:r>
              <a:rPr lang="en-US" sz="2400" dirty="0"/>
              <a:t> </a:t>
            </a:r>
            <a:r>
              <a:rPr lang="en-US" sz="2400" dirty="0" err="1"/>
              <a:t>kemudian</a:t>
            </a:r>
            <a:r>
              <a:rPr lang="en-US" sz="2400" dirty="0"/>
              <a:t> </a:t>
            </a:r>
            <a:r>
              <a:rPr lang="en-US" sz="2400" dirty="0" err="1"/>
              <a:t>dia</a:t>
            </a:r>
            <a:r>
              <a:rPr lang="en-US" sz="2400" dirty="0"/>
              <a:t> </a:t>
            </a:r>
            <a:r>
              <a:rPr lang="en-US" sz="2400" dirty="0" err="1"/>
              <a:t>memengaruhi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bebas</a:t>
            </a:r>
            <a:r>
              <a:rPr lang="en-US" sz="2400" dirty="0"/>
              <a:t>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diselidiki</a:t>
            </a:r>
            <a:r>
              <a:rPr lang="en-US" sz="2400" dirty="0"/>
              <a:t>, </a:t>
            </a:r>
            <a:r>
              <a:rPr lang="en-US" sz="2400" dirty="0" err="1"/>
              <a:t>hubungan</a:t>
            </a:r>
            <a:r>
              <a:rPr lang="en-US" sz="2400" dirty="0"/>
              <a:t> </a:t>
            </a:r>
            <a:r>
              <a:rPr lang="en-US" sz="2400" dirty="0" err="1"/>
              <a:t>statistik</a:t>
            </a:r>
            <a:r>
              <a:rPr lang="en-US" sz="2400" dirty="0"/>
              <a:t> yang </a:t>
            </a:r>
            <a:r>
              <a:rPr lang="en-US" sz="2400" dirty="0" err="1"/>
              <a:t>semula</a:t>
            </a:r>
            <a:r>
              <a:rPr lang="en-US" sz="2400" dirty="0"/>
              <a:t> </a:t>
            </a:r>
            <a:r>
              <a:rPr lang="en-US" sz="2400" dirty="0" err="1"/>
              <a:t>tampak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bebas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terikat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lemah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bahkan</a:t>
            </a:r>
            <a:r>
              <a:rPr lang="en-US" sz="2400" dirty="0"/>
              <a:t> </a:t>
            </a:r>
            <a:r>
              <a:rPr lang="en-US" sz="2400" dirty="0" err="1"/>
              <a:t>lenyap</a:t>
            </a:r>
            <a:r>
              <a:rPr lang="en-US" sz="2400" dirty="0"/>
              <a:t>. </a:t>
            </a:r>
            <a:endParaRPr lang="en-US" sz="2400" dirty="0" smtClean="0"/>
          </a:p>
          <a:p>
            <a:pPr marL="177800" indent="-177800">
              <a:buNone/>
            </a:pPr>
            <a:r>
              <a:rPr lang="en-US" sz="2400" dirty="0"/>
              <a:t> </a:t>
            </a:r>
            <a:r>
              <a:rPr lang="en-US" sz="2400" dirty="0" smtClean="0"/>
              <a:t>  </a:t>
            </a:r>
            <a:r>
              <a:rPr lang="en-US" sz="2400" dirty="0" err="1" smtClean="0"/>
              <a:t>Contoh</a:t>
            </a:r>
            <a:r>
              <a:rPr lang="en-US" sz="2400" dirty="0" smtClean="0"/>
              <a:t> :  </a:t>
            </a:r>
            <a:r>
              <a:rPr lang="en-US" sz="2400" dirty="0" err="1"/>
              <a:t>sikap</a:t>
            </a:r>
            <a:r>
              <a:rPr lang="en-US" sz="2400" dirty="0"/>
              <a:t> </a:t>
            </a:r>
            <a:r>
              <a:rPr lang="en-US" sz="2400" dirty="0" err="1"/>
              <a:t>positif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mata</a:t>
            </a:r>
            <a:r>
              <a:rPr lang="en-US" sz="2400" dirty="0"/>
              <a:t> </a:t>
            </a:r>
            <a:r>
              <a:rPr lang="en-US" sz="2400" dirty="0" err="1"/>
              <a:t>kuliah</a:t>
            </a:r>
            <a:r>
              <a:rPr lang="en-US" sz="2400" dirty="0"/>
              <a:t> (X)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meningkatkan</a:t>
            </a:r>
            <a:r>
              <a:rPr lang="en-US" sz="2400" dirty="0"/>
              <a:t> </a:t>
            </a:r>
            <a:r>
              <a:rPr lang="en-US" sz="2400" dirty="0" err="1"/>
              <a:t>aktivitas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(Z), </a:t>
            </a:r>
            <a:r>
              <a:rPr lang="en-US" sz="2400" dirty="0" err="1"/>
              <a:t>sementara</a:t>
            </a:r>
            <a:r>
              <a:rPr lang="en-US" sz="2400" dirty="0"/>
              <a:t> </a:t>
            </a:r>
            <a:r>
              <a:rPr lang="en-US" sz="2400" dirty="0" err="1"/>
              <a:t>meningkatnya</a:t>
            </a:r>
            <a:r>
              <a:rPr lang="en-US" sz="2400" dirty="0"/>
              <a:t> </a:t>
            </a:r>
            <a:r>
              <a:rPr lang="en-US" sz="2400" dirty="0" err="1"/>
              <a:t>aktivitas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memengaruhi</a:t>
            </a:r>
            <a:r>
              <a:rPr lang="en-US" sz="2400" dirty="0"/>
              <a:t> </a:t>
            </a:r>
            <a:r>
              <a:rPr lang="en-US" sz="2400" dirty="0" err="1"/>
              <a:t>prestasi</a:t>
            </a:r>
            <a:r>
              <a:rPr lang="en-US" sz="2400" dirty="0"/>
              <a:t> </a:t>
            </a:r>
            <a:r>
              <a:rPr lang="en-US" sz="2400" dirty="0" err="1"/>
              <a:t>akademik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(Y).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aktivitas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intervening,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apabila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aktivitas</a:t>
            </a:r>
            <a:r>
              <a:rPr lang="en-US" sz="2400" dirty="0"/>
              <a:t> </a:t>
            </a:r>
            <a:r>
              <a:rPr lang="en-US" sz="2400" dirty="0" err="1"/>
              <a:t>diselidiki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pengaruh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sikap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lemah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bahkan</a:t>
            </a:r>
            <a:r>
              <a:rPr lang="en-US" sz="2400" dirty="0"/>
              <a:t> </a:t>
            </a:r>
            <a:r>
              <a:rPr lang="en-US" sz="2400" dirty="0" err="1"/>
              <a:t>lenyap</a:t>
            </a:r>
            <a:r>
              <a:rPr lang="en-US" sz="2400" dirty="0"/>
              <a:t> </a:t>
            </a:r>
            <a:r>
              <a:rPr lang="en-US" sz="2400" dirty="0" err="1"/>
              <a:t>pengaruhnya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prestasi</a:t>
            </a:r>
            <a:r>
              <a:rPr lang="en-US" sz="2400" dirty="0"/>
              <a:t> </a:t>
            </a:r>
            <a:r>
              <a:rPr lang="en-US" sz="2400" dirty="0" err="1"/>
              <a:t>akademik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005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C. TEKNIK PENGUMPULAN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91653" y="1842974"/>
            <a:ext cx="110774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1.	</a:t>
            </a:r>
            <a:r>
              <a:rPr lang="en-US" sz="2400" dirty="0" err="1"/>
              <a:t>Wawancara</a:t>
            </a:r>
            <a:r>
              <a:rPr lang="en-US" sz="2400" dirty="0"/>
              <a:t> (interview) </a:t>
            </a:r>
          </a:p>
          <a:p>
            <a:pPr algn="just"/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mengumpulkan</a:t>
            </a:r>
            <a:r>
              <a:rPr lang="en-US" sz="2400" dirty="0"/>
              <a:t> data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mengadakan</a:t>
            </a:r>
            <a:r>
              <a:rPr lang="en-US" sz="2400" dirty="0"/>
              <a:t> </a:t>
            </a:r>
            <a:r>
              <a:rPr lang="en-US" sz="2400" dirty="0" err="1"/>
              <a:t>tatap</a:t>
            </a:r>
            <a:r>
              <a:rPr lang="en-US" sz="2400" dirty="0"/>
              <a:t> </a:t>
            </a:r>
            <a:r>
              <a:rPr lang="en-US" sz="2400" dirty="0" err="1"/>
              <a:t>muka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endParaRPr lang="en-US" sz="2400" dirty="0"/>
          </a:p>
          <a:p>
            <a:pPr algn="just"/>
            <a:r>
              <a:rPr lang="en-US" sz="2400" dirty="0" err="1"/>
              <a:t>langsung</a:t>
            </a:r>
            <a:r>
              <a:rPr lang="en-US" sz="2400" dirty="0"/>
              <a:t>. </a:t>
            </a:r>
            <a:r>
              <a:rPr lang="en-US" sz="2400" dirty="0" err="1"/>
              <a:t>Wawancara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memakai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pedoman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yang </a:t>
            </a:r>
            <a:r>
              <a:rPr lang="en-US" sz="2400" dirty="0" err="1"/>
              <a:t>berisi</a:t>
            </a:r>
            <a:r>
              <a:rPr lang="en-US" sz="2400" dirty="0"/>
              <a:t> </a:t>
            </a:r>
            <a:r>
              <a:rPr lang="en-US" sz="2400" dirty="0" err="1"/>
              <a:t>daftar</a:t>
            </a:r>
            <a:r>
              <a:rPr lang="en-US" sz="2400" dirty="0"/>
              <a:t> </a:t>
            </a:r>
            <a:r>
              <a:rPr lang="en-US" sz="2400" dirty="0" err="1"/>
              <a:t>pertanyaan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 yang </a:t>
            </a:r>
            <a:r>
              <a:rPr lang="en-US" sz="2400" dirty="0" err="1"/>
              <a:t>ingin</a:t>
            </a:r>
            <a:r>
              <a:rPr lang="en-US" sz="2400" dirty="0"/>
              <a:t> </a:t>
            </a:r>
            <a:r>
              <a:rPr lang="en-US" sz="2400" dirty="0" err="1"/>
              <a:t>dicapai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Ada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jenis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</a:t>
            </a:r>
            <a:r>
              <a:rPr lang="en-US" sz="2400" dirty="0" err="1"/>
              <a:t>berstruktur</a:t>
            </a:r>
            <a:r>
              <a:rPr lang="en-US" sz="2400" dirty="0"/>
              <a:t> (structured interview)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berstruktur</a:t>
            </a:r>
            <a:r>
              <a:rPr lang="en-US" sz="2400" dirty="0"/>
              <a:t> (unstructured interview). </a:t>
            </a:r>
            <a:endParaRPr lang="en-US" sz="2400" dirty="0" smtClean="0"/>
          </a:p>
          <a:p>
            <a:pPr algn="just"/>
            <a:r>
              <a:rPr lang="en-US" sz="2400" dirty="0" err="1" smtClean="0"/>
              <a:t>Wawancara</a:t>
            </a:r>
            <a:r>
              <a:rPr lang="en-US" sz="2400" dirty="0" smtClean="0"/>
              <a:t> </a:t>
            </a:r>
            <a:r>
              <a:rPr lang="en-US" sz="2400" dirty="0" err="1"/>
              <a:t>berstruktur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yang </a:t>
            </a:r>
            <a:r>
              <a:rPr lang="en-US" sz="2400" dirty="0" err="1"/>
              <a:t>jenis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sejumlah</a:t>
            </a:r>
            <a:r>
              <a:rPr lang="en-US" sz="2400" dirty="0"/>
              <a:t> </a:t>
            </a:r>
            <a:r>
              <a:rPr lang="en-US" sz="2400" dirty="0" err="1"/>
              <a:t>pertanyaannya</a:t>
            </a:r>
            <a:r>
              <a:rPr lang="en-US" sz="2400" dirty="0"/>
              <a:t>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disusun</a:t>
            </a:r>
            <a:r>
              <a:rPr lang="en-US" sz="2400" dirty="0"/>
              <a:t> </a:t>
            </a:r>
            <a:r>
              <a:rPr lang="en-US" sz="2400" dirty="0" err="1"/>
              <a:t>sebelumnya</a:t>
            </a:r>
            <a:r>
              <a:rPr lang="en-US" sz="2400" dirty="0"/>
              <a:t>, </a:t>
            </a:r>
            <a:endParaRPr lang="en-US" sz="2400" dirty="0" smtClean="0"/>
          </a:p>
          <a:p>
            <a:pPr algn="just"/>
            <a:r>
              <a:rPr lang="en-US" sz="2400" dirty="0" err="1" smtClean="0"/>
              <a:t>wawancara</a:t>
            </a:r>
            <a:r>
              <a:rPr lang="en-US" sz="2400" dirty="0" smtClean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berstruktur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wawancara</a:t>
            </a:r>
            <a:r>
              <a:rPr lang="en-US" sz="2400" dirty="0"/>
              <a:t>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ketat</a:t>
            </a:r>
            <a:r>
              <a:rPr lang="en-US" sz="2400" dirty="0"/>
              <a:t> </a:t>
            </a:r>
            <a:r>
              <a:rPr lang="en-US" sz="2400" dirty="0" err="1"/>
              <a:t>ditentukan</a:t>
            </a:r>
            <a:r>
              <a:rPr lang="en-US" sz="2400" dirty="0"/>
              <a:t> </a:t>
            </a:r>
            <a:r>
              <a:rPr lang="en-US" sz="2400" dirty="0" err="1"/>
              <a:t>sebelumnya</a:t>
            </a:r>
            <a:r>
              <a:rPr lang="en-US" sz="2400" dirty="0"/>
              <a:t>. </a:t>
            </a:r>
            <a:r>
              <a:rPr lang="en-US" sz="2400" dirty="0" err="1"/>
              <a:t>Wawancara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berstruktur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fleksibel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pertanyaannya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dikembangkan</a:t>
            </a:r>
            <a:r>
              <a:rPr lang="en-US" sz="2400" dirty="0"/>
              <a:t> </a:t>
            </a:r>
            <a:r>
              <a:rPr lang="en-US" sz="2400" dirty="0" err="1"/>
              <a:t>meskipun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tetap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pencapaian</a:t>
            </a:r>
            <a:r>
              <a:rPr lang="en-US" sz="2400" dirty="0"/>
              <a:t> </a:t>
            </a:r>
            <a:r>
              <a:rPr lang="en-US" sz="2400" dirty="0" err="1"/>
              <a:t>sasaran</a:t>
            </a:r>
            <a:r>
              <a:rPr lang="en-US" sz="2400" dirty="0"/>
              <a:t> yang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ditentukan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051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6644"/>
            <a:ext cx="10131425" cy="1456267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599870"/>
            <a:ext cx="11324231" cy="5937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err="1"/>
              <a:t>Ciri-ciri</a:t>
            </a:r>
            <a:r>
              <a:rPr lang="en-US" sz="2400" dirty="0"/>
              <a:t> </a:t>
            </a:r>
            <a:r>
              <a:rPr lang="en-US" sz="2400" dirty="0" err="1"/>
              <a:t>pertanyaan</a:t>
            </a:r>
            <a:r>
              <a:rPr lang="en-US" sz="2400" dirty="0"/>
              <a:t> </a:t>
            </a:r>
            <a:r>
              <a:rPr lang="en-US" sz="2400" dirty="0" err="1" smtClean="0"/>
              <a:t>wawancara</a:t>
            </a:r>
            <a:r>
              <a:rPr lang="en-US" sz="2400" dirty="0" smtClean="0"/>
              <a:t> yang 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:</a:t>
            </a:r>
          </a:p>
          <a:p>
            <a:pPr marL="0" indent="0">
              <a:buNone/>
            </a:pPr>
            <a:r>
              <a:rPr lang="en-US" sz="2400" dirty="0"/>
              <a:t>a.	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b.	</a:t>
            </a:r>
            <a:r>
              <a:rPr lang="en-US" sz="2400" dirty="0" err="1"/>
              <a:t>Jelas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meragukan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c.	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menggiring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jawaban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d.	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pengetahuan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pengalaman</a:t>
            </a:r>
            <a:r>
              <a:rPr lang="en-US" sz="2400" dirty="0"/>
              <a:t> orang yang </a:t>
            </a:r>
            <a:r>
              <a:rPr lang="en-US" sz="2400" dirty="0" err="1"/>
              <a:t>diwawancarai</a:t>
            </a:r>
            <a:endParaRPr lang="en-US" sz="2400" dirty="0"/>
          </a:p>
          <a:p>
            <a:pPr marL="457200" indent="-457200">
              <a:buAutoNum type="alphaLcPeriod" startAt="5"/>
            </a:pPr>
            <a:r>
              <a:rPr lang="en-US" sz="2400" dirty="0" err="1" smtClean="0"/>
              <a:t>Pertanyaan</a:t>
            </a:r>
            <a:r>
              <a:rPr lang="en-US" sz="2400" dirty="0" smtClean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yang </a:t>
            </a:r>
            <a:r>
              <a:rPr lang="en-US" sz="2400" dirty="0" err="1"/>
              <a:t>bersifat</a:t>
            </a:r>
            <a:r>
              <a:rPr lang="en-US" sz="2400" dirty="0"/>
              <a:t> </a:t>
            </a:r>
            <a:r>
              <a:rPr lang="en-US" sz="2400" dirty="0" err="1" smtClean="0"/>
              <a:t>pribadi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2.	</a:t>
            </a:r>
            <a:r>
              <a:rPr lang="en-US" sz="2400" dirty="0" err="1"/>
              <a:t>Kuesioner</a:t>
            </a:r>
            <a:r>
              <a:rPr lang="en-US" sz="2400" dirty="0"/>
              <a:t> (</a:t>
            </a:r>
            <a:r>
              <a:rPr lang="en-US" sz="2400" dirty="0" err="1"/>
              <a:t>angket</a:t>
            </a:r>
            <a:r>
              <a:rPr lang="en-US" sz="2400" dirty="0"/>
              <a:t>) </a:t>
            </a:r>
          </a:p>
          <a:p>
            <a:pPr marL="0" indent="0" algn="just">
              <a:buNone/>
            </a:pP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mengumpulkan</a:t>
            </a:r>
            <a:r>
              <a:rPr lang="en-US" sz="2400" dirty="0"/>
              <a:t> data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mengirim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kuesioner</a:t>
            </a:r>
            <a:r>
              <a:rPr lang="en-US" sz="2400" dirty="0"/>
              <a:t> yang </a:t>
            </a:r>
            <a:r>
              <a:rPr lang="en-US" sz="2400" dirty="0" err="1"/>
              <a:t>berisi</a:t>
            </a:r>
            <a:r>
              <a:rPr lang="en-US" sz="2400" dirty="0"/>
              <a:t> </a:t>
            </a:r>
            <a:r>
              <a:rPr lang="en-US" sz="2400" dirty="0" err="1"/>
              <a:t>sejumlah</a:t>
            </a:r>
            <a:r>
              <a:rPr lang="en-US" sz="2400" dirty="0"/>
              <a:t> </a:t>
            </a:r>
            <a:r>
              <a:rPr lang="en-US" sz="2400" dirty="0" err="1"/>
              <a:t>pertanyaan</a:t>
            </a:r>
            <a:r>
              <a:rPr lang="en-US" sz="2400" dirty="0"/>
              <a:t>. </a:t>
            </a:r>
            <a:r>
              <a:rPr lang="en-US" sz="2400" dirty="0" err="1"/>
              <a:t>Kelebihannya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skala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, </a:t>
            </a:r>
            <a:r>
              <a:rPr lang="en-US" sz="2400" dirty="0" err="1"/>
              <a:t>biayanya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murah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memperoleh</a:t>
            </a:r>
            <a:r>
              <a:rPr lang="en-US" sz="2400" dirty="0"/>
              <a:t> </a:t>
            </a:r>
            <a:r>
              <a:rPr lang="en-US" sz="2400" dirty="0" err="1"/>
              <a:t>jawaban</a:t>
            </a:r>
            <a:r>
              <a:rPr lang="en-US" sz="2400" dirty="0"/>
              <a:t> yang </a:t>
            </a:r>
            <a:r>
              <a:rPr lang="en-US" sz="2400" dirty="0" err="1"/>
              <a:t>sifatnya</a:t>
            </a:r>
            <a:r>
              <a:rPr lang="en-US" sz="2400" dirty="0"/>
              <a:t> </a:t>
            </a:r>
            <a:r>
              <a:rPr lang="en-US" sz="2400" dirty="0" err="1"/>
              <a:t>pribadi</a:t>
            </a:r>
            <a:r>
              <a:rPr lang="en-US" sz="2400" dirty="0"/>
              <a:t>. </a:t>
            </a:r>
            <a:r>
              <a:rPr lang="en-US" sz="2400" dirty="0" err="1"/>
              <a:t>Kelemahannya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jawaban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akurat</a:t>
            </a:r>
            <a:r>
              <a:rPr lang="en-US" sz="2400" dirty="0"/>
              <a:t>,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pertanyaan</a:t>
            </a:r>
            <a:r>
              <a:rPr lang="en-US" sz="2400" dirty="0"/>
              <a:t> </a:t>
            </a:r>
            <a:r>
              <a:rPr lang="en-US" sz="2400" dirty="0" err="1"/>
              <a:t>terjawab</a:t>
            </a:r>
            <a:r>
              <a:rPr lang="en-US" sz="2400" dirty="0"/>
              <a:t> </a:t>
            </a:r>
            <a:r>
              <a:rPr lang="en-US" sz="2400" dirty="0" err="1"/>
              <a:t>bahkan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lembar</a:t>
            </a:r>
            <a:r>
              <a:rPr lang="en-US" sz="2400" dirty="0"/>
              <a:t> </a:t>
            </a:r>
            <a:r>
              <a:rPr lang="en-US" sz="2400" dirty="0" err="1"/>
              <a:t>jawaban</a:t>
            </a:r>
            <a:r>
              <a:rPr lang="en-US" sz="2400" dirty="0"/>
              <a:t> </a:t>
            </a:r>
            <a:r>
              <a:rPr lang="en-US" sz="2400" dirty="0" err="1"/>
              <a:t>dikembalikan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076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490688"/>
            <a:ext cx="10519011" cy="60465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</a:t>
            </a:r>
            <a:r>
              <a:rPr lang="en-US" sz="2400" dirty="0"/>
              <a:t>.	</a:t>
            </a:r>
            <a:r>
              <a:rPr lang="en-US" sz="2400" dirty="0" err="1"/>
              <a:t>Observasi</a:t>
            </a:r>
            <a:r>
              <a:rPr lang="en-US" sz="2400" dirty="0"/>
              <a:t> (</a:t>
            </a:r>
            <a:r>
              <a:rPr lang="en-US" sz="2400" dirty="0" err="1"/>
              <a:t>pengamatan</a:t>
            </a:r>
            <a:r>
              <a:rPr lang="en-US" sz="2400" dirty="0"/>
              <a:t>) </a:t>
            </a:r>
          </a:p>
          <a:p>
            <a:pPr marL="395288" indent="0">
              <a:buNone/>
            </a:pP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mengumpulkan</a:t>
            </a:r>
            <a:r>
              <a:rPr lang="en-US" sz="2400" dirty="0"/>
              <a:t> data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mengamati</a:t>
            </a:r>
            <a:r>
              <a:rPr lang="en-US" sz="2400" dirty="0"/>
              <a:t> </a:t>
            </a:r>
            <a:r>
              <a:rPr lang="en-US" sz="2400" dirty="0" err="1"/>
              <a:t>obyek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kejadian</a:t>
            </a:r>
            <a:r>
              <a:rPr lang="en-US" sz="2400" dirty="0"/>
              <a:t> 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, </a:t>
            </a:r>
            <a:r>
              <a:rPr lang="en-US" sz="2400" dirty="0" err="1"/>
              <a:t>benda</a:t>
            </a:r>
            <a:r>
              <a:rPr lang="en-US" sz="2400" dirty="0"/>
              <a:t> </a:t>
            </a:r>
            <a:r>
              <a:rPr lang="en-US" sz="2400" dirty="0" err="1"/>
              <a:t>mati</a:t>
            </a:r>
            <a:r>
              <a:rPr lang="en-US" sz="2400" dirty="0"/>
              <a:t> </a:t>
            </a:r>
            <a:r>
              <a:rPr lang="en-US" sz="2400" dirty="0" err="1"/>
              <a:t>maupun</a:t>
            </a:r>
            <a:r>
              <a:rPr lang="en-US" sz="2400" dirty="0"/>
              <a:t> </a:t>
            </a:r>
            <a:r>
              <a:rPr lang="en-US" sz="2400" dirty="0" err="1"/>
              <a:t>gejala</a:t>
            </a:r>
            <a:r>
              <a:rPr lang="en-US" sz="2400" dirty="0"/>
              <a:t> </a:t>
            </a:r>
            <a:r>
              <a:rPr lang="en-US" sz="2400" dirty="0" err="1"/>
              <a:t>alam</a:t>
            </a:r>
            <a:r>
              <a:rPr lang="en-US" sz="2400" dirty="0"/>
              <a:t>. Data yang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sikap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perilaku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, </a:t>
            </a:r>
            <a:r>
              <a:rPr lang="en-US" sz="2400" dirty="0" err="1"/>
              <a:t>benda</a:t>
            </a:r>
            <a:r>
              <a:rPr lang="en-US" sz="2400" dirty="0"/>
              <a:t> </a:t>
            </a:r>
            <a:r>
              <a:rPr lang="en-US" sz="2400" dirty="0" err="1"/>
              <a:t>mati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gejala</a:t>
            </a:r>
            <a:r>
              <a:rPr lang="en-US" sz="2400" dirty="0"/>
              <a:t> </a:t>
            </a:r>
            <a:r>
              <a:rPr lang="en-US" sz="2400" dirty="0" err="1"/>
              <a:t>alam</a:t>
            </a:r>
            <a:r>
              <a:rPr lang="en-US" sz="2400" dirty="0"/>
              <a:t>. </a:t>
            </a:r>
            <a:r>
              <a:rPr lang="en-US" sz="2400" dirty="0" err="1"/>
              <a:t>Kebaikan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observasi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data yang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dipercaya</a:t>
            </a:r>
            <a:r>
              <a:rPr lang="en-US" sz="2400" dirty="0"/>
              <a:t>. </a:t>
            </a:r>
            <a:r>
              <a:rPr lang="en-US" sz="2400" dirty="0" err="1"/>
              <a:t>Kelemahannya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kesalahan</a:t>
            </a:r>
            <a:r>
              <a:rPr lang="en-US" sz="2400" dirty="0"/>
              <a:t> </a:t>
            </a:r>
            <a:r>
              <a:rPr lang="en-US" sz="2400" dirty="0" err="1"/>
              <a:t>interpretasi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kejadian</a:t>
            </a:r>
            <a:r>
              <a:rPr lang="en-US" sz="2400" dirty="0"/>
              <a:t> yang </a:t>
            </a:r>
            <a:r>
              <a:rPr lang="en-US" sz="2400" dirty="0" err="1"/>
              <a:t>diamati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	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Skala</a:t>
            </a:r>
            <a:r>
              <a:rPr lang="en-US" sz="2600" dirty="0"/>
              <a:t> </a:t>
            </a:r>
            <a:r>
              <a:rPr lang="en-US" sz="2600" dirty="0" err="1"/>
              <a:t>Obyektif</a:t>
            </a:r>
            <a:r>
              <a:rPr lang="en-US" sz="2600" dirty="0"/>
              <a:t> </a:t>
            </a:r>
          </a:p>
          <a:p>
            <a:pPr marL="0" indent="0">
              <a:buNone/>
            </a:pPr>
            <a:r>
              <a:rPr lang="en-US" sz="2600" dirty="0" err="1"/>
              <a:t>adalah</a:t>
            </a:r>
            <a:r>
              <a:rPr lang="en-US" sz="2600" dirty="0"/>
              <a:t> </a:t>
            </a:r>
            <a:r>
              <a:rPr lang="en-US" sz="2600" dirty="0" err="1"/>
              <a:t>cara</a:t>
            </a:r>
            <a:r>
              <a:rPr lang="en-US" sz="2600" dirty="0"/>
              <a:t> </a:t>
            </a:r>
            <a:r>
              <a:rPr lang="en-US" sz="2600" dirty="0" err="1"/>
              <a:t>mengumpulkan</a:t>
            </a:r>
            <a:r>
              <a:rPr lang="en-US" sz="2600" dirty="0"/>
              <a:t> data 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memberikan</a:t>
            </a:r>
            <a:r>
              <a:rPr lang="en-US" sz="2600" dirty="0"/>
              <a:t>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kepada</a:t>
            </a:r>
            <a:r>
              <a:rPr lang="en-US" sz="2600" dirty="0"/>
              <a:t> </a:t>
            </a:r>
            <a:r>
              <a:rPr lang="en-US" sz="2600" dirty="0" err="1"/>
              <a:t>obyek</a:t>
            </a:r>
            <a:r>
              <a:rPr lang="en-US" sz="2600" dirty="0"/>
              <a:t> yang </a:t>
            </a:r>
            <a:r>
              <a:rPr lang="en-US" sz="2600" dirty="0" err="1"/>
              <a:t>diteliti</a:t>
            </a:r>
            <a:r>
              <a:rPr lang="en-US" sz="2600" dirty="0"/>
              <a:t>. Cara </a:t>
            </a:r>
            <a:r>
              <a:rPr lang="en-US" sz="2600" dirty="0" err="1"/>
              <a:t>ini</a:t>
            </a:r>
            <a:r>
              <a:rPr lang="en-US" sz="2600" dirty="0"/>
              <a:t> </a:t>
            </a:r>
            <a:r>
              <a:rPr lang="en-US" sz="2600" dirty="0" err="1"/>
              <a:t>banyak</a:t>
            </a:r>
            <a:r>
              <a:rPr lang="en-US" sz="2600" dirty="0"/>
              <a:t> </a:t>
            </a:r>
            <a:r>
              <a:rPr lang="en-US" sz="2600" dirty="0" err="1"/>
              <a:t>dilakukan</a:t>
            </a:r>
            <a:r>
              <a:rPr lang="en-US" sz="2600" dirty="0"/>
              <a:t> </a:t>
            </a:r>
            <a:r>
              <a:rPr lang="en-US" sz="2600" dirty="0" err="1"/>
              <a:t>pada</a:t>
            </a:r>
            <a:r>
              <a:rPr lang="en-US" sz="2600" dirty="0"/>
              <a:t>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psikologi</a:t>
            </a:r>
            <a:r>
              <a:rPr lang="en-US" sz="2600" dirty="0"/>
              <a:t>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mengukur</a:t>
            </a:r>
            <a:r>
              <a:rPr lang="en-US" sz="2600" dirty="0"/>
              <a:t> </a:t>
            </a:r>
            <a:r>
              <a:rPr lang="en-US" sz="2600" dirty="0" err="1"/>
              <a:t>karakteristik</a:t>
            </a:r>
            <a:r>
              <a:rPr lang="en-US" sz="2600" dirty="0"/>
              <a:t> </a:t>
            </a:r>
            <a:r>
              <a:rPr lang="en-US" sz="2600" dirty="0" err="1"/>
              <a:t>kepribadian</a:t>
            </a:r>
            <a:r>
              <a:rPr lang="en-US" sz="2600" dirty="0"/>
              <a:t> </a:t>
            </a:r>
            <a:r>
              <a:rPr lang="en-US" sz="2600" dirty="0" err="1"/>
              <a:t>seseorang</a:t>
            </a:r>
            <a:r>
              <a:rPr lang="en-US" sz="2600" dirty="0"/>
              <a:t>. </a:t>
            </a:r>
            <a:r>
              <a:rPr lang="en-US" sz="2600" dirty="0" err="1"/>
              <a:t>Beberapa</a:t>
            </a:r>
            <a:r>
              <a:rPr lang="en-US" sz="2600" dirty="0"/>
              <a:t> </a:t>
            </a:r>
            <a:r>
              <a:rPr lang="en-US" sz="2600" dirty="0" err="1"/>
              <a:t>contoh</a:t>
            </a:r>
            <a:r>
              <a:rPr lang="en-US" sz="2600" dirty="0"/>
              <a:t>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skala</a:t>
            </a:r>
            <a:r>
              <a:rPr lang="en-US" sz="2600" dirty="0"/>
              <a:t> </a:t>
            </a:r>
            <a:r>
              <a:rPr lang="en-US" sz="2600" dirty="0" err="1"/>
              <a:t>obyektif</a:t>
            </a:r>
            <a:r>
              <a:rPr lang="en-US" sz="2600" dirty="0"/>
              <a:t> </a:t>
            </a:r>
            <a:r>
              <a:rPr lang="en-US" sz="2600" dirty="0" err="1"/>
              <a:t>yaitu</a:t>
            </a:r>
            <a:r>
              <a:rPr lang="en-US" sz="2600" dirty="0"/>
              <a:t> :</a:t>
            </a:r>
          </a:p>
          <a:p>
            <a:pPr marL="0" indent="0">
              <a:buNone/>
            </a:pPr>
            <a:r>
              <a:rPr lang="en-US" sz="2600" dirty="0"/>
              <a:t>	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kecerdasan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bakat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/>
              <a:t>	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kepribadian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/>
              <a:t>	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sikap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/>
              <a:t>	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tentang</a:t>
            </a:r>
            <a:r>
              <a:rPr lang="en-US" sz="2600" dirty="0"/>
              <a:t> </a:t>
            </a:r>
            <a:r>
              <a:rPr lang="en-US" sz="2600" dirty="0" err="1"/>
              <a:t>nilai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/>
              <a:t>	 </a:t>
            </a:r>
            <a:r>
              <a:rPr lang="en-US" sz="2600" dirty="0" err="1"/>
              <a:t>Tes</a:t>
            </a:r>
            <a:r>
              <a:rPr lang="en-US" sz="2600" dirty="0"/>
              <a:t> </a:t>
            </a:r>
            <a:r>
              <a:rPr lang="en-US" sz="2600" dirty="0" err="1"/>
              <a:t>prestasi</a:t>
            </a:r>
            <a:r>
              <a:rPr lang="en-US" sz="2600" dirty="0"/>
              <a:t> </a:t>
            </a:r>
            <a:r>
              <a:rPr lang="en-US" sz="2600" dirty="0" err="1"/>
              <a:t>belajar</a:t>
            </a:r>
            <a:r>
              <a:rPr lang="en-US" sz="2600" dirty="0"/>
              <a:t>, </a:t>
            </a:r>
            <a:r>
              <a:rPr lang="en-US" sz="2600" dirty="0" err="1"/>
              <a:t>dsb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252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927417"/>
            <a:ext cx="10131425" cy="3649133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/>
              <a:t>5.	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proyektif</a:t>
            </a:r>
            <a:r>
              <a:rPr lang="en-US" sz="2800" dirty="0"/>
              <a:t> </a:t>
            </a:r>
          </a:p>
          <a:p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mengumpulkan</a:t>
            </a:r>
            <a:r>
              <a:rPr lang="en-US" sz="2800" dirty="0"/>
              <a:t> data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mengamati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menganalisis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obyek</a:t>
            </a:r>
            <a:r>
              <a:rPr lang="en-US" sz="2800" dirty="0"/>
              <a:t> </a:t>
            </a:r>
            <a:r>
              <a:rPr lang="en-US" sz="2800" dirty="0" err="1"/>
              <a:t>melalui</a:t>
            </a:r>
            <a:r>
              <a:rPr lang="en-US" sz="2800" dirty="0"/>
              <a:t> </a:t>
            </a:r>
            <a:r>
              <a:rPr lang="en-US" sz="2800" dirty="0" err="1"/>
              <a:t>ekspresi</a:t>
            </a:r>
            <a:r>
              <a:rPr lang="en-US" sz="2800" dirty="0"/>
              <a:t> </a:t>
            </a:r>
            <a:r>
              <a:rPr lang="en-US" sz="2800" dirty="0" err="1"/>
              <a:t>luar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obyek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bentuk</a:t>
            </a:r>
            <a:r>
              <a:rPr lang="en-US" sz="2800" dirty="0"/>
              <a:t> </a:t>
            </a:r>
            <a:r>
              <a:rPr lang="en-US" sz="2800" dirty="0" err="1"/>
              <a:t>karya</a:t>
            </a:r>
            <a:r>
              <a:rPr lang="en-US" sz="2800" dirty="0"/>
              <a:t> </a:t>
            </a:r>
            <a:r>
              <a:rPr lang="en-US" sz="2800" dirty="0" err="1"/>
              <a:t>lukisan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tulisan</a:t>
            </a:r>
            <a:r>
              <a:rPr lang="en-US" sz="2800" dirty="0"/>
              <a:t>.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dipakai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psikologi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mengetahui</a:t>
            </a:r>
            <a:r>
              <a:rPr lang="en-US" sz="2800" dirty="0"/>
              <a:t> </a:t>
            </a:r>
            <a:r>
              <a:rPr lang="en-US" sz="2800" dirty="0" err="1"/>
              <a:t>sikap</a:t>
            </a:r>
            <a:r>
              <a:rPr lang="en-US" sz="2800" dirty="0"/>
              <a:t>, </a:t>
            </a:r>
            <a:r>
              <a:rPr lang="en-US" sz="2800" dirty="0" err="1"/>
              <a:t>emosi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kepribadian</a:t>
            </a:r>
            <a:r>
              <a:rPr lang="en-US" sz="2800" dirty="0"/>
              <a:t> </a:t>
            </a:r>
            <a:r>
              <a:rPr lang="en-US" sz="2800" dirty="0" err="1"/>
              <a:t>seseorang</a:t>
            </a:r>
            <a:r>
              <a:rPr lang="en-US" sz="2800" dirty="0"/>
              <a:t>. </a:t>
            </a:r>
            <a:r>
              <a:rPr lang="en-US" sz="2800" dirty="0" err="1"/>
              <a:t>Kelemahan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obyek</a:t>
            </a:r>
            <a:r>
              <a:rPr lang="en-US" sz="2800" dirty="0"/>
              <a:t> yang </a:t>
            </a:r>
            <a:r>
              <a:rPr lang="en-US" sz="2800" dirty="0" err="1"/>
              <a:t>sama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disimpulkan</a:t>
            </a:r>
            <a:r>
              <a:rPr lang="en-US" sz="2800" dirty="0"/>
              <a:t> </a:t>
            </a:r>
            <a:r>
              <a:rPr lang="en-US" sz="2800" dirty="0" err="1"/>
              <a:t>berbeda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pengamat</a:t>
            </a:r>
            <a:r>
              <a:rPr lang="en-US" sz="2800" dirty="0"/>
              <a:t> yang </a:t>
            </a:r>
            <a:r>
              <a:rPr lang="en-US" sz="2800" dirty="0" err="1"/>
              <a:t>berbeda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80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D. PENGUKURAN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00873"/>
            <a:ext cx="10983036" cy="3589994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kegiatan</a:t>
            </a:r>
            <a:r>
              <a:rPr lang="en-US" sz="2400" dirty="0"/>
              <a:t> </a:t>
            </a:r>
            <a:r>
              <a:rPr lang="en-US" sz="2400" dirty="0" err="1"/>
              <a:t>awal</a:t>
            </a:r>
            <a:r>
              <a:rPr lang="en-US" sz="2400" dirty="0"/>
              <a:t> yang paling </a:t>
            </a:r>
            <a:r>
              <a:rPr lang="en-US" sz="2400" dirty="0" err="1"/>
              <a:t>penting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analisis</a:t>
            </a:r>
            <a:r>
              <a:rPr lang="en-US" sz="2400" dirty="0"/>
              <a:t> </a:t>
            </a:r>
            <a:r>
              <a:rPr lang="en-US" sz="2400" dirty="0" err="1"/>
              <a:t>statistika</a:t>
            </a:r>
            <a:r>
              <a:rPr lang="en-US" sz="2400" dirty="0"/>
              <a:t>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diartikan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penentuan</a:t>
            </a:r>
            <a:r>
              <a:rPr lang="en-US" sz="2400" dirty="0"/>
              <a:t> </a:t>
            </a:r>
            <a:r>
              <a:rPr lang="en-US" sz="2400" dirty="0" err="1"/>
              <a:t>atribut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variasi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taraf</a:t>
            </a:r>
            <a:r>
              <a:rPr lang="en-US" sz="2400" dirty="0"/>
              <a:t> </a:t>
            </a:r>
            <a:r>
              <a:rPr lang="en-US" sz="2400" dirty="0" err="1"/>
              <a:t>ukuran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diukur</a:t>
            </a:r>
            <a:r>
              <a:rPr lang="en-US" sz="2400" dirty="0"/>
              <a:t>. </a:t>
            </a:r>
            <a:r>
              <a:rPr lang="en-US" sz="2400" dirty="0" err="1"/>
              <a:t>Atribut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variasi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diperoleh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pengamatan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subjek</a:t>
            </a:r>
            <a:r>
              <a:rPr lang="en-US" sz="2400" dirty="0"/>
              <a:t> </a:t>
            </a:r>
            <a:r>
              <a:rPr lang="en-US" sz="2400" dirty="0" err="1" smtClean="0"/>
              <a:t>atau</a:t>
            </a:r>
            <a:r>
              <a:rPr lang="en-US" sz="2400" dirty="0" smtClean="0"/>
              <a:t> </a:t>
            </a:r>
            <a:r>
              <a:rPr lang="en-US" sz="2400" dirty="0" err="1" smtClean="0"/>
              <a:t>satuan-satuan</a:t>
            </a:r>
            <a:r>
              <a:rPr lang="en-US" sz="2400" dirty="0" smtClean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indikator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satuan-satuan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 </a:t>
            </a:r>
            <a:endParaRPr lang="en-US" sz="2400" dirty="0" smtClean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05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SKALA PENGUKURAN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	</a:t>
            </a:r>
            <a:r>
              <a:rPr lang="en-US" sz="2400" dirty="0" err="1"/>
              <a:t>Skala</a:t>
            </a:r>
            <a:r>
              <a:rPr lang="en-US" sz="2400" dirty="0"/>
              <a:t> nominal </a:t>
            </a:r>
          </a:p>
          <a:p>
            <a:pPr marL="0" indent="0">
              <a:buNone/>
            </a:pP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skala</a:t>
            </a:r>
            <a:r>
              <a:rPr lang="en-US" sz="2400" dirty="0"/>
              <a:t> yang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ciri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membedakan</a:t>
            </a:r>
            <a:r>
              <a:rPr lang="en-US" sz="2400" dirty="0"/>
              <a:t> </a:t>
            </a:r>
            <a:r>
              <a:rPr lang="en-US" sz="2400" dirty="0" err="1"/>
              <a:t>skala</a:t>
            </a:r>
            <a:r>
              <a:rPr lang="en-US" sz="2400" dirty="0"/>
              <a:t> </a:t>
            </a:r>
            <a:r>
              <a:rPr lang="en-US" sz="2400" dirty="0" err="1"/>
              <a:t>ukur</a:t>
            </a:r>
            <a:r>
              <a:rPr lang="en-US" sz="2400" dirty="0"/>
              <a:t> yang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yang lain.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20596"/>
              </p:ext>
            </p:extLst>
          </p:nvPr>
        </p:nvGraphicFramePr>
        <p:xfrm>
          <a:off x="2171120" y="3473799"/>
          <a:ext cx="6658982" cy="309981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249583"/>
                <a:gridCol w="3409399"/>
              </a:tblGrid>
              <a:tr h="5386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Buah Diproduksi </a:t>
                      </a: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suatu Daerah pada Tahun </a:t>
                      </a:r>
                      <a:r>
                        <a:rPr lang="pt-BR" sz="18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55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Jenis Buah-Buahan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5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Pepaya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ton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5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Mangga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 ton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5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Apel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ton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5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Duku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1,4 ton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5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Manggis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1,3 ton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050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871"/>
            <a:ext cx="10131425" cy="1082723"/>
          </a:xfrm>
        </p:spPr>
        <p:txBody>
          <a:bodyPr/>
          <a:lstStyle/>
          <a:p>
            <a:r>
              <a:rPr lang="en-US" dirty="0" smtClean="0"/>
              <a:t>SKALA PENGUKURAN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473326"/>
            <a:ext cx="10131425" cy="36491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	</a:t>
            </a:r>
            <a:r>
              <a:rPr lang="en-US" sz="2400" dirty="0" err="1"/>
              <a:t>Skala</a:t>
            </a:r>
            <a:r>
              <a:rPr lang="en-US" sz="2400" dirty="0"/>
              <a:t> Ordinal </a:t>
            </a:r>
          </a:p>
          <a:p>
            <a:pPr marL="0" indent="0">
              <a:buNone/>
            </a:pP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skala</a:t>
            </a:r>
            <a:r>
              <a:rPr lang="en-US" sz="2400" dirty="0"/>
              <a:t> yang </a:t>
            </a:r>
            <a:r>
              <a:rPr lang="en-US" sz="2400" dirty="0" err="1"/>
              <a:t>selain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ciri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membedakan</a:t>
            </a:r>
            <a:r>
              <a:rPr lang="en-US" sz="2400" dirty="0"/>
              <a:t> juga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ciri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mengurutkan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rentang</a:t>
            </a:r>
            <a:r>
              <a:rPr lang="en-US" sz="2400" dirty="0"/>
              <a:t> </a:t>
            </a:r>
            <a:r>
              <a:rPr lang="en-US" sz="2400" dirty="0" err="1" smtClean="0"/>
              <a:t>tertentu</a:t>
            </a:r>
            <a:endParaRPr lang="en-US" sz="2400" dirty="0" smtClean="0"/>
          </a:p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: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457573"/>
              </p:ext>
            </p:extLst>
          </p:nvPr>
        </p:nvGraphicFramePr>
        <p:xfrm>
          <a:off x="1944109" y="2608872"/>
          <a:ext cx="6039831" cy="362815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062194"/>
                <a:gridCol w="2977637"/>
              </a:tblGrid>
              <a:tr h="107710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Penilaian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Anggota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Kelompok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Belajar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“ </a:t>
                      </a:r>
                      <a:r>
                        <a:rPr lang="en-US" sz="16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Safin Bina 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Bangsa</a:t>
                      </a:r>
                      <a:r>
                        <a:rPr lang="en-US" sz="16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“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51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Kategori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Nilai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Banyaknya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Istimewa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 orang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Baik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 orang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Rata-rata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 orang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Kurang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 orang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Kurang sekali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orang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41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323" y="81255"/>
            <a:ext cx="10131425" cy="1456267"/>
          </a:xfrm>
        </p:spPr>
        <p:txBody>
          <a:bodyPr/>
          <a:lstStyle/>
          <a:p>
            <a:r>
              <a:rPr lang="en-US" dirty="0" smtClean="0"/>
              <a:t>SKALA PENGUKURAN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22" y="1537522"/>
            <a:ext cx="11160457" cy="4849630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3.	</a:t>
            </a:r>
            <a:r>
              <a:rPr lang="en-US" sz="2600" dirty="0" err="1"/>
              <a:t>Skala</a:t>
            </a:r>
            <a:r>
              <a:rPr lang="en-US" sz="2600" dirty="0"/>
              <a:t> Interval </a:t>
            </a:r>
          </a:p>
          <a:p>
            <a:pPr marL="395288" indent="0">
              <a:buNone/>
            </a:pPr>
            <a:r>
              <a:rPr lang="en-US" sz="2600" dirty="0" smtClean="0"/>
              <a:t> </a:t>
            </a:r>
            <a:r>
              <a:rPr lang="en-US" sz="2600" dirty="0" err="1" smtClean="0"/>
              <a:t>adalah</a:t>
            </a:r>
            <a:r>
              <a:rPr lang="en-US" sz="2600" dirty="0" smtClean="0"/>
              <a:t> </a:t>
            </a:r>
            <a:r>
              <a:rPr lang="en-US" sz="2600" dirty="0" err="1"/>
              <a:t>skala</a:t>
            </a:r>
            <a:r>
              <a:rPr lang="en-US" sz="2600" dirty="0"/>
              <a:t> yang </a:t>
            </a:r>
            <a:r>
              <a:rPr lang="en-US" sz="2600" dirty="0" err="1"/>
              <a:t>mempunyai</a:t>
            </a:r>
            <a:r>
              <a:rPr lang="en-US" sz="2600" dirty="0"/>
              <a:t> </a:t>
            </a:r>
            <a:r>
              <a:rPr lang="en-US" sz="2600" dirty="0" err="1"/>
              <a:t>ciri</a:t>
            </a:r>
            <a:r>
              <a:rPr lang="en-US" sz="2600" dirty="0"/>
              <a:t> </a:t>
            </a:r>
            <a:r>
              <a:rPr lang="en-US" sz="2600" dirty="0" err="1"/>
              <a:t>untuk</a:t>
            </a:r>
            <a:r>
              <a:rPr lang="en-US" sz="2600" dirty="0"/>
              <a:t> </a:t>
            </a:r>
            <a:r>
              <a:rPr lang="en-US" sz="2600" dirty="0" err="1"/>
              <a:t>membedakan</a:t>
            </a:r>
            <a:r>
              <a:rPr lang="en-US" sz="2600" dirty="0"/>
              <a:t>, </a:t>
            </a:r>
            <a:r>
              <a:rPr lang="en-US" sz="2600" dirty="0" err="1"/>
              <a:t>mengurutkan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mempunyai</a:t>
            </a:r>
            <a:r>
              <a:rPr lang="en-US" sz="2600" dirty="0"/>
              <a:t> </a:t>
            </a:r>
            <a:r>
              <a:rPr lang="en-US" sz="2600" dirty="0" err="1"/>
              <a:t>ciri</a:t>
            </a:r>
            <a:r>
              <a:rPr lang="en-US" sz="2600" dirty="0"/>
              <a:t> </a:t>
            </a:r>
            <a:r>
              <a:rPr lang="en-US" sz="2600" dirty="0" err="1"/>
              <a:t>jarak</a:t>
            </a:r>
            <a:r>
              <a:rPr lang="en-US" sz="2600" dirty="0"/>
              <a:t> yang </a:t>
            </a:r>
            <a:r>
              <a:rPr lang="en-US" sz="2600" dirty="0" err="1"/>
              <a:t>sama</a:t>
            </a:r>
            <a:r>
              <a:rPr lang="en-US" sz="2600" dirty="0"/>
              <a:t>. </a:t>
            </a:r>
            <a:r>
              <a:rPr lang="en-US" sz="2600" dirty="0" err="1"/>
              <a:t>Contoh</a:t>
            </a:r>
            <a:r>
              <a:rPr lang="en-US" sz="2600" dirty="0"/>
              <a:t>, </a:t>
            </a:r>
            <a:r>
              <a:rPr lang="en-US" sz="2600" dirty="0" err="1"/>
              <a:t>suhu</a:t>
            </a:r>
            <a:r>
              <a:rPr lang="en-US" sz="2600" dirty="0"/>
              <a:t> </a:t>
            </a:r>
            <a:r>
              <a:rPr lang="en-US" sz="2600" dirty="0" err="1"/>
              <a:t>tertinggi</a:t>
            </a:r>
            <a:r>
              <a:rPr lang="en-US" sz="2600" dirty="0"/>
              <a:t> </a:t>
            </a:r>
            <a:r>
              <a:rPr lang="en-US" sz="2600" dirty="0" err="1"/>
              <a:t>pada</a:t>
            </a:r>
            <a:r>
              <a:rPr lang="en-US" sz="2600" dirty="0"/>
              <a:t> </a:t>
            </a:r>
            <a:r>
              <a:rPr lang="en-US" sz="2600" dirty="0" err="1"/>
              <a:t>bulan</a:t>
            </a:r>
            <a:r>
              <a:rPr lang="en-US" sz="2600" dirty="0"/>
              <a:t> </a:t>
            </a:r>
            <a:r>
              <a:rPr lang="en-US" sz="2600" dirty="0" err="1"/>
              <a:t>Desember</a:t>
            </a:r>
            <a:r>
              <a:rPr lang="en-US" sz="2600" dirty="0"/>
              <a:t> </a:t>
            </a:r>
            <a:r>
              <a:rPr lang="en-US" sz="2600" dirty="0" err="1"/>
              <a:t>dikota</a:t>
            </a:r>
            <a:r>
              <a:rPr lang="en-US" sz="2600" dirty="0"/>
              <a:t> A, B </a:t>
            </a:r>
            <a:r>
              <a:rPr lang="en-US" sz="2600" dirty="0" err="1"/>
              <a:t>dan</a:t>
            </a:r>
            <a:r>
              <a:rPr lang="en-US" sz="2600" dirty="0"/>
              <a:t> C </a:t>
            </a:r>
            <a:r>
              <a:rPr lang="en-US" sz="2600" dirty="0" err="1"/>
              <a:t>berturut-turut</a:t>
            </a:r>
            <a:r>
              <a:rPr lang="en-US" sz="2600" dirty="0"/>
              <a:t> </a:t>
            </a:r>
            <a:r>
              <a:rPr lang="en-US" sz="2600" dirty="0" err="1"/>
              <a:t>adalah</a:t>
            </a:r>
            <a:r>
              <a:rPr lang="en-US" sz="2600" dirty="0"/>
              <a:t> 28, 31 </a:t>
            </a:r>
            <a:r>
              <a:rPr lang="en-US" sz="2600" dirty="0" err="1"/>
              <a:t>dan</a:t>
            </a:r>
            <a:r>
              <a:rPr lang="en-US" sz="2600" dirty="0"/>
              <a:t> 20 </a:t>
            </a:r>
            <a:r>
              <a:rPr lang="en-US" sz="2600" dirty="0" err="1"/>
              <a:t>derajat</a:t>
            </a:r>
            <a:r>
              <a:rPr lang="en-US" sz="2600" dirty="0"/>
              <a:t> Fahrenheit. Kita </a:t>
            </a:r>
            <a:r>
              <a:rPr lang="en-US" sz="2600" dirty="0" err="1"/>
              <a:t>dapat</a:t>
            </a:r>
            <a:r>
              <a:rPr lang="en-US" sz="2600" dirty="0"/>
              <a:t> </a:t>
            </a:r>
            <a:r>
              <a:rPr lang="en-US" sz="2600" dirty="0" err="1"/>
              <a:t>membedakan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mengurutkan</a:t>
            </a:r>
            <a:r>
              <a:rPr lang="en-US" sz="2600" dirty="0"/>
              <a:t> </a:t>
            </a:r>
            <a:r>
              <a:rPr lang="en-US" sz="2600" dirty="0" err="1"/>
              <a:t>besarnya</a:t>
            </a:r>
            <a:r>
              <a:rPr lang="en-US" sz="2600" dirty="0"/>
              <a:t> </a:t>
            </a:r>
            <a:r>
              <a:rPr lang="en-US" sz="2600" dirty="0" err="1"/>
              <a:t>suhu</a:t>
            </a:r>
            <a:r>
              <a:rPr lang="en-US" sz="2600" dirty="0"/>
              <a:t>, </a:t>
            </a:r>
            <a:r>
              <a:rPr lang="en-US" sz="2600" dirty="0" err="1"/>
              <a:t>sebab</a:t>
            </a:r>
            <a:r>
              <a:rPr lang="en-US" sz="2600" dirty="0"/>
              <a:t> </a:t>
            </a:r>
            <a:r>
              <a:rPr lang="en-US" sz="2600" dirty="0" err="1"/>
              <a:t>satu</a:t>
            </a:r>
            <a:r>
              <a:rPr lang="en-US" sz="2600" dirty="0"/>
              <a:t> </a:t>
            </a:r>
            <a:r>
              <a:rPr lang="en-US" sz="2600" dirty="0" err="1"/>
              <a:t>derajat</a:t>
            </a:r>
            <a:r>
              <a:rPr lang="en-US" sz="2600" dirty="0"/>
              <a:t> Fahrenheit </a:t>
            </a:r>
            <a:r>
              <a:rPr lang="en-US" sz="2600" dirty="0" err="1"/>
              <a:t>merupakan</a:t>
            </a:r>
            <a:r>
              <a:rPr lang="en-US" sz="2600" dirty="0"/>
              <a:t> </a:t>
            </a:r>
            <a:r>
              <a:rPr lang="en-US" sz="2600" dirty="0" err="1"/>
              <a:t>suatu</a:t>
            </a:r>
            <a:r>
              <a:rPr lang="en-US" sz="2600" dirty="0"/>
              <a:t> </a:t>
            </a:r>
            <a:r>
              <a:rPr lang="en-US" sz="2600" dirty="0" err="1"/>
              <a:t>besaran</a:t>
            </a:r>
            <a:r>
              <a:rPr lang="en-US" sz="2600" dirty="0"/>
              <a:t> yang </a:t>
            </a:r>
            <a:r>
              <a:rPr lang="en-US" sz="2600" dirty="0" err="1"/>
              <a:t>tetap</a:t>
            </a:r>
            <a:r>
              <a:rPr lang="en-US" sz="2600" dirty="0"/>
              <a:t>, </a:t>
            </a:r>
            <a:r>
              <a:rPr lang="en-US" sz="2600" dirty="0" err="1"/>
              <a:t>namun</a:t>
            </a:r>
            <a:r>
              <a:rPr lang="en-US" sz="2600" dirty="0"/>
              <a:t> </a:t>
            </a:r>
            <a:r>
              <a:rPr lang="en-US" sz="2600" dirty="0" err="1"/>
              <a:t>pada</a:t>
            </a:r>
            <a:r>
              <a:rPr lang="en-US" sz="2600" dirty="0"/>
              <a:t> </a:t>
            </a:r>
            <a:r>
              <a:rPr lang="en-US" sz="2600" dirty="0" err="1"/>
              <a:t>saat</a:t>
            </a:r>
            <a:r>
              <a:rPr lang="en-US" sz="2600" dirty="0"/>
              <a:t> </a:t>
            </a:r>
            <a:r>
              <a:rPr lang="en-US" sz="2600" dirty="0" err="1"/>
              <a:t>suhu</a:t>
            </a:r>
            <a:r>
              <a:rPr lang="en-US" sz="2600" dirty="0"/>
              <a:t> </a:t>
            </a:r>
            <a:r>
              <a:rPr lang="en-US" sz="2600" dirty="0" err="1"/>
              <a:t>menunjukkan</a:t>
            </a:r>
            <a:r>
              <a:rPr lang="en-US" sz="2600" dirty="0"/>
              <a:t> </a:t>
            </a:r>
            <a:r>
              <a:rPr lang="en-US" sz="2600" dirty="0" err="1"/>
              <a:t>nol</a:t>
            </a:r>
            <a:r>
              <a:rPr lang="en-US" sz="2600" dirty="0"/>
              <a:t> </a:t>
            </a:r>
            <a:r>
              <a:rPr lang="en-US" sz="2600" dirty="0" err="1"/>
              <a:t>derajat</a:t>
            </a:r>
            <a:r>
              <a:rPr lang="en-US" sz="2600" dirty="0"/>
              <a:t> Fahrenheit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berarti</a:t>
            </a:r>
            <a:r>
              <a:rPr lang="en-US" sz="2600" dirty="0"/>
              <a:t>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adanya</a:t>
            </a:r>
            <a:r>
              <a:rPr lang="en-US" sz="2600" dirty="0"/>
              <a:t> </a:t>
            </a:r>
            <a:r>
              <a:rPr lang="en-US" sz="2600" dirty="0" err="1"/>
              <a:t>panas</a:t>
            </a:r>
            <a:r>
              <a:rPr lang="en-US" sz="2600" dirty="0"/>
              <a:t> </a:t>
            </a:r>
            <a:r>
              <a:rPr lang="en-US" sz="2600" dirty="0" err="1"/>
              <a:t>pada</a:t>
            </a:r>
            <a:r>
              <a:rPr lang="en-US" sz="2600" dirty="0"/>
              <a:t> </a:t>
            </a:r>
            <a:r>
              <a:rPr lang="en-US" sz="2600" dirty="0" err="1"/>
              <a:t>kondisi</a:t>
            </a:r>
            <a:r>
              <a:rPr lang="en-US" sz="2600" dirty="0"/>
              <a:t> </a:t>
            </a:r>
            <a:r>
              <a:rPr lang="en-US" sz="2600" dirty="0" err="1"/>
              <a:t>tersebut</a:t>
            </a:r>
            <a:r>
              <a:rPr lang="en-US" sz="2600" dirty="0"/>
              <a:t>. </a:t>
            </a:r>
            <a:endParaRPr lang="en-US" sz="2600" dirty="0" smtClean="0"/>
          </a:p>
          <a:p>
            <a:pPr marL="395288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4.	</a:t>
            </a:r>
            <a:r>
              <a:rPr lang="en-US" sz="2600" dirty="0" err="1"/>
              <a:t>Skala</a:t>
            </a:r>
            <a:r>
              <a:rPr lang="en-US" sz="2600" dirty="0"/>
              <a:t> Ratio </a:t>
            </a:r>
          </a:p>
          <a:p>
            <a:pPr marL="395288" indent="0">
              <a:buNone/>
            </a:pPr>
            <a:r>
              <a:rPr lang="en-US" sz="2600" dirty="0" err="1"/>
              <a:t>adalah</a:t>
            </a:r>
            <a:r>
              <a:rPr lang="en-US" sz="2600" dirty="0"/>
              <a:t> </a:t>
            </a:r>
            <a:r>
              <a:rPr lang="en-US" sz="2600" dirty="0" err="1"/>
              <a:t>skala</a:t>
            </a:r>
            <a:r>
              <a:rPr lang="en-US" sz="2600" dirty="0"/>
              <a:t> yang </a:t>
            </a:r>
            <a:r>
              <a:rPr lang="en-US" sz="2600" dirty="0" err="1"/>
              <a:t>mempunyai</a:t>
            </a:r>
            <a:r>
              <a:rPr lang="en-US" sz="2600" dirty="0"/>
              <a:t> 4 </a:t>
            </a:r>
            <a:r>
              <a:rPr lang="en-US" sz="2600" dirty="0" err="1"/>
              <a:t>ciri</a:t>
            </a:r>
            <a:r>
              <a:rPr lang="en-US" sz="2600" dirty="0"/>
              <a:t> </a:t>
            </a:r>
            <a:r>
              <a:rPr lang="en-US" sz="2600" dirty="0" err="1"/>
              <a:t>yaitu</a:t>
            </a:r>
            <a:r>
              <a:rPr lang="en-US" sz="2600" dirty="0"/>
              <a:t> </a:t>
            </a:r>
            <a:r>
              <a:rPr lang="en-US" sz="2600" dirty="0" err="1"/>
              <a:t>membedakan</a:t>
            </a:r>
            <a:r>
              <a:rPr lang="en-US" sz="2600" dirty="0"/>
              <a:t>, </a:t>
            </a:r>
            <a:r>
              <a:rPr lang="en-US" sz="2600" dirty="0" err="1"/>
              <a:t>mengurutkan</a:t>
            </a:r>
            <a:r>
              <a:rPr lang="en-US" sz="2600" dirty="0"/>
              <a:t>, </a:t>
            </a:r>
            <a:r>
              <a:rPr lang="en-US" sz="2600" dirty="0" err="1"/>
              <a:t>jarak</a:t>
            </a:r>
            <a:r>
              <a:rPr lang="en-US" sz="2600" dirty="0"/>
              <a:t> yang </a:t>
            </a:r>
            <a:r>
              <a:rPr lang="en-US" sz="2600" dirty="0" err="1"/>
              <a:t>sama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mempunyai</a:t>
            </a:r>
            <a:r>
              <a:rPr lang="en-US" sz="2600" dirty="0"/>
              <a:t> </a:t>
            </a:r>
            <a:r>
              <a:rPr lang="en-US" sz="2600" dirty="0" err="1"/>
              <a:t>titik</a:t>
            </a:r>
            <a:r>
              <a:rPr lang="en-US" sz="2600" dirty="0"/>
              <a:t> </a:t>
            </a:r>
            <a:r>
              <a:rPr lang="en-US" sz="2600" dirty="0" err="1"/>
              <a:t>nol</a:t>
            </a:r>
            <a:r>
              <a:rPr lang="en-US" sz="2600" dirty="0"/>
              <a:t> yang </a:t>
            </a:r>
            <a:r>
              <a:rPr lang="en-US" sz="2600" dirty="0" err="1"/>
              <a:t>tulen</a:t>
            </a:r>
            <a:r>
              <a:rPr lang="en-US" sz="2600" dirty="0"/>
              <a:t> (</a:t>
            </a:r>
            <a:r>
              <a:rPr lang="en-US" sz="2600" dirty="0" err="1"/>
              <a:t>berarti</a:t>
            </a:r>
            <a:r>
              <a:rPr lang="en-US" sz="2600" dirty="0"/>
              <a:t>). </a:t>
            </a:r>
            <a:r>
              <a:rPr lang="en-US" sz="2600" dirty="0" err="1"/>
              <a:t>Contoh</a:t>
            </a:r>
            <a:r>
              <a:rPr lang="en-US" sz="2600" dirty="0"/>
              <a:t> : Pak </a:t>
            </a:r>
            <a:r>
              <a:rPr lang="en-US" sz="2600" dirty="0" err="1"/>
              <a:t>Asmuni</a:t>
            </a:r>
            <a:r>
              <a:rPr lang="en-US" sz="2600" dirty="0"/>
              <a:t> </a:t>
            </a:r>
            <a:r>
              <a:rPr lang="en-US" sz="2600" dirty="0" err="1"/>
              <a:t>mempunyai</a:t>
            </a:r>
            <a:r>
              <a:rPr lang="en-US" sz="2600" dirty="0"/>
              <a:t> </a:t>
            </a:r>
            <a:r>
              <a:rPr lang="en-US" sz="2600" dirty="0" err="1"/>
              <a:t>uang</a:t>
            </a:r>
            <a:r>
              <a:rPr lang="en-US" sz="2600" dirty="0"/>
              <a:t> </a:t>
            </a:r>
            <a:r>
              <a:rPr lang="en-US" sz="2600" dirty="0" err="1"/>
              <a:t>nol</a:t>
            </a:r>
            <a:r>
              <a:rPr lang="en-US" sz="2600" dirty="0"/>
              <a:t> rupiah, </a:t>
            </a:r>
            <a:r>
              <a:rPr lang="en-US" sz="2600" dirty="0" err="1"/>
              <a:t>artinya</a:t>
            </a:r>
            <a:r>
              <a:rPr lang="en-US" sz="2600" dirty="0"/>
              <a:t> </a:t>
            </a:r>
            <a:r>
              <a:rPr lang="en-US" sz="2600" dirty="0" err="1"/>
              <a:t>pak</a:t>
            </a:r>
            <a:r>
              <a:rPr lang="en-US" sz="2600" dirty="0"/>
              <a:t> </a:t>
            </a:r>
            <a:r>
              <a:rPr lang="en-US" sz="2600" dirty="0" err="1"/>
              <a:t>Asmuni</a:t>
            </a:r>
            <a:r>
              <a:rPr lang="en-US" sz="2600" dirty="0"/>
              <a:t>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mempunyai</a:t>
            </a:r>
            <a:r>
              <a:rPr lang="en-US" sz="2600" dirty="0"/>
              <a:t> </a:t>
            </a:r>
            <a:r>
              <a:rPr lang="en-US" sz="2600" dirty="0" err="1"/>
              <a:t>uang</a:t>
            </a:r>
            <a:r>
              <a:rPr lang="en-US" sz="2600" dirty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39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449" y="34120"/>
            <a:ext cx="10131425" cy="1166884"/>
          </a:xfrm>
        </p:spPr>
        <p:txBody>
          <a:bodyPr/>
          <a:lstStyle/>
          <a:p>
            <a:r>
              <a:rPr lang="en-US" dirty="0" smtClean="0"/>
              <a:t>E. PENYAJIAN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903" y="1201004"/>
            <a:ext cx="10131425" cy="364913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342900" indent="-342900">
              <a:buAutoNum type="arabicPeriod"/>
            </a:pPr>
            <a:r>
              <a:rPr lang="en-US" sz="2400" dirty="0" err="1" smtClean="0"/>
              <a:t>Tabel</a:t>
            </a:r>
            <a:r>
              <a:rPr lang="en-US" sz="2400" dirty="0" smtClean="0"/>
              <a:t> </a:t>
            </a:r>
          </a:p>
          <a:p>
            <a:pPr marL="341313" indent="0">
              <a:buNone/>
            </a:pPr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daftar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kumpulan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yang </a:t>
            </a:r>
            <a:r>
              <a:rPr lang="en-US" sz="2400" dirty="0" err="1"/>
              <a:t>disusun</a:t>
            </a:r>
            <a:r>
              <a:rPr lang="en-US" sz="2400" dirty="0"/>
              <a:t> </a:t>
            </a:r>
            <a:r>
              <a:rPr lang="en-US" sz="2400" dirty="0" err="1"/>
              <a:t>menurut</a:t>
            </a:r>
            <a:r>
              <a:rPr lang="en-US" sz="2400" dirty="0"/>
              <a:t> </a:t>
            </a:r>
            <a:r>
              <a:rPr lang="en-US" sz="2400" dirty="0" err="1"/>
              <a:t>kategori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data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memudahkan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analisis</a:t>
            </a:r>
            <a:r>
              <a:rPr lang="en-US" sz="2400" dirty="0"/>
              <a:t> data</a:t>
            </a:r>
          </a:p>
          <a:p>
            <a:pPr marL="914400" indent="-573088">
              <a:buNone/>
            </a:pPr>
            <a:r>
              <a:rPr lang="en-US" dirty="0" smtClean="0"/>
              <a:t>a</a:t>
            </a:r>
            <a:r>
              <a:rPr lang="en-US" dirty="0"/>
              <a:t>. 	</a:t>
            </a:r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en-US" sz="2400" dirty="0"/>
              <a:t> yang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kategori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data</a:t>
            </a:r>
            <a:endParaRPr lang="en-US" sz="2400" dirty="0" smtClean="0"/>
          </a:p>
          <a:p>
            <a:pPr marL="342900" indent="-3429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115286"/>
              </p:ext>
            </p:extLst>
          </p:nvPr>
        </p:nvGraphicFramePr>
        <p:xfrm>
          <a:off x="6173157" y="2938716"/>
          <a:ext cx="3694174" cy="425196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47383"/>
                <a:gridCol w="2446791"/>
              </a:tblGrid>
              <a:tr h="80410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Banyaknya Pegawai Negeri Sipil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Menurut Golongan Tahun 1990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17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Golongan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Banyaknya (orang)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703.827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1.917.920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III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309.337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IV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17.574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4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2.948.658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923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027" y="609600"/>
            <a:ext cx="11337877" cy="583214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b.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arah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 smtClean="0"/>
              <a:t>karakteristik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Contoh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34481"/>
              </p:ext>
            </p:extLst>
          </p:nvPr>
        </p:nvGraphicFramePr>
        <p:xfrm>
          <a:off x="2458799" y="1953779"/>
          <a:ext cx="6585427" cy="34442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089183"/>
                <a:gridCol w="1143459"/>
                <a:gridCol w="1073639"/>
                <a:gridCol w="1279146"/>
              </a:tblGrid>
              <a:tr h="0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 Mahasiswa </a:t>
                      </a:r>
                      <a:r>
                        <a:rPr lang="pt-BR" sz="20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USP </a:t>
                      </a: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menurut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Fakultas dan Kewarganegaraan </a:t>
                      </a:r>
                      <a:r>
                        <a:rPr lang="pt-BR" sz="20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Fakultas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WNI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WNA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Fak. Ekonomi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1850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1890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Fak. Teknologi Industri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1320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1330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Fak. Seni Rupa &amp; Design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Fak. Pasca Sarjana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3950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4015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29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1" y="-181970"/>
            <a:ext cx="10131425" cy="1456267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437" y="546163"/>
            <a:ext cx="11269638" cy="5417909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C.  </a:t>
            </a:r>
            <a:r>
              <a:rPr lang="en-US" dirty="0" err="1" smtClean="0"/>
              <a:t>Tabel</a:t>
            </a:r>
            <a:r>
              <a:rPr lang="en-US" dirty="0" smtClean="0"/>
              <a:t> </a:t>
            </a:r>
            <a:r>
              <a:rPr lang="en-US" dirty="0" err="1" smtClean="0"/>
              <a:t>tiga</a:t>
            </a:r>
            <a:r>
              <a:rPr lang="en-US" dirty="0" smtClean="0"/>
              <a:t> </a:t>
            </a:r>
            <a:r>
              <a:rPr lang="en-US" dirty="0" err="1" smtClean="0"/>
              <a:t>arah</a:t>
            </a:r>
            <a:endParaRPr lang="en-US" dirty="0"/>
          </a:p>
          <a:p>
            <a:pPr marL="395288" indent="-395288">
              <a:buNone/>
            </a:pPr>
            <a:r>
              <a:rPr lang="en-US" dirty="0"/>
              <a:t>	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endParaRPr lang="en-US" dirty="0"/>
          </a:p>
          <a:p>
            <a:r>
              <a:rPr lang="en-US" dirty="0" err="1" smtClean="0"/>
              <a:t>Contoh</a:t>
            </a:r>
            <a:r>
              <a:rPr lang="en-US" dirty="0" smtClean="0"/>
              <a:t> 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325739"/>
              </p:ext>
            </p:extLst>
          </p:nvPr>
        </p:nvGraphicFramePr>
        <p:xfrm>
          <a:off x="2123209" y="1596606"/>
          <a:ext cx="7010946" cy="464972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416211"/>
                <a:gridCol w="1235329"/>
                <a:gridCol w="1563441"/>
                <a:gridCol w="1637757"/>
                <a:gridCol w="1158208"/>
              </a:tblGrid>
              <a:tr h="0"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Pegawai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Menurut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Golongan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Umur dan Pendidikan pada Departeman 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Tahun 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Golongan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Umur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Pendidikan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 – 35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35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Bukan Sarjana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Sajana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450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970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III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2750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1850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2.050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4020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3720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US" sz="18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: Data </a:t>
                      </a:r>
                      <a:r>
                        <a:rPr lang="en-US" sz="1800" i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Buatan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14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618" y="436097"/>
            <a:ext cx="11337877" cy="607388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	</a:t>
            </a:r>
            <a:r>
              <a:rPr lang="en-US" sz="7200" dirty="0" err="1"/>
              <a:t>Penyajian</a:t>
            </a:r>
            <a:r>
              <a:rPr lang="en-US" sz="7200" dirty="0"/>
              <a:t> data </a:t>
            </a:r>
            <a:r>
              <a:rPr lang="en-US" sz="7200" dirty="0" err="1"/>
              <a:t>dengan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/diagram</a:t>
            </a:r>
          </a:p>
          <a:p>
            <a:pPr marL="0" indent="0">
              <a:buNone/>
            </a:pPr>
            <a:r>
              <a:rPr lang="en-US" sz="7200" dirty="0" err="1"/>
              <a:t>Penyajian</a:t>
            </a:r>
            <a:r>
              <a:rPr lang="en-US" sz="7200" dirty="0"/>
              <a:t> data </a:t>
            </a:r>
            <a:r>
              <a:rPr lang="en-US" sz="7200" dirty="0" err="1"/>
              <a:t>dengan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dianggap</a:t>
            </a:r>
            <a:r>
              <a:rPr lang="en-US" sz="7200" dirty="0"/>
              <a:t> </a:t>
            </a:r>
            <a:r>
              <a:rPr lang="en-US" sz="7200" dirty="0" err="1"/>
              <a:t>lebih</a:t>
            </a:r>
            <a:r>
              <a:rPr lang="en-US" sz="7200" dirty="0"/>
              <a:t> </a:t>
            </a:r>
            <a:r>
              <a:rPr lang="en-US" sz="7200" dirty="0" err="1"/>
              <a:t>komunikatif</a:t>
            </a:r>
            <a:r>
              <a:rPr lang="en-US" sz="7200" dirty="0"/>
              <a:t> </a:t>
            </a:r>
            <a:r>
              <a:rPr lang="en-US" sz="7200" dirty="0" err="1"/>
              <a:t>karena</a:t>
            </a:r>
            <a:r>
              <a:rPr lang="en-US" sz="7200" dirty="0"/>
              <a:t> </a:t>
            </a:r>
            <a:r>
              <a:rPr lang="en-US" sz="7200" dirty="0" err="1"/>
              <a:t>dalam</a:t>
            </a:r>
            <a:r>
              <a:rPr lang="en-US" sz="7200" dirty="0"/>
              <a:t> </a:t>
            </a:r>
            <a:r>
              <a:rPr lang="en-US" sz="7200" dirty="0" err="1"/>
              <a:t>waktu</a:t>
            </a:r>
            <a:r>
              <a:rPr lang="en-US" sz="7200" dirty="0"/>
              <a:t> </a:t>
            </a:r>
            <a:r>
              <a:rPr lang="en-US" sz="7200" dirty="0" err="1"/>
              <a:t>singkat</a:t>
            </a:r>
            <a:r>
              <a:rPr lang="en-US" sz="7200" dirty="0"/>
              <a:t> </a:t>
            </a:r>
            <a:r>
              <a:rPr lang="en-US" sz="7200" dirty="0" err="1"/>
              <a:t>dapat</a:t>
            </a:r>
            <a:r>
              <a:rPr lang="en-US" sz="7200" dirty="0"/>
              <a:t> </a:t>
            </a:r>
            <a:r>
              <a:rPr lang="en-US" sz="7200" dirty="0" err="1"/>
              <a:t>diketahui</a:t>
            </a:r>
            <a:r>
              <a:rPr lang="en-US" sz="7200" dirty="0"/>
              <a:t> </a:t>
            </a:r>
            <a:r>
              <a:rPr lang="en-US" sz="7200" dirty="0" err="1"/>
              <a:t>karakteristik</a:t>
            </a:r>
            <a:r>
              <a:rPr lang="en-US" sz="7200" dirty="0"/>
              <a:t> </a:t>
            </a:r>
            <a:r>
              <a:rPr lang="en-US" sz="7200" dirty="0" err="1"/>
              <a:t>dari</a:t>
            </a:r>
            <a:r>
              <a:rPr lang="en-US" sz="7200" dirty="0"/>
              <a:t> data yang </a:t>
            </a:r>
            <a:r>
              <a:rPr lang="en-US" sz="7200" dirty="0" err="1" smtClean="0"/>
              <a:t>disajikan</a:t>
            </a:r>
            <a:endParaRPr lang="en-US" sz="7200" dirty="0" smtClean="0"/>
          </a:p>
          <a:p>
            <a:pPr marL="0" indent="0">
              <a:buNone/>
            </a:pPr>
            <a:r>
              <a:rPr lang="en-US" sz="7200" dirty="0"/>
              <a:t>a)	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garis</a:t>
            </a:r>
            <a:r>
              <a:rPr lang="en-US" sz="7200" dirty="0"/>
              <a:t> (line chart)</a:t>
            </a:r>
          </a:p>
          <a:p>
            <a:pPr marL="0" indent="0">
              <a:buNone/>
            </a:pP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garis</a:t>
            </a:r>
            <a:r>
              <a:rPr lang="en-US" sz="7200" dirty="0"/>
              <a:t> </a:t>
            </a:r>
            <a:r>
              <a:rPr lang="en-US" sz="7200" dirty="0" err="1"/>
              <a:t>atau</a:t>
            </a:r>
            <a:r>
              <a:rPr lang="en-US" sz="7200" dirty="0"/>
              <a:t> diagram </a:t>
            </a:r>
            <a:r>
              <a:rPr lang="en-US" sz="7200" dirty="0" err="1"/>
              <a:t>garis</a:t>
            </a:r>
            <a:r>
              <a:rPr lang="en-US" sz="7200" dirty="0"/>
              <a:t> </a:t>
            </a:r>
            <a:r>
              <a:rPr lang="en-US" sz="7200" dirty="0" err="1"/>
              <a:t>dipakai</a:t>
            </a:r>
            <a:r>
              <a:rPr lang="en-US" sz="7200" dirty="0"/>
              <a:t> </a:t>
            </a:r>
            <a:r>
              <a:rPr lang="en-US" sz="7200" dirty="0" err="1"/>
              <a:t>untuk</a:t>
            </a:r>
            <a:r>
              <a:rPr lang="en-US" sz="7200" dirty="0"/>
              <a:t> </a:t>
            </a:r>
            <a:r>
              <a:rPr lang="en-US" sz="7200" dirty="0" err="1"/>
              <a:t>menggambarkan</a:t>
            </a:r>
            <a:r>
              <a:rPr lang="en-US" sz="7200" dirty="0"/>
              <a:t> data </a:t>
            </a:r>
            <a:r>
              <a:rPr lang="en-US" sz="7200" dirty="0" err="1"/>
              <a:t>berkala</a:t>
            </a:r>
            <a:r>
              <a:rPr lang="en-US" sz="7200" dirty="0"/>
              <a:t>.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garis</a:t>
            </a:r>
            <a:r>
              <a:rPr lang="en-US" sz="7200" dirty="0"/>
              <a:t> </a:t>
            </a:r>
            <a:r>
              <a:rPr lang="en-US" sz="7200" dirty="0" err="1"/>
              <a:t>dapat</a:t>
            </a:r>
            <a:r>
              <a:rPr lang="en-US" sz="7200" dirty="0"/>
              <a:t> </a:t>
            </a:r>
            <a:r>
              <a:rPr lang="en-US" sz="7200" dirty="0" err="1"/>
              <a:t>berupa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garis</a:t>
            </a:r>
            <a:r>
              <a:rPr lang="en-US" sz="7200" dirty="0"/>
              <a:t> </a:t>
            </a:r>
            <a:r>
              <a:rPr lang="en-US" sz="7200" dirty="0" err="1"/>
              <a:t>tunggal</a:t>
            </a:r>
            <a:r>
              <a:rPr lang="en-US" sz="7200" dirty="0"/>
              <a:t> </a:t>
            </a:r>
            <a:r>
              <a:rPr lang="en-US" sz="7200" dirty="0" err="1"/>
              <a:t>maupun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garis</a:t>
            </a:r>
            <a:r>
              <a:rPr lang="en-US" sz="7200" dirty="0"/>
              <a:t> </a:t>
            </a:r>
            <a:r>
              <a:rPr lang="en-US" sz="7200" dirty="0" err="1"/>
              <a:t>berganda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/>
              <a:t>b)	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batang</a:t>
            </a:r>
            <a:r>
              <a:rPr lang="en-US" sz="7200" dirty="0"/>
              <a:t> / </a:t>
            </a:r>
            <a:r>
              <a:rPr lang="en-US" sz="7200" dirty="0" err="1"/>
              <a:t>balok</a:t>
            </a:r>
            <a:r>
              <a:rPr lang="en-US" sz="7200" dirty="0"/>
              <a:t> (bar chart)</a:t>
            </a:r>
          </a:p>
          <a:p>
            <a:pPr marL="0" indent="0">
              <a:buNone/>
            </a:pP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batang</a:t>
            </a:r>
            <a:r>
              <a:rPr lang="en-US" sz="7200" dirty="0"/>
              <a:t> </a:t>
            </a:r>
            <a:r>
              <a:rPr lang="en-US" sz="7200" dirty="0" err="1"/>
              <a:t>pada</a:t>
            </a:r>
            <a:r>
              <a:rPr lang="en-US" sz="7200" dirty="0"/>
              <a:t> </a:t>
            </a:r>
            <a:r>
              <a:rPr lang="en-US" sz="7200" dirty="0" err="1"/>
              <a:t>dasarnya</a:t>
            </a:r>
            <a:r>
              <a:rPr lang="en-US" sz="7200" dirty="0"/>
              <a:t> </a:t>
            </a:r>
            <a:r>
              <a:rPr lang="en-US" sz="7200" dirty="0" err="1"/>
              <a:t>sama</a:t>
            </a:r>
            <a:r>
              <a:rPr lang="en-US" sz="7200" dirty="0"/>
              <a:t> </a:t>
            </a:r>
            <a:r>
              <a:rPr lang="en-US" sz="7200" dirty="0" err="1"/>
              <a:t>fugsinya</a:t>
            </a:r>
            <a:r>
              <a:rPr lang="en-US" sz="7200" dirty="0"/>
              <a:t> </a:t>
            </a:r>
            <a:r>
              <a:rPr lang="en-US" sz="7200" dirty="0" err="1"/>
              <a:t>dengan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garis</a:t>
            </a:r>
            <a:r>
              <a:rPr lang="en-US" sz="7200" dirty="0"/>
              <a:t> </a:t>
            </a:r>
            <a:r>
              <a:rPr lang="en-US" sz="7200" dirty="0" err="1"/>
              <a:t>yaitu</a:t>
            </a:r>
            <a:r>
              <a:rPr lang="en-US" sz="7200" dirty="0"/>
              <a:t> </a:t>
            </a:r>
            <a:r>
              <a:rPr lang="en-US" sz="7200" dirty="0" err="1"/>
              <a:t>untuk</a:t>
            </a:r>
            <a:r>
              <a:rPr lang="en-US" sz="7200" dirty="0"/>
              <a:t> </a:t>
            </a:r>
            <a:r>
              <a:rPr lang="en-US" sz="7200" dirty="0" err="1"/>
              <a:t>menggambarkan</a:t>
            </a:r>
            <a:r>
              <a:rPr lang="en-US" sz="7200" dirty="0"/>
              <a:t> data </a:t>
            </a:r>
            <a:r>
              <a:rPr lang="en-US" sz="7200" dirty="0" err="1"/>
              <a:t>berkala</a:t>
            </a:r>
            <a:r>
              <a:rPr lang="en-US" sz="7200" dirty="0"/>
              <a:t>.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batang</a:t>
            </a:r>
            <a:r>
              <a:rPr lang="en-US" sz="7200" dirty="0"/>
              <a:t> juga </a:t>
            </a:r>
            <a:r>
              <a:rPr lang="en-US" sz="7200" dirty="0" err="1"/>
              <a:t>terdiri</a:t>
            </a:r>
            <a:r>
              <a:rPr lang="en-US" sz="7200" dirty="0"/>
              <a:t> </a:t>
            </a:r>
            <a:r>
              <a:rPr lang="en-US" sz="7200" dirty="0" err="1"/>
              <a:t>dari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batang</a:t>
            </a:r>
            <a:r>
              <a:rPr lang="en-US" sz="7200" dirty="0"/>
              <a:t> </a:t>
            </a:r>
            <a:r>
              <a:rPr lang="en-US" sz="7200" dirty="0" err="1"/>
              <a:t>tunggal</a:t>
            </a:r>
            <a:r>
              <a:rPr lang="en-US" sz="7200" dirty="0"/>
              <a:t> </a:t>
            </a:r>
            <a:r>
              <a:rPr lang="en-US" sz="7200" dirty="0" err="1"/>
              <a:t>dan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batang</a:t>
            </a:r>
            <a:r>
              <a:rPr lang="en-US" sz="7200" dirty="0"/>
              <a:t> </a:t>
            </a:r>
            <a:r>
              <a:rPr lang="en-US" sz="7200" dirty="0" err="1"/>
              <a:t>ganda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r>
              <a:rPr lang="en-US" sz="7200" dirty="0"/>
              <a:t>c)	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lingkaran</a:t>
            </a:r>
            <a:r>
              <a:rPr lang="en-US" sz="7200" dirty="0"/>
              <a:t> (pie chart)</a:t>
            </a:r>
          </a:p>
          <a:p>
            <a:pPr marL="0" indent="0">
              <a:buNone/>
            </a:pP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lingkaran</a:t>
            </a:r>
            <a:r>
              <a:rPr lang="en-US" sz="7200" dirty="0"/>
              <a:t> </a:t>
            </a:r>
            <a:r>
              <a:rPr lang="en-US" sz="7200" dirty="0" err="1"/>
              <a:t>lebih</a:t>
            </a:r>
            <a:r>
              <a:rPr lang="en-US" sz="7200" dirty="0"/>
              <a:t> </a:t>
            </a:r>
            <a:r>
              <a:rPr lang="en-US" sz="7200" dirty="0" err="1"/>
              <a:t>cocok</a:t>
            </a:r>
            <a:r>
              <a:rPr lang="en-US" sz="7200" dirty="0"/>
              <a:t> </a:t>
            </a:r>
            <a:r>
              <a:rPr lang="en-US" sz="7200" dirty="0" err="1"/>
              <a:t>untuk</a:t>
            </a:r>
            <a:r>
              <a:rPr lang="en-US" sz="7200" dirty="0"/>
              <a:t> </a:t>
            </a:r>
            <a:r>
              <a:rPr lang="en-US" sz="7200" dirty="0" err="1"/>
              <a:t>menyajikan</a:t>
            </a:r>
            <a:r>
              <a:rPr lang="en-US" sz="7200" dirty="0"/>
              <a:t> data cross section, </a:t>
            </a:r>
            <a:r>
              <a:rPr lang="en-US" sz="7200" dirty="0" err="1"/>
              <a:t>dimana</a:t>
            </a:r>
            <a:r>
              <a:rPr lang="en-US" sz="7200" dirty="0"/>
              <a:t> data </a:t>
            </a:r>
            <a:r>
              <a:rPr lang="en-US" sz="7200" dirty="0" err="1"/>
              <a:t>tersebut</a:t>
            </a:r>
            <a:r>
              <a:rPr lang="en-US" sz="7200" dirty="0"/>
              <a:t> </a:t>
            </a:r>
            <a:r>
              <a:rPr lang="en-US" sz="7200" dirty="0" err="1"/>
              <a:t>dapat</a:t>
            </a:r>
            <a:r>
              <a:rPr lang="en-US" sz="7200" dirty="0"/>
              <a:t> </a:t>
            </a:r>
            <a:r>
              <a:rPr lang="en-US" sz="7200" dirty="0" err="1"/>
              <a:t>dijadikan</a:t>
            </a:r>
            <a:r>
              <a:rPr lang="en-US" sz="7200" dirty="0"/>
              <a:t> </a:t>
            </a:r>
            <a:r>
              <a:rPr lang="en-US" sz="7200" dirty="0" err="1"/>
              <a:t>bentuk</a:t>
            </a:r>
            <a:r>
              <a:rPr lang="en-US" sz="7200" dirty="0"/>
              <a:t> </a:t>
            </a:r>
            <a:r>
              <a:rPr lang="en-US" sz="7200" dirty="0" err="1"/>
              <a:t>prosentase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r>
              <a:rPr lang="en-US" sz="7200" dirty="0"/>
              <a:t>d)	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Gambar</a:t>
            </a:r>
            <a:r>
              <a:rPr lang="en-US" sz="7200" dirty="0"/>
              <a:t> (pictogram)</a:t>
            </a:r>
          </a:p>
          <a:p>
            <a:pPr marL="0" indent="0">
              <a:buNone/>
            </a:pP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ini</a:t>
            </a:r>
            <a:r>
              <a:rPr lang="en-US" sz="7200" dirty="0"/>
              <a:t> </a:t>
            </a:r>
            <a:r>
              <a:rPr lang="en-US" sz="7200" dirty="0" err="1"/>
              <a:t>berupa</a:t>
            </a:r>
            <a:r>
              <a:rPr lang="en-US" sz="7200" dirty="0"/>
              <a:t> </a:t>
            </a:r>
            <a:r>
              <a:rPr lang="en-US" sz="7200" dirty="0" err="1"/>
              <a:t>gambar</a:t>
            </a:r>
            <a:r>
              <a:rPr lang="en-US" sz="7200" dirty="0"/>
              <a:t> </a:t>
            </a:r>
            <a:r>
              <a:rPr lang="en-US" sz="7200" dirty="0" err="1"/>
              <a:t>atau</a:t>
            </a:r>
            <a:r>
              <a:rPr lang="en-US" sz="7200" dirty="0"/>
              <a:t> </a:t>
            </a:r>
            <a:r>
              <a:rPr lang="en-US" sz="7200" dirty="0" err="1"/>
              <a:t>lambang</a:t>
            </a:r>
            <a:r>
              <a:rPr lang="en-US" sz="7200" dirty="0"/>
              <a:t> </a:t>
            </a:r>
            <a:r>
              <a:rPr lang="en-US" sz="7200" dirty="0" err="1"/>
              <a:t>untuk</a:t>
            </a:r>
            <a:r>
              <a:rPr lang="en-US" sz="7200" dirty="0"/>
              <a:t> </a:t>
            </a:r>
            <a:r>
              <a:rPr lang="en-US" sz="7200" dirty="0" err="1"/>
              <a:t>menunjukkan</a:t>
            </a:r>
            <a:r>
              <a:rPr lang="en-US" sz="7200" dirty="0"/>
              <a:t> </a:t>
            </a:r>
            <a:r>
              <a:rPr lang="en-US" sz="7200" dirty="0" err="1"/>
              <a:t>jumlah</a:t>
            </a:r>
            <a:r>
              <a:rPr lang="en-US" sz="7200" dirty="0"/>
              <a:t> </a:t>
            </a:r>
            <a:r>
              <a:rPr lang="en-US" sz="7200" dirty="0" err="1"/>
              <a:t>benda</a:t>
            </a:r>
            <a:r>
              <a:rPr lang="en-US" sz="7200" dirty="0"/>
              <a:t> yang </a:t>
            </a:r>
            <a:r>
              <a:rPr lang="en-US" sz="7200" dirty="0" err="1"/>
              <a:t>dilambangkan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r>
              <a:rPr lang="en-US" sz="7200" dirty="0"/>
              <a:t>e)	</a:t>
            </a:r>
            <a:r>
              <a:rPr lang="en-US" sz="7200" dirty="0" err="1"/>
              <a:t>Grafik</a:t>
            </a:r>
            <a:r>
              <a:rPr lang="en-US" sz="7200" dirty="0"/>
              <a:t> </a:t>
            </a:r>
            <a:r>
              <a:rPr lang="en-US" sz="7200" dirty="0" err="1"/>
              <a:t>Berupa</a:t>
            </a:r>
            <a:r>
              <a:rPr lang="en-US" sz="7200" dirty="0"/>
              <a:t> Peta (Cartogram)</a:t>
            </a:r>
          </a:p>
          <a:p>
            <a:pPr marL="0" indent="0">
              <a:buNone/>
            </a:pPr>
            <a:r>
              <a:rPr lang="en-US" sz="7200" dirty="0"/>
              <a:t>Cartogram </a:t>
            </a:r>
            <a:r>
              <a:rPr lang="en-US" sz="7200" dirty="0" err="1"/>
              <a:t>adalah</a:t>
            </a:r>
            <a:r>
              <a:rPr lang="en-US" sz="7200" dirty="0"/>
              <a:t> </a:t>
            </a:r>
            <a:r>
              <a:rPr lang="en-US" sz="7200" dirty="0" err="1"/>
              <a:t>grafik</a:t>
            </a:r>
            <a:r>
              <a:rPr lang="en-US" sz="7200" dirty="0"/>
              <a:t> yang </a:t>
            </a:r>
            <a:r>
              <a:rPr lang="en-US" sz="7200" dirty="0" err="1"/>
              <a:t>banyak</a:t>
            </a:r>
            <a:r>
              <a:rPr lang="en-US" sz="7200" dirty="0"/>
              <a:t> </a:t>
            </a:r>
            <a:r>
              <a:rPr lang="en-US" sz="7200" dirty="0" err="1"/>
              <a:t>digunakan</a:t>
            </a:r>
            <a:r>
              <a:rPr lang="en-US" sz="7200" dirty="0"/>
              <a:t> </a:t>
            </a:r>
            <a:r>
              <a:rPr lang="en-US" sz="7200" dirty="0" err="1"/>
              <a:t>oleh</a:t>
            </a:r>
            <a:r>
              <a:rPr lang="en-US" sz="7200" dirty="0"/>
              <a:t> BMG </a:t>
            </a:r>
            <a:r>
              <a:rPr lang="en-US" sz="7200" dirty="0" err="1"/>
              <a:t>untuk</a:t>
            </a:r>
            <a:r>
              <a:rPr lang="en-US" sz="7200" dirty="0"/>
              <a:t> </a:t>
            </a:r>
            <a:r>
              <a:rPr lang="en-US" sz="7200" dirty="0" err="1"/>
              <a:t>menunjukkan</a:t>
            </a:r>
            <a:r>
              <a:rPr lang="en-US" sz="7200" dirty="0"/>
              <a:t> </a:t>
            </a:r>
            <a:r>
              <a:rPr lang="en-US" sz="7200" dirty="0" err="1"/>
              <a:t>peramalan</a:t>
            </a:r>
            <a:r>
              <a:rPr lang="en-US" sz="7200" dirty="0"/>
              <a:t> </a:t>
            </a:r>
            <a:r>
              <a:rPr lang="en-US" sz="7200" dirty="0" err="1"/>
              <a:t>cuaca</a:t>
            </a:r>
            <a:r>
              <a:rPr lang="en-US" sz="7200" dirty="0"/>
              <a:t> </a:t>
            </a:r>
            <a:r>
              <a:rPr lang="en-US" sz="7200" dirty="0" err="1"/>
              <a:t>dibeberapa</a:t>
            </a:r>
            <a:r>
              <a:rPr lang="en-US" sz="7200" dirty="0"/>
              <a:t> </a:t>
            </a:r>
            <a:r>
              <a:rPr lang="en-US" sz="7200" dirty="0" err="1"/>
              <a:t>daerah</a:t>
            </a:r>
            <a:r>
              <a:rPr lang="en-US" sz="7200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99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120" y="2861481"/>
            <a:ext cx="10131425" cy="1456267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TERIMA KASIH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7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235</TotalTime>
  <Words>698</Words>
  <Application>Microsoft Office PowerPoint</Application>
  <PresentationFormat>Widescreen</PresentationFormat>
  <Paragraphs>290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Celestial</vt:lpstr>
      <vt:lpstr>BAB II VARIABEL DAN PENGUKURAN DATA</vt:lpstr>
      <vt:lpstr>CAPAIAN PEMBELAJARAN</vt:lpstr>
      <vt:lpstr>A. PROSES PENELITIAN</vt:lpstr>
      <vt:lpstr>B. VARIABEL</vt:lpstr>
      <vt:lpstr>JENIS VARIBEL BERDASARKAN JENIS DATA</vt:lpstr>
      <vt:lpstr>JENIS VARIABEL BERDASARKAN FUNGSI</vt:lpstr>
      <vt:lpstr>JENIS VARIABEL BERDASARKAN FUNGSI</vt:lpstr>
      <vt:lpstr>C. TEKNIK PENGUMPULAN DATA</vt:lpstr>
      <vt:lpstr> </vt:lpstr>
      <vt:lpstr> </vt:lpstr>
      <vt:lpstr> </vt:lpstr>
      <vt:lpstr>D. PENGUKURAN</vt:lpstr>
      <vt:lpstr>SKALA PENGUKURAN</vt:lpstr>
      <vt:lpstr>SKALA PENGUKURAN</vt:lpstr>
      <vt:lpstr>SKALA PENGUKURAN</vt:lpstr>
      <vt:lpstr>E. PENYAJIAN DATA</vt:lpstr>
      <vt:lpstr> </vt:lpstr>
      <vt:lpstr> </vt:lpstr>
      <vt:lpstr>PowerPoint Presentation</vt:lpstr>
      <vt:lpstr> TERIMA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II VARIABEL DAN PENGUKURAN DATA</dc:title>
  <dc:creator>Windows User</dc:creator>
  <cp:lastModifiedBy>Windows User</cp:lastModifiedBy>
  <cp:revision>18</cp:revision>
  <dcterms:created xsi:type="dcterms:W3CDTF">2022-09-22T23:00:57Z</dcterms:created>
  <dcterms:modified xsi:type="dcterms:W3CDTF">2023-03-14T22:54:12Z</dcterms:modified>
</cp:coreProperties>
</file>