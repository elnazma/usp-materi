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4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#_bookmark30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BAB IV UKURAN PENYEBARAN 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Ir. MASRUKI KABIB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91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CAPAIAN PEMBELAJARAN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dirty="0" err="1" smtClean="0"/>
              <a:t>Mahaasiswa</a:t>
            </a:r>
            <a:r>
              <a:rPr lang="en-US" dirty="0" smtClean="0"/>
              <a:t> </a:t>
            </a: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ukuran</a:t>
            </a:r>
            <a:r>
              <a:rPr lang="en-US" dirty="0" smtClean="0"/>
              <a:t> </a:t>
            </a:r>
            <a:r>
              <a:rPr lang="en-US" dirty="0" err="1" smtClean="0"/>
              <a:t>penyebaran</a:t>
            </a:r>
            <a:r>
              <a:rPr lang="en-US" dirty="0" smtClean="0"/>
              <a:t>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05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UKURAN PENYEBARAN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75229" y="1937601"/>
            <a:ext cx="10363826" cy="3424107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 err="1" smtClean="0"/>
              <a:t>Rentang</a:t>
            </a:r>
            <a:endParaRPr lang="en-US" dirty="0" smtClean="0"/>
          </a:p>
          <a:p>
            <a:pPr marL="804545" marR="897255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Jangkauan</a:t>
            </a:r>
            <a:r>
              <a:rPr lang="id-ID" spc="1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atau</a:t>
            </a:r>
            <a:r>
              <a:rPr lang="id-ID" spc="1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Range</a:t>
            </a:r>
            <a:r>
              <a:rPr lang="id-ID" i="1" spc="1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(R)</a:t>
            </a:r>
            <a:r>
              <a:rPr lang="id-ID" spc="1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suatu</a:t>
            </a:r>
            <a:r>
              <a:rPr lang="id-ID" spc="1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kelompk</a:t>
            </a:r>
            <a:r>
              <a:rPr lang="id-ID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id-ID" spc="1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adalah</a:t>
            </a:r>
            <a:r>
              <a:rPr lang="id-ID" spc="1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selisih</a:t>
            </a:r>
            <a:r>
              <a:rPr lang="id-ID" spc="-2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dari</a:t>
            </a:r>
            <a:r>
              <a:rPr lang="id-ID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nilai maximum</a:t>
            </a:r>
            <a:r>
              <a:rPr lang="id-ID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dan nilai</a:t>
            </a:r>
            <a:r>
              <a:rPr lang="id-ID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maksimum</a:t>
            </a:r>
            <a:r>
              <a:rPr lang="id-ID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2" action="ppaction://hlinkfile"/>
              </a:rPr>
              <a:t>8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/>
              <a:t>Range = </a:t>
            </a:r>
            <a:r>
              <a:rPr lang="en-US" dirty="0" err="1" smtClean="0"/>
              <a:t>Xmax-Xmin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Dimana</a:t>
            </a:r>
            <a:r>
              <a:rPr lang="en-US" dirty="0" smtClean="0"/>
              <a:t> :</a:t>
            </a:r>
          </a:p>
          <a:p>
            <a:pPr marL="0" indent="0">
              <a:buNone/>
            </a:pPr>
            <a:r>
              <a:rPr lang="en-US" dirty="0" err="1" smtClean="0"/>
              <a:t>Xmax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tertinggi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Xmin</a:t>
            </a:r>
            <a:r>
              <a:rPr lang="en-US" dirty="0" smtClean="0"/>
              <a:t> 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terendah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13774" y="5361708"/>
            <a:ext cx="98096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Semakin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kecil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jangkauan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atau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range</a:t>
            </a:r>
            <a:r>
              <a:rPr lang="id-ID" sz="2000" i="1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maka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penyebarannya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semakin kecil. Dan sebaliknya, semakin besar jangkauan datanya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id-ID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range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maka semakin besar pula penyebarannya.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Dalam beberapa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kasus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range</a:t>
            </a:r>
            <a:r>
              <a:rPr lang="id-ID" sz="2000" i="1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yang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besar,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sulit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mencari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solusi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dari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masalah</a:t>
            </a:r>
            <a:r>
              <a:rPr lang="id-ID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tersebut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5558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855" y="168341"/>
            <a:ext cx="10364451" cy="1596177"/>
          </a:xfrm>
        </p:spPr>
        <p:txBody>
          <a:bodyPr/>
          <a:lstStyle/>
          <a:p>
            <a:r>
              <a:rPr lang="en-US" dirty="0" err="1" smtClean="0"/>
              <a:t>contoh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75855" y="1828800"/>
            <a:ext cx="10501745" cy="3962399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806886"/>
              </p:ext>
            </p:extLst>
          </p:nvPr>
        </p:nvGraphicFramePr>
        <p:xfrm>
          <a:off x="1593274" y="1505204"/>
          <a:ext cx="5514109" cy="315883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808187"/>
                <a:gridCol w="1828990"/>
                <a:gridCol w="1876932"/>
              </a:tblGrid>
              <a:tr h="636688">
                <a:tc>
                  <a:txBody>
                    <a:bodyPr/>
                    <a:lstStyle/>
                    <a:p>
                      <a:pPr marL="57150" marR="6477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Tinggi</a:t>
                      </a:r>
                      <a:r>
                        <a:rPr lang="id-ID" sz="1800" b="1" spc="-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Badan</a:t>
                      </a:r>
                      <a:r>
                        <a:rPr lang="id-ID" sz="1800" b="1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(cm)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Titik</a:t>
                      </a:r>
                      <a:r>
                        <a:rPr lang="id-ID" sz="1800" b="1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Tengah</a:t>
                      </a:r>
                      <a:r>
                        <a:rPr lang="id-ID" sz="1800" b="1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(X)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7945" marR="0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Frekuensi</a:t>
                      </a:r>
                      <a:r>
                        <a:rPr lang="id-ID" sz="1800" b="1" spc="-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(n)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688">
                <a:tc>
                  <a:txBody>
                    <a:bodyPr/>
                    <a:lstStyle/>
                    <a:p>
                      <a:pPr marL="57150" marR="5143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150-154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24510" marR="51752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6580" marR="56959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007">
                <a:tc>
                  <a:txBody>
                    <a:bodyPr/>
                    <a:lstStyle/>
                    <a:p>
                      <a:pPr marL="57150" marR="5143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155-159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24510" marR="51752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6580" marR="56959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66">
                <a:tc>
                  <a:txBody>
                    <a:bodyPr/>
                    <a:lstStyle/>
                    <a:p>
                      <a:pPr marL="57150" marR="5143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160-164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24510" marR="51752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6580" marR="56959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688">
                <a:tc>
                  <a:txBody>
                    <a:bodyPr/>
                    <a:lstStyle/>
                    <a:p>
                      <a:pPr marL="57150" marR="5143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165-169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24510" marR="51752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marR="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17356" y="4839818"/>
            <a:ext cx="576409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Tinggi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Badan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Mahasiswa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Pendidikan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Jasmani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Tabel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di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mempunyai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jangkauan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atau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range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 = 167 – 152 = 15 cm.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390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780792"/>
          </a:xfrm>
        </p:spPr>
        <p:txBody>
          <a:bodyPr/>
          <a:lstStyle/>
          <a:p>
            <a:r>
              <a:rPr lang="en-US" dirty="0" smtClean="0"/>
              <a:t>SIMPANGAN RATA </a:t>
            </a:r>
            <a:r>
              <a:rPr lang="en-US" dirty="0" err="1" smtClean="0"/>
              <a:t>RATA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67411" y="1674364"/>
            <a:ext cx="10363826" cy="3424107"/>
          </a:xfrm>
        </p:spPr>
        <p:txBody>
          <a:bodyPr/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805180" algn="l"/>
              </a:tabLst>
            </a:pP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impangan</a:t>
            </a:r>
            <a:r>
              <a:rPr lang="id-ID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Rata-rata</a:t>
            </a:r>
            <a:r>
              <a:rPr lang="id-ID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id-ID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Mean</a:t>
            </a:r>
            <a:r>
              <a:rPr lang="id-ID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deviation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Disingkat</a:t>
            </a:r>
            <a:r>
              <a:rPr lang="id-ID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SR</a:t>
            </a:r>
            <a:r>
              <a:rPr lang="id-ID" spc="2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adalah</a:t>
            </a:r>
            <a:r>
              <a:rPr lang="id-ID" spc="2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nilai</a:t>
            </a:r>
            <a:r>
              <a:rPr lang="id-ID" spc="2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mutlak</a:t>
            </a:r>
            <a:r>
              <a:rPr lang="id-ID" spc="2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dari</a:t>
            </a:r>
            <a:r>
              <a:rPr lang="id-ID" spc="2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selisih</a:t>
            </a:r>
            <a:r>
              <a:rPr lang="id-ID" spc="2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semua</a:t>
            </a:r>
            <a:r>
              <a:rPr lang="id-ID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nilai</a:t>
            </a:r>
            <a:r>
              <a:rPr lang="id-ID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id-ID" spc="-2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nilai</a:t>
            </a:r>
            <a:r>
              <a:rPr lang="id-ID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rata-rata</a:t>
            </a:r>
            <a:r>
              <a:rPr lang="id-ID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bagi banyaknya</a:t>
            </a:r>
            <a:r>
              <a:rPr lang="id-ID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6417"/>
            <a:ext cx="10109301" cy="115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44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CONTOH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38" y="1825762"/>
            <a:ext cx="10002148" cy="27185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252" y="4696689"/>
            <a:ext cx="9020453" cy="163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1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830" y="53051"/>
            <a:ext cx="10364451" cy="1596177"/>
          </a:xfrm>
        </p:spPr>
        <p:txBody>
          <a:bodyPr/>
          <a:lstStyle/>
          <a:p>
            <a:r>
              <a:rPr lang="en-US" dirty="0" smtClean="0"/>
              <a:t>SIMPANGAN RATA </a:t>
            </a:r>
            <a:r>
              <a:rPr lang="en-US" dirty="0" err="1" smtClean="0"/>
              <a:t>RATA</a:t>
            </a:r>
            <a:r>
              <a:rPr lang="en-US" dirty="0" smtClean="0"/>
              <a:t> DATA BERKELOMPOK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89083" y="1799056"/>
            <a:ext cx="10363826" cy="3424107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001132"/>
              </p:ext>
            </p:extLst>
          </p:nvPr>
        </p:nvGraphicFramePr>
        <p:xfrm>
          <a:off x="1219199" y="1799057"/>
          <a:ext cx="6677891" cy="2468143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154964"/>
                <a:gridCol w="2232450"/>
                <a:gridCol w="2290477"/>
              </a:tblGrid>
              <a:tr h="488645">
                <a:tc>
                  <a:txBody>
                    <a:bodyPr/>
                    <a:lstStyle/>
                    <a:p>
                      <a:pPr marL="56515" marR="7683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Tinggi</a:t>
                      </a:r>
                      <a:r>
                        <a:rPr lang="id-ID" sz="1800" b="1" spc="-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Badan</a:t>
                      </a:r>
                      <a:r>
                        <a:rPr lang="id-ID" sz="1800" b="1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(cm)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Titik</a:t>
                      </a:r>
                      <a:r>
                        <a:rPr lang="id-ID" sz="1800" b="1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Tengah</a:t>
                      </a:r>
                      <a:r>
                        <a:rPr lang="id-ID" sz="1800" b="1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(X)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Frekuensi</a:t>
                      </a:r>
                      <a:r>
                        <a:rPr lang="id-ID" sz="1800" b="1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(f)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030">
                <a:tc>
                  <a:txBody>
                    <a:bodyPr/>
                    <a:lstStyle/>
                    <a:p>
                      <a:pPr marL="56515" marR="5207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150-154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28955" marR="52387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81025" marR="57594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645">
                <a:tc>
                  <a:txBody>
                    <a:bodyPr/>
                    <a:lstStyle/>
                    <a:p>
                      <a:pPr marL="56515" marR="5207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155-159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28955" marR="52387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81025" marR="57594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645">
                <a:tc>
                  <a:txBody>
                    <a:bodyPr/>
                    <a:lstStyle/>
                    <a:p>
                      <a:pPr marL="56515" marR="5207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160-164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28955" marR="52387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81025" marR="57594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178">
                <a:tc>
                  <a:txBody>
                    <a:bodyPr/>
                    <a:lstStyle/>
                    <a:p>
                      <a:pPr marL="56515" marR="5207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165-169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28955" marR="52387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219200" y="1398946"/>
            <a:ext cx="55821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Tinggi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Badan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Simpangan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Data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Berkelompok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47" y="4607040"/>
            <a:ext cx="7806999" cy="172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90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9464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25846" y="1015840"/>
            <a:ext cx="10363826" cy="3424107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535041"/>
              </p:ext>
            </p:extLst>
          </p:nvPr>
        </p:nvGraphicFramePr>
        <p:xfrm>
          <a:off x="1283967" y="1326140"/>
          <a:ext cx="5959795" cy="291725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838649"/>
                <a:gridCol w="1052989"/>
                <a:gridCol w="753010"/>
                <a:gridCol w="330589"/>
                <a:gridCol w="637711"/>
                <a:gridCol w="336712"/>
                <a:gridCol w="1010135"/>
              </a:tblGrid>
              <a:tr h="1116514">
                <a:tc>
                  <a:txBody>
                    <a:bodyPr/>
                    <a:lstStyle/>
                    <a:p>
                      <a:pPr marL="435610" marR="148590" indent="-27051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Tinggi Badan</a:t>
                      </a:r>
                      <a:r>
                        <a:rPr lang="id-ID" sz="1800" b="1" spc="-26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(cm)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1600" marR="95250" algn="ctr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Titik</a:t>
                      </a:r>
                      <a:r>
                        <a:rPr lang="id-ID" sz="1800" b="1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Tengah</a:t>
                      </a:r>
                      <a:r>
                        <a:rPr lang="id-ID" sz="1800" b="1" spc="-26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id-ID" sz="18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id-ID" sz="1800" b="1" i="1" baseline="-25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64465" marR="71755" indent="-7429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Frek</a:t>
                      </a:r>
                      <a:r>
                        <a:rPr lang="id-ID" sz="1800" b="1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id-ID" sz="1800" b="1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0" marR="25400" algn="ctr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id-ID" sz="18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Xi</a:t>
                      </a:r>
                      <a:r>
                        <a:rPr lang="id-ID" sz="1800" i="1" spc="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id-ID" sz="1800" spc="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08585" marR="5905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  <a:r>
                        <a:rPr lang="id-ID" sz="1800" i="1" spc="1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Xi</a:t>
                      </a:r>
                      <a:r>
                        <a:rPr lang="id-ID" sz="1800" i="1" spc="1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id-ID" sz="18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425">
                <a:tc>
                  <a:txBody>
                    <a:bodyPr/>
                    <a:lstStyle/>
                    <a:p>
                      <a:pPr marL="337820" marR="0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150-154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1600" marR="95250" algn="ctr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1765" marR="144780" algn="ctr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58420" algn="ctr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5,06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67310" algn="ctr">
                        <a:lnSpc>
                          <a:spcPts val="1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101,2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720">
                <a:tc>
                  <a:txBody>
                    <a:bodyPr/>
                    <a:lstStyle/>
                    <a:p>
                      <a:pPr marL="337820" marR="0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155-159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1600" marR="9525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1765" marR="14478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5842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0,06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025" marR="6731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2,52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720">
                <a:tc>
                  <a:txBody>
                    <a:bodyPr/>
                    <a:lstStyle/>
                    <a:p>
                      <a:pPr marL="337820" marR="0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160-164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1600" marR="9525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1765" marR="14478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5842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4,94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6731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54,34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720">
                <a:tc>
                  <a:txBody>
                    <a:bodyPr/>
                    <a:lstStyle/>
                    <a:p>
                      <a:pPr marL="337820" marR="0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165-169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1600" marR="9525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marR="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5842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9,94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6731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69,58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151">
                <a:tc>
                  <a:txBody>
                    <a:bodyPr/>
                    <a:lstStyle/>
                    <a:p>
                      <a:pPr marL="345440" marR="0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Jumlah-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" marR="0" algn="ctr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1765" marR="144780" algn="ctr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525" marR="0" algn="ctr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390" marR="67310" algn="ctr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227,64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83970" y="717070"/>
            <a:ext cx="137811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Tinggi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Badan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Simpangan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Data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Berfrekuensi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" name="Group 1"/>
          <p:cNvGrpSpPr>
            <a:grpSpLocks/>
          </p:cNvGrpSpPr>
          <p:nvPr/>
        </p:nvGrpSpPr>
        <p:grpSpPr bwMode="auto">
          <a:xfrm>
            <a:off x="1284288" y="1326298"/>
            <a:ext cx="118431" cy="45719"/>
            <a:chOff x="0" y="0"/>
            <a:chExt cx="164" cy="9"/>
          </a:xfrm>
        </p:grpSpPr>
        <p:sp>
          <p:nvSpPr>
            <p:cNvPr id="8" name="Line 2"/>
            <p:cNvSpPr>
              <a:spLocks noChangeShapeType="1"/>
            </p:cNvSpPr>
            <p:nvPr/>
          </p:nvSpPr>
          <p:spPr bwMode="auto">
            <a:xfrm>
              <a:off x="0" y="4"/>
              <a:ext cx="163" cy="0"/>
            </a:xfrm>
            <a:prstGeom prst="line">
              <a:avLst/>
            </a:prstGeom>
            <a:noFill/>
            <a:ln w="554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84287" y="1783499"/>
            <a:ext cx="13781113" cy="695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" name="Rectangle 59"/>
          <p:cNvSpPr>
            <a:spLocks noChangeArrowheads="1"/>
          </p:cNvSpPr>
          <p:nvPr/>
        </p:nvSpPr>
        <p:spPr bwMode="auto">
          <a:xfrm>
            <a:off x="371475" y="471188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Line 58"/>
          <p:cNvSpPr>
            <a:spLocks noChangeShapeType="1"/>
          </p:cNvSpPr>
          <p:nvPr/>
        </p:nvSpPr>
        <p:spPr bwMode="auto">
          <a:xfrm>
            <a:off x="2001838" y="5370700"/>
            <a:ext cx="396875" cy="0"/>
          </a:xfrm>
          <a:prstGeom prst="line">
            <a:avLst/>
          </a:prstGeom>
          <a:noFill/>
          <a:ln w="550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Rectangle 60"/>
          <p:cNvSpPr>
            <a:spLocks noChangeArrowheads="1"/>
          </p:cNvSpPr>
          <p:nvPr/>
        </p:nvSpPr>
        <p:spPr bwMode="auto">
          <a:xfrm>
            <a:off x="1349375" y="4522384"/>
            <a:ext cx="1144865" cy="1369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227, 64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80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2,8455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5" name="Straight Connector 64"/>
          <p:cNvCxnSpPr/>
          <p:nvPr/>
        </p:nvCxnSpPr>
        <p:spPr>
          <a:xfrm>
            <a:off x="1628775" y="4849411"/>
            <a:ext cx="769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062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Simpanagan</a:t>
            </a:r>
            <a:r>
              <a:rPr lang="en-US" dirty="0" smtClean="0"/>
              <a:t> </a:t>
            </a:r>
            <a:r>
              <a:rPr lang="en-US" dirty="0" err="1" smtClean="0"/>
              <a:t>baku</a:t>
            </a:r>
            <a:r>
              <a:rPr lang="en-US" dirty="0" smtClean="0"/>
              <a:t> (</a:t>
            </a:r>
            <a:r>
              <a:rPr lang="en-US" dirty="0" err="1" smtClean="0"/>
              <a:t>standar</a:t>
            </a:r>
            <a:r>
              <a:rPr lang="en-US" dirty="0" smtClean="0"/>
              <a:t> </a:t>
            </a:r>
            <a:r>
              <a:rPr lang="en-US" dirty="0" err="1" smtClean="0"/>
              <a:t>DeViasi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6855" y="2801367"/>
            <a:ext cx="15101280" cy="148940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3474" y="4669890"/>
            <a:ext cx="10162391" cy="170898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2550" y="2009534"/>
            <a:ext cx="17813439" cy="52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89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119753"/>
            <a:ext cx="10364451" cy="1596177"/>
          </a:xfrm>
        </p:spPr>
        <p:txBody>
          <a:bodyPr/>
          <a:lstStyle/>
          <a:p>
            <a:r>
              <a:rPr lang="en-US" dirty="0" err="1" smtClean="0"/>
              <a:t>Standar</a:t>
            </a:r>
            <a:r>
              <a:rPr lang="en-US" dirty="0" smtClean="0"/>
              <a:t> </a:t>
            </a:r>
            <a:r>
              <a:rPr lang="en-US" dirty="0" err="1" smtClean="0"/>
              <a:t>deviasi</a:t>
            </a:r>
            <a:r>
              <a:rPr lang="en-US" dirty="0" smtClean="0"/>
              <a:t> data </a:t>
            </a:r>
            <a:r>
              <a:rPr lang="en-US" dirty="0" err="1" smtClean="0"/>
              <a:t>berkelompok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4111" y="1552164"/>
            <a:ext cx="12155902" cy="16298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8771" y="3630929"/>
            <a:ext cx="13217576" cy="11774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14111" y="4219661"/>
            <a:ext cx="12215594" cy="173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01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Variansi</a:t>
            </a:r>
            <a:r>
              <a:rPr lang="en-US" dirty="0" smtClean="0"/>
              <a:t> (variance)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5" y="2034583"/>
            <a:ext cx="10363826" cy="3424107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620" y="2034583"/>
            <a:ext cx="11837137" cy="17754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4003" y="4416683"/>
            <a:ext cx="13389447" cy="161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032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94647"/>
          </a:xfrm>
        </p:spPr>
        <p:txBody>
          <a:bodyPr/>
          <a:lstStyle/>
          <a:p>
            <a:r>
              <a:rPr lang="en-US" dirty="0" err="1" smtClean="0"/>
              <a:t>contoh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75229" y="1466547"/>
            <a:ext cx="10363826" cy="3424107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4073" y="1466547"/>
            <a:ext cx="10185762" cy="83330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260648"/>
              </p:ext>
            </p:extLst>
          </p:nvPr>
        </p:nvGraphicFramePr>
        <p:xfrm>
          <a:off x="1948443" y="3030786"/>
          <a:ext cx="5340782" cy="258061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239856"/>
                <a:gridCol w="876950"/>
                <a:gridCol w="1861980"/>
                <a:gridCol w="1361996"/>
              </a:tblGrid>
              <a:tr h="372912">
                <a:tc>
                  <a:txBody>
                    <a:bodyPr/>
                    <a:lstStyle/>
                    <a:p>
                      <a:pPr marL="122555" marR="106045" algn="ctr"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id-ID" sz="1600" i="1" spc="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Xi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id-ID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06680" marR="10858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i="1" spc="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Xi</a:t>
                      </a:r>
                      <a:r>
                        <a:rPr lang="id-ID" sz="1600" i="1" spc="15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 dirty="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id-ID" sz="1600" spc="-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id-ID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82270" marR="0">
                        <a:lnSpc>
                          <a:spcPts val="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id-ID" sz="1600" spc="-16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 i="1" spc="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Xi</a:t>
                      </a:r>
                      <a:r>
                        <a:rPr lang="id-ID" sz="1600" i="1" spc="19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 dirty="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id-ID" sz="16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id-ID" sz="1600" i="1" spc="-8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384810" algn="r">
                        <a:lnSpc>
                          <a:spcPts val="3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marR="0" algn="ctr">
                        <a:lnSpc>
                          <a:spcPts val="46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35915" marR="368300" algn="ctr">
                        <a:lnSpc>
                          <a:spcPct val="6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i="1" spc="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Xi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826">
                <a:tc>
                  <a:txBody>
                    <a:bodyPr/>
                    <a:lstStyle/>
                    <a:p>
                      <a:pPr marL="3810" marR="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6680" marR="10160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94360" algn="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marR="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826">
                <a:tc>
                  <a:txBody>
                    <a:bodyPr/>
                    <a:lstStyle/>
                    <a:p>
                      <a:pPr marL="3810" marR="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6680" marR="10160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29920" algn="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74015" marR="36830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826">
                <a:tc>
                  <a:txBody>
                    <a:bodyPr/>
                    <a:lstStyle/>
                    <a:p>
                      <a:pPr marL="3810" marR="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6680" marR="10160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29920" algn="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74015" marR="36830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826">
                <a:tc>
                  <a:txBody>
                    <a:bodyPr/>
                    <a:lstStyle/>
                    <a:p>
                      <a:pPr marL="3810" marR="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6680" marR="10160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29920" algn="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74015" marR="36830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826">
                <a:tc>
                  <a:txBody>
                    <a:bodyPr/>
                    <a:lstStyle/>
                    <a:p>
                      <a:pPr marL="3810" marR="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" marR="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29920" algn="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74015" marR="36830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826">
                <a:tc>
                  <a:txBody>
                    <a:bodyPr/>
                    <a:lstStyle/>
                    <a:p>
                      <a:pPr marL="122555" marR="11684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" marR="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29920" algn="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74015" marR="36830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790">
                <a:tc>
                  <a:txBody>
                    <a:bodyPr/>
                    <a:lstStyle/>
                    <a:p>
                      <a:pPr marL="122555" marR="116840" algn="ctr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" marR="0" algn="ctr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94360" algn="r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74015" marR="368300" algn="ctr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256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184">
                <a:tc>
                  <a:txBody>
                    <a:bodyPr/>
                    <a:lstStyle/>
                    <a:p>
                      <a:pPr marL="122555" marR="120015" algn="ctr">
                        <a:lnSpc>
                          <a:spcPts val="18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å</a:t>
                      </a:r>
                      <a:r>
                        <a:rPr lang="id-ID" sz="1600" spc="-20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id-ID" sz="1600" i="1" spc="17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=</a:t>
                      </a:r>
                      <a:r>
                        <a:rPr lang="id-ID" sz="1600" spc="-6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805" marR="0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spc="7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å</a:t>
                      </a:r>
                      <a:r>
                        <a:rPr lang="id-ID" sz="1600" spc="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id-ID" sz="1600" spc="-1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id-ID" sz="1600" i="1" spc="18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id-ID" sz="1600" spc="6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id-ID" sz="1600" i="1" spc="-5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r>
                        <a:rPr lang="id-ID" sz="1600" baseline="30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id-ID" sz="1600" spc="1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=</a:t>
                      </a:r>
                      <a:r>
                        <a:rPr lang="id-ID" sz="1600" spc="-1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413385" algn="ctr">
                        <a:lnSpc>
                          <a:spcPts val="3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0330" marR="0">
                        <a:lnSpc>
                          <a:spcPts val="12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å</a:t>
                      </a:r>
                      <a:r>
                        <a:rPr lang="id-ID" sz="1600" spc="-16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id-ID" sz="1600" i="1" spc="1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id-ID" sz="1600" spc="14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 dirty="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=</a:t>
                      </a:r>
                      <a:r>
                        <a:rPr lang="id-ID" sz="1600" spc="-3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556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145415" algn="ctr">
                        <a:lnSpc>
                          <a:spcPts val="3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Line 1"/>
          <p:cNvSpPr>
            <a:spLocks noChangeShapeType="1"/>
          </p:cNvSpPr>
          <p:nvPr/>
        </p:nvSpPr>
        <p:spPr bwMode="auto">
          <a:xfrm>
            <a:off x="8129588" y="3724275"/>
            <a:ext cx="122237" cy="0"/>
          </a:xfrm>
          <a:prstGeom prst="line">
            <a:avLst/>
          </a:prstGeom>
          <a:noFill/>
          <a:ln w="616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3140364" y="5666120"/>
            <a:ext cx="120650" cy="6350"/>
            <a:chOff x="0" y="0"/>
            <a:chExt cx="189" cy="1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0" y="5"/>
              <a:ext cx="189" cy="0"/>
            </a:xfrm>
            <a:prstGeom prst="line">
              <a:avLst/>
            </a:prstGeom>
            <a:noFill/>
            <a:ln w="614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" name="Group 2"/>
          <p:cNvGrpSpPr>
            <a:grpSpLocks/>
          </p:cNvGrpSpPr>
          <p:nvPr/>
        </p:nvGrpSpPr>
        <p:grpSpPr bwMode="auto">
          <a:xfrm>
            <a:off x="4995140" y="2771875"/>
            <a:ext cx="119063" cy="6350"/>
            <a:chOff x="0" y="0"/>
            <a:chExt cx="188" cy="10"/>
          </a:xfrm>
        </p:grpSpPr>
        <p:sp>
          <p:nvSpPr>
            <p:cNvPr id="10" name="Line 3"/>
            <p:cNvSpPr>
              <a:spLocks noChangeShapeType="1"/>
            </p:cNvSpPr>
            <p:nvPr/>
          </p:nvSpPr>
          <p:spPr bwMode="auto">
            <a:xfrm>
              <a:off x="0" y="5"/>
              <a:ext cx="187" cy="0"/>
            </a:xfrm>
            <a:prstGeom prst="line">
              <a:avLst/>
            </a:prstGeom>
            <a:noFill/>
            <a:ln w="614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351087" y="188244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45928" tIns="812544" rIns="0" bIns="19044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Perhitungan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Variansi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4165600" y="3724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kumimoji="0" lang="en-US" alt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4165600" y="3285694"/>
            <a:ext cx="216726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979" y="4671669"/>
            <a:ext cx="11516151" cy="202038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1087" y="1715709"/>
            <a:ext cx="10634146" cy="107298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249" y="2881607"/>
            <a:ext cx="13387976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76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Variansi</a:t>
            </a:r>
            <a:r>
              <a:rPr lang="en-US" dirty="0" smtClean="0"/>
              <a:t> data </a:t>
            </a:r>
            <a:r>
              <a:rPr lang="en-US" dirty="0" err="1" smtClean="0"/>
              <a:t>berkelompok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76" y="1863746"/>
            <a:ext cx="16357297" cy="21857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3143" y="4354281"/>
            <a:ext cx="14771455" cy="194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82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146" y="276014"/>
            <a:ext cx="10364451" cy="745826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Contoh</a:t>
            </a:r>
            <a:r>
              <a:rPr lang="en-US" dirty="0" smtClean="0"/>
              <a:t> data </a:t>
            </a:r>
            <a:r>
              <a:rPr lang="en-US" dirty="0" err="1" smtClean="0"/>
              <a:t>tinggi</a:t>
            </a:r>
            <a:r>
              <a:rPr lang="en-US" dirty="0" smtClean="0"/>
              <a:t> </a:t>
            </a:r>
            <a:r>
              <a:rPr lang="en-US" dirty="0" err="1" smtClean="0"/>
              <a:t>badan</a:t>
            </a:r>
            <a:r>
              <a:rPr lang="en-US" dirty="0" smtClean="0"/>
              <a:t> </a:t>
            </a:r>
            <a:r>
              <a:rPr lang="en-US" dirty="0" err="1" smtClean="0"/>
              <a:t>mahasiswa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informasi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83146" y="1364344"/>
            <a:ext cx="10363826" cy="3424107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63397"/>
              </p:ext>
            </p:extLst>
          </p:nvPr>
        </p:nvGraphicFramePr>
        <p:xfrm>
          <a:off x="1579649" y="1174469"/>
          <a:ext cx="4588922" cy="2420963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498608"/>
                <a:gridCol w="1520029"/>
                <a:gridCol w="1570285"/>
              </a:tblGrid>
              <a:tr h="583635">
                <a:tc>
                  <a:txBody>
                    <a:bodyPr/>
                    <a:lstStyle/>
                    <a:p>
                      <a:pPr marL="67310" marR="257175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Tinggi Badan</a:t>
                      </a:r>
                      <a:r>
                        <a:rPr lang="id-ID" sz="1800" b="1" spc="-26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(cm)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marR="8382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Titik</a:t>
                      </a:r>
                      <a:r>
                        <a:rPr lang="id-ID" sz="1800" b="1" spc="-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Tengah</a:t>
                      </a:r>
                      <a:r>
                        <a:rPr lang="id-ID" sz="1800" b="1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id-ID" sz="18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Frekuensi</a:t>
                      </a:r>
                      <a:r>
                        <a:rPr lang="id-ID" sz="1800" b="1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id-ID" sz="1800" b="1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929">
                <a:tc>
                  <a:txBody>
                    <a:bodyPr/>
                    <a:lstStyle/>
                    <a:p>
                      <a:pPr marL="330200" marR="326390" algn="ctr">
                        <a:lnSpc>
                          <a:spcPts val="1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150-154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marR="52070" algn="ctr">
                        <a:lnSpc>
                          <a:spcPts val="1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23240" marR="514985" algn="ctr">
                        <a:lnSpc>
                          <a:spcPts val="1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051">
                <a:tc>
                  <a:txBody>
                    <a:bodyPr/>
                    <a:lstStyle/>
                    <a:p>
                      <a:pPr marL="330200" marR="32639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155-159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marR="5207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23240" marR="51498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174">
                <a:tc>
                  <a:txBody>
                    <a:bodyPr/>
                    <a:lstStyle/>
                    <a:p>
                      <a:pPr marL="330200" marR="32639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160-164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marR="5207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23240" marR="51498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174">
                <a:tc>
                  <a:txBody>
                    <a:bodyPr/>
                    <a:lstStyle/>
                    <a:p>
                      <a:pPr marL="330200" marR="32639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165-169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marR="5207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79649" y="1425162"/>
            <a:ext cx="15818190" cy="808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704114" y="130486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Freeform 2"/>
          <p:cNvSpPr>
            <a:spLocks/>
          </p:cNvSpPr>
          <p:nvPr/>
        </p:nvSpPr>
        <p:spPr bwMode="auto">
          <a:xfrm>
            <a:off x="7364639" y="2006544"/>
            <a:ext cx="109538" cy="1588"/>
          </a:xfrm>
          <a:custGeom>
            <a:avLst/>
            <a:gdLst>
              <a:gd name="T0" fmla="+- 0 2616 2616"/>
              <a:gd name="T1" fmla="*/ T0 w 173"/>
              <a:gd name="T2" fmla="+- 0 2788 2616"/>
              <a:gd name="T3" fmla="*/ T2 w 173"/>
            </a:gdLst>
            <a:ahLst/>
            <a:cxnLst>
              <a:cxn ang="0">
                <a:pos x="T1" y="0"/>
              </a:cxn>
              <a:cxn ang="0">
                <a:pos x="T3" y="0"/>
              </a:cxn>
            </a:cxnLst>
            <a:rect l="0" t="0" r="r" b="b"/>
            <a:pathLst>
              <a:path w="173">
                <a:moveTo>
                  <a:pt x="0" y="0"/>
                </a:moveTo>
                <a:lnTo>
                  <a:pt x="172" y="0"/>
                </a:lnTo>
              </a:path>
            </a:pathLst>
          </a:custGeom>
          <a:noFill/>
          <a:ln w="554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778852" y="1380638"/>
            <a:ext cx="1797287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Penyelesaian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=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157, 06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081771"/>
              </p:ext>
            </p:extLst>
          </p:nvPr>
        </p:nvGraphicFramePr>
        <p:xfrm>
          <a:off x="1754966" y="3800991"/>
          <a:ext cx="6261338" cy="306338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376926"/>
                <a:gridCol w="598792"/>
                <a:gridCol w="508629"/>
                <a:gridCol w="1015299"/>
                <a:gridCol w="1313225"/>
                <a:gridCol w="1448467"/>
              </a:tblGrid>
              <a:tr h="732475">
                <a:tc>
                  <a:txBody>
                    <a:bodyPr/>
                    <a:lstStyle/>
                    <a:p>
                      <a:pPr marL="97790" marR="89535" indent="15303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Tinggi</a:t>
                      </a:r>
                      <a:r>
                        <a:rPr lang="id-ID" sz="1800" b="1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Badan</a:t>
                      </a:r>
                      <a:r>
                        <a:rPr lang="id-ID" sz="1800" b="1" spc="-7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(cm)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295" marR="70485" algn="ctr">
                        <a:lnSpc>
                          <a:spcPts val="12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id-ID" sz="1800" b="1" i="1" baseline="-25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>
                        <a:lnSpc>
                          <a:spcPts val="12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b="1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18110" marR="12192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i="1" spc="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Xi</a:t>
                      </a:r>
                      <a:r>
                        <a:rPr lang="id-ID" sz="1800" i="1" spc="15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id-ID" sz="18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33350" marR="0">
                        <a:lnSpc>
                          <a:spcPts val="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id-ID" sz="1800" spc="-16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id-ID" sz="1800" i="1" spc="9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id-ID" sz="1800" spc="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id-ID" sz="1800" i="1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r>
                        <a:rPr lang="id-ID" sz="1800" baseline="30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212090" algn="ctr">
                        <a:lnSpc>
                          <a:spcPts val="4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id-ID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49860" marR="0">
                        <a:lnSpc>
                          <a:spcPts val="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  <a:r>
                        <a:rPr lang="id-ID" sz="1800" i="1" spc="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id-ID" sz="1800" spc="-1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id-ID" sz="1800" i="1" spc="1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id-ID" sz="1800" spc="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id-ID" sz="1800" i="1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r>
                        <a:rPr lang="id-ID" sz="1800" baseline="30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101600" algn="ctr">
                        <a:lnSpc>
                          <a:spcPts val="4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920">
                <a:tc>
                  <a:txBody>
                    <a:bodyPr/>
                    <a:lstStyle/>
                    <a:p>
                      <a:pPr marL="0" marR="205105" algn="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150-154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5565" marR="7048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980" marR="0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8110" marR="11493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-5,06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0500" algn="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25,6036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6845" marR="15494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512,072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961">
                <a:tc>
                  <a:txBody>
                    <a:bodyPr/>
                    <a:lstStyle/>
                    <a:p>
                      <a:pPr marL="0" marR="205105" algn="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155-159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5565" marR="7048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980" marR="0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8110" marR="11493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-0,06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25425" algn="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0,0036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6845" marR="15494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0,1548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43">
                <a:tc>
                  <a:txBody>
                    <a:bodyPr/>
                    <a:lstStyle/>
                    <a:p>
                      <a:pPr marL="0" marR="205105" algn="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160-164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5565" marR="7048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980" marR="0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8110" marR="11430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4,94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0500" algn="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24,4036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6845" marR="15494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268,4396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344">
                <a:tc>
                  <a:txBody>
                    <a:bodyPr/>
                    <a:lstStyle/>
                    <a:p>
                      <a:pPr marL="0" marR="205105" algn="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165-169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5565" marR="7048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8905" marR="0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8110" marR="11430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9,94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0500" algn="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98,8036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6845" marR="15494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691,6252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244">
                <a:tc>
                  <a:txBody>
                    <a:bodyPr/>
                    <a:lstStyle/>
                    <a:p>
                      <a:pPr marL="67945" marR="0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Jumlah-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980" marR="0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7480" marR="15494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1472,2916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1579650" y="4078535"/>
            <a:ext cx="172028" cy="53779"/>
            <a:chOff x="0" y="0"/>
            <a:chExt cx="189" cy="10"/>
          </a:xfrm>
        </p:grpSpPr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0" y="5"/>
              <a:ext cx="189" cy="0"/>
            </a:xfrm>
            <a:prstGeom prst="line">
              <a:avLst/>
            </a:prstGeom>
            <a:noFill/>
            <a:ln w="614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" name="Group 7"/>
          <p:cNvGrpSpPr>
            <a:grpSpLocks/>
          </p:cNvGrpSpPr>
          <p:nvPr/>
        </p:nvGrpSpPr>
        <p:grpSpPr bwMode="auto">
          <a:xfrm>
            <a:off x="1579650" y="4078535"/>
            <a:ext cx="169766" cy="53779"/>
            <a:chOff x="0" y="0"/>
            <a:chExt cx="188" cy="10"/>
          </a:xfrm>
        </p:grpSpPr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0" y="5"/>
              <a:ext cx="187" cy="0"/>
            </a:xfrm>
            <a:prstGeom prst="line">
              <a:avLst/>
            </a:prstGeom>
            <a:noFill/>
            <a:ln w="614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" name="Group 5"/>
          <p:cNvGrpSpPr>
            <a:grpSpLocks/>
          </p:cNvGrpSpPr>
          <p:nvPr/>
        </p:nvGrpSpPr>
        <p:grpSpPr bwMode="auto">
          <a:xfrm>
            <a:off x="1579649" y="4078535"/>
            <a:ext cx="174292" cy="53779"/>
            <a:chOff x="0" y="0"/>
            <a:chExt cx="192" cy="10"/>
          </a:xfrm>
        </p:grpSpPr>
        <p:sp>
          <p:nvSpPr>
            <p:cNvPr id="15" name="Line 6"/>
            <p:cNvSpPr>
              <a:spLocks noChangeShapeType="1"/>
            </p:cNvSpPr>
            <p:nvPr/>
          </p:nvSpPr>
          <p:spPr bwMode="auto">
            <a:xfrm>
              <a:off x="0" y="5"/>
              <a:ext cx="191" cy="0"/>
            </a:xfrm>
            <a:prstGeom prst="line">
              <a:avLst/>
            </a:prstGeom>
            <a:noFill/>
            <a:ln w="614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335" y="4376340"/>
            <a:ext cx="9569274" cy="85681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923" y="2804032"/>
            <a:ext cx="11787916" cy="157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170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4000" dirty="0" smtClean="0"/>
              <a:t>TERIMA KASIH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9755262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89</TotalTime>
  <Words>408</Words>
  <Application>Microsoft Office PowerPoint</Application>
  <PresentationFormat>Widescreen</PresentationFormat>
  <Paragraphs>224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Symbol</vt:lpstr>
      <vt:lpstr>Times New Roman</vt:lpstr>
      <vt:lpstr>Tw Cen MT</vt:lpstr>
      <vt:lpstr>Droplet</vt:lpstr>
      <vt:lpstr>BAB IV UKURAN PENYEBARAN DATA</vt:lpstr>
      <vt:lpstr>CAPAIAN PEMBELAJARAN</vt:lpstr>
      <vt:lpstr>UKURAN PENYEBARAN</vt:lpstr>
      <vt:lpstr>contoh</vt:lpstr>
      <vt:lpstr>SIMPANGAN RATA RATA</vt:lpstr>
      <vt:lpstr>CONTOH</vt:lpstr>
      <vt:lpstr>SIMPANGAN RATA RATA DATA BERKELOMPOK</vt:lpstr>
      <vt:lpstr> </vt:lpstr>
      <vt:lpstr>Simpanagan baku (standar DeViasi)</vt:lpstr>
      <vt:lpstr>Standar deviasi data berkelompok</vt:lpstr>
      <vt:lpstr>Variansi (variance)</vt:lpstr>
      <vt:lpstr>contoh</vt:lpstr>
      <vt:lpstr>Variansi data berkelompok</vt:lpstr>
      <vt:lpstr>Contoh data tinggi badan mahasiswa sistem informasi</vt:lpstr>
      <vt:lpstr>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IV UKURAN PENYEBARAN DATA</dc:title>
  <dc:creator>Windows User</dc:creator>
  <cp:lastModifiedBy>Windows User</cp:lastModifiedBy>
  <cp:revision>16</cp:revision>
  <dcterms:created xsi:type="dcterms:W3CDTF">2022-10-05T23:57:05Z</dcterms:created>
  <dcterms:modified xsi:type="dcterms:W3CDTF">2023-10-04T22:31:09Z</dcterms:modified>
</cp:coreProperties>
</file>