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62" r:id="rId9"/>
    <p:sldId id="263" r:id="rId10"/>
    <p:sldId id="264" r:id="rId11"/>
    <p:sldId id="265" r:id="rId12"/>
    <p:sldId id="267" r:id="rId13"/>
    <p:sldId id="266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4" autoAdjust="0"/>
    <p:restoredTop sz="94660"/>
  </p:normalViewPr>
  <p:slideViewPr>
    <p:cSldViewPr snapToGrid="0">
      <p:cViewPr varScale="1">
        <p:scale>
          <a:sx n="69" d="100"/>
          <a:sy n="69" d="100"/>
        </p:scale>
        <p:origin x="6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709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10/21/2022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777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10/21/2022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397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10/21/2022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908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10/21/2022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5402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10/21/2022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139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10/21/2022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443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10/21/2022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154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10/21/2022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449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078350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5160703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39690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9417019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005205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10/21/2022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1429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10/21/2022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4188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10/21/2022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4038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BAB V KONSEP PROBABILITAS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Oleh</a:t>
            </a:r>
            <a:r>
              <a:rPr lang="en-US" dirty="0" smtClean="0"/>
              <a:t> : Ir. </a:t>
            </a:r>
            <a:r>
              <a:rPr lang="en-US" dirty="0" err="1" smtClean="0"/>
              <a:t>Masruki</a:t>
            </a:r>
            <a:r>
              <a:rPr lang="en-US" dirty="0" smtClean="0"/>
              <a:t> </a:t>
            </a:r>
            <a:r>
              <a:rPr lang="en-US" dirty="0" err="1" smtClean="0"/>
              <a:t>Kabib</a:t>
            </a:r>
            <a:r>
              <a:rPr lang="en-US" dirty="0" smtClean="0"/>
              <a:t>, MT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0642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CAPAIAN PEMBELAJARAN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1. </a:t>
            </a:r>
            <a:r>
              <a:rPr lang="en-US" dirty="0" err="1" smtClean="0"/>
              <a:t>Mahasiswa</a:t>
            </a:r>
            <a:r>
              <a:rPr lang="en-US" dirty="0" smtClean="0"/>
              <a:t> </a:t>
            </a:r>
            <a:r>
              <a:rPr lang="en-US" dirty="0" err="1" smtClean="0"/>
              <a:t>mampu</a:t>
            </a:r>
            <a:r>
              <a:rPr lang="en-US" dirty="0" smtClean="0"/>
              <a:t> </a:t>
            </a:r>
            <a:r>
              <a:rPr lang="en-US" dirty="0" err="1" smtClean="0"/>
              <a:t>menjelaskan</a:t>
            </a:r>
            <a:r>
              <a:rPr lang="en-US" dirty="0" smtClean="0"/>
              <a:t> </a:t>
            </a:r>
            <a:r>
              <a:rPr lang="en-US" dirty="0" err="1" smtClean="0"/>
              <a:t>pengertian</a:t>
            </a:r>
            <a:r>
              <a:rPr lang="en-US" dirty="0" smtClean="0"/>
              <a:t> </a:t>
            </a:r>
            <a:r>
              <a:rPr lang="en-US" dirty="0" err="1" smtClean="0"/>
              <a:t>probabilitas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758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A. </a:t>
            </a:r>
            <a:r>
              <a:rPr lang="en-US" dirty="0" err="1" smtClean="0"/>
              <a:t>Pengertian</a:t>
            </a:r>
            <a:r>
              <a:rPr lang="en-US" dirty="0" smtClean="0"/>
              <a:t> </a:t>
            </a:r>
            <a:r>
              <a:rPr lang="en-US" dirty="0" err="1" smtClean="0"/>
              <a:t>Probabilitas</a:t>
            </a:r>
            <a:r>
              <a:rPr lang="en-US" dirty="0" smtClean="0"/>
              <a:t> (</a:t>
            </a:r>
            <a:r>
              <a:rPr lang="en-US" dirty="0" err="1" smtClean="0"/>
              <a:t>peluang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1" y="1853248"/>
            <a:ext cx="10285125" cy="43951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 smtClean="0"/>
              <a:t>Teori</a:t>
            </a:r>
            <a:r>
              <a:rPr lang="en-US" dirty="0" smtClean="0"/>
              <a:t> </a:t>
            </a:r>
            <a:r>
              <a:rPr lang="en-US" dirty="0" err="1"/>
              <a:t>probabilitas</a:t>
            </a:r>
            <a:r>
              <a:rPr lang="en-US" dirty="0"/>
              <a:t> </a:t>
            </a:r>
            <a:r>
              <a:rPr lang="en-US" dirty="0" err="1"/>
              <a:t>telah</a:t>
            </a:r>
            <a:r>
              <a:rPr lang="en-US" dirty="0"/>
              <a:t> </a:t>
            </a:r>
            <a:r>
              <a:rPr lang="en-US" dirty="0" err="1" smtClean="0"/>
              <a:t>disebut</a:t>
            </a:r>
            <a:r>
              <a:rPr lang="en-US" dirty="0" smtClean="0"/>
              <a:t> </a:t>
            </a:r>
            <a:r>
              <a:rPr lang="en-US" dirty="0" err="1" smtClean="0"/>
              <a:t>sebagai</a:t>
            </a:r>
            <a:r>
              <a:rPr lang="en-US" dirty="0" smtClean="0"/>
              <a:t> </a:t>
            </a:r>
            <a:r>
              <a:rPr lang="en-US" dirty="0"/>
              <a:t>"</a:t>
            </a:r>
            <a:r>
              <a:rPr lang="en-US" dirty="0" err="1"/>
              <a:t>ilmu</a:t>
            </a:r>
            <a:r>
              <a:rPr lang="en-US" dirty="0"/>
              <a:t> </a:t>
            </a:r>
            <a:r>
              <a:rPr lang="en-US" dirty="0" err="1"/>
              <a:t>ketidakpastian</a:t>
            </a:r>
            <a:r>
              <a:rPr lang="en-US" dirty="0"/>
              <a:t>"; </a:t>
            </a:r>
            <a:r>
              <a:rPr lang="en-US" dirty="0" err="1"/>
              <a:t>meskipun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 smtClean="0"/>
              <a:t>intuitif</a:t>
            </a:r>
            <a:r>
              <a:rPr lang="en-US" dirty="0" smtClean="0"/>
              <a:t> </a:t>
            </a:r>
            <a:r>
              <a:rPr lang="en-US" dirty="0" err="1" smtClean="0"/>
              <a:t>kebanyakan</a:t>
            </a:r>
            <a:r>
              <a:rPr lang="en-US" dirty="0" smtClean="0"/>
              <a:t> </a:t>
            </a:r>
            <a:r>
              <a:rPr lang="en-US" dirty="0"/>
              <a:t>orang </a:t>
            </a:r>
            <a:r>
              <a:rPr lang="en-US" dirty="0" err="1"/>
              <a:t>mengaitkan</a:t>
            </a:r>
            <a:r>
              <a:rPr lang="en-US" dirty="0"/>
              <a:t> </a:t>
            </a:r>
            <a:r>
              <a:rPr lang="en-US" dirty="0" err="1"/>
              <a:t>probabilitas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 smtClean="0"/>
              <a:t>tingkatkeyakinan</a:t>
            </a:r>
            <a:r>
              <a:rPr lang="en-US" dirty="0" smtClean="0"/>
              <a:t> </a:t>
            </a:r>
            <a:r>
              <a:rPr lang="en-US" dirty="0" err="1"/>
              <a:t>bahwa</a:t>
            </a:r>
            <a:r>
              <a:rPr lang="en-US" dirty="0"/>
              <a:t> </a:t>
            </a:r>
            <a:r>
              <a:rPr lang="en-US" dirty="0" err="1"/>
              <a:t>sesuatu</a:t>
            </a:r>
            <a:r>
              <a:rPr lang="en-US" dirty="0"/>
              <a:t> </a:t>
            </a:r>
            <a:r>
              <a:rPr lang="en-US" dirty="0" err="1"/>
              <a:t>mungkin</a:t>
            </a:r>
            <a:r>
              <a:rPr lang="en-US" dirty="0"/>
              <a:t> </a:t>
            </a:r>
            <a:r>
              <a:rPr lang="en-US" dirty="0" err="1"/>
              <a:t>terjadi</a:t>
            </a:r>
            <a:r>
              <a:rPr lang="en-US" dirty="0"/>
              <a:t>, </a:t>
            </a:r>
            <a:r>
              <a:rPr lang="en-US" dirty="0" err="1"/>
              <a:t>teori</a:t>
            </a:r>
            <a:r>
              <a:rPr lang="en-US" dirty="0"/>
              <a:t> </a:t>
            </a:r>
            <a:r>
              <a:rPr lang="en-US" dirty="0" err="1"/>
              <a:t>probabilitas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jauh</a:t>
            </a:r>
            <a:r>
              <a:rPr lang="en-US" dirty="0"/>
              <a:t> </a:t>
            </a:r>
            <a:r>
              <a:rPr lang="en-US" dirty="0" err="1"/>
              <a:t>melampaui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berusaha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 smtClean="0"/>
              <a:t>meresmikanketidakpastian</a:t>
            </a:r>
            <a:r>
              <a:rPr lang="en-US" dirty="0" smtClean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yang </a:t>
            </a:r>
            <a:r>
              <a:rPr lang="en-US" dirty="0" err="1"/>
              <a:t>diterima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smtClean="0"/>
              <a:t>universal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/>
              <a:t>juga </a:t>
            </a:r>
            <a:r>
              <a:rPr lang="en-US" dirty="0" err="1"/>
              <a:t>tunduk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perlakuan</a:t>
            </a:r>
            <a:r>
              <a:rPr lang="en-US" dirty="0"/>
              <a:t> </a:t>
            </a:r>
            <a:r>
              <a:rPr lang="en-US" dirty="0" err="1"/>
              <a:t>matematika</a:t>
            </a:r>
            <a:r>
              <a:rPr lang="en-US" dirty="0"/>
              <a:t> yang </a:t>
            </a:r>
            <a:r>
              <a:rPr lang="en-US" dirty="0" err="1" smtClean="0"/>
              <a:t>ketat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 smtClean="0"/>
              <a:t>Istilah</a:t>
            </a:r>
            <a:r>
              <a:rPr lang="en-US" dirty="0" smtClean="0"/>
              <a:t> </a:t>
            </a:r>
            <a:r>
              <a:rPr lang="en-US" dirty="0" err="1"/>
              <a:t>peluang</a:t>
            </a:r>
            <a:r>
              <a:rPr lang="en-US" dirty="0"/>
              <a:t> </a:t>
            </a:r>
            <a:r>
              <a:rPr lang="en-US" dirty="0" err="1"/>
              <a:t>identik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kata “</a:t>
            </a:r>
            <a:r>
              <a:rPr lang="en-US" dirty="0" err="1"/>
              <a:t>Mungkin</a:t>
            </a:r>
            <a:r>
              <a:rPr lang="en-US" dirty="0"/>
              <a:t>”. </a:t>
            </a:r>
            <a:r>
              <a:rPr lang="en-US" dirty="0" err="1"/>
              <a:t>Misalnya</a:t>
            </a:r>
            <a:r>
              <a:rPr lang="en-US" dirty="0"/>
              <a:t>: </a:t>
            </a:r>
            <a:r>
              <a:rPr lang="en-US" dirty="0" err="1"/>
              <a:t>mungkin</a:t>
            </a:r>
            <a:r>
              <a:rPr lang="en-US" dirty="0"/>
              <a:t> </a:t>
            </a:r>
            <a:r>
              <a:rPr lang="en-US" dirty="0" err="1"/>
              <a:t>besok</a:t>
            </a:r>
            <a:r>
              <a:rPr lang="en-US" dirty="0"/>
              <a:t> </a:t>
            </a:r>
            <a:r>
              <a:rPr lang="en-US" dirty="0" err="1"/>
              <a:t>hujan</a:t>
            </a:r>
            <a:r>
              <a:rPr lang="en-US" dirty="0"/>
              <a:t> </a:t>
            </a:r>
            <a:r>
              <a:rPr lang="en-US" dirty="0" err="1"/>
              <a:t>lebat</a:t>
            </a:r>
            <a:r>
              <a:rPr lang="en-US" dirty="0"/>
              <a:t>, </a:t>
            </a:r>
            <a:r>
              <a:rPr lang="en-US" dirty="0" err="1"/>
              <a:t>mungkin</a:t>
            </a:r>
            <a:r>
              <a:rPr lang="en-US" dirty="0"/>
              <a:t> </a:t>
            </a:r>
            <a:r>
              <a:rPr lang="en-US" dirty="0" err="1"/>
              <a:t>bulan</a:t>
            </a:r>
            <a:r>
              <a:rPr lang="en-US" dirty="0"/>
              <a:t> </a:t>
            </a:r>
            <a:r>
              <a:rPr lang="en-US" dirty="0" err="1"/>
              <a:t>depan</a:t>
            </a:r>
            <a:r>
              <a:rPr lang="en-US" dirty="0"/>
              <a:t> </a:t>
            </a:r>
            <a:r>
              <a:rPr lang="en-US" dirty="0" err="1"/>
              <a:t>terjadi</a:t>
            </a:r>
            <a:r>
              <a:rPr lang="en-US" dirty="0"/>
              <a:t> </a:t>
            </a:r>
            <a:r>
              <a:rPr lang="en-US" dirty="0" err="1"/>
              <a:t>bencana</a:t>
            </a:r>
            <a:r>
              <a:rPr lang="en-US" dirty="0"/>
              <a:t> </a:t>
            </a:r>
            <a:r>
              <a:rPr lang="en-US" dirty="0" err="1"/>
              <a:t>alam</a:t>
            </a:r>
            <a:r>
              <a:rPr lang="en-US" dirty="0"/>
              <a:t> tsunami, </a:t>
            </a:r>
            <a:r>
              <a:rPr lang="en-US" dirty="0" err="1"/>
              <a:t>mungkin</a:t>
            </a:r>
            <a:r>
              <a:rPr lang="en-US" dirty="0"/>
              <a:t> </a:t>
            </a:r>
            <a:r>
              <a:rPr lang="en-US" dirty="0" err="1"/>
              <a:t>terjadi</a:t>
            </a:r>
            <a:r>
              <a:rPr lang="en-US" dirty="0"/>
              <a:t> </a:t>
            </a:r>
            <a:r>
              <a:rPr lang="en-US" dirty="0" err="1"/>
              <a:t>malpraktik</a:t>
            </a:r>
            <a:r>
              <a:rPr lang="en-US" dirty="0"/>
              <a:t>, </a:t>
            </a:r>
            <a:r>
              <a:rPr lang="en-US" dirty="0" err="1"/>
              <a:t>mungkin</a:t>
            </a:r>
            <a:r>
              <a:rPr lang="en-US" dirty="0"/>
              <a:t> </a:t>
            </a:r>
            <a:r>
              <a:rPr lang="en-US" dirty="0" err="1"/>
              <a:t>salah</a:t>
            </a:r>
            <a:r>
              <a:rPr lang="en-US" dirty="0"/>
              <a:t> </a:t>
            </a:r>
            <a:r>
              <a:rPr lang="en-US" dirty="0" err="1"/>
              <a:t>mengetik</a:t>
            </a:r>
            <a:r>
              <a:rPr lang="en-US" dirty="0"/>
              <a:t> </a:t>
            </a:r>
            <a:r>
              <a:rPr lang="en-US" dirty="0" err="1"/>
              <a:t>huruf</a:t>
            </a:r>
            <a:r>
              <a:rPr lang="en-US" dirty="0"/>
              <a:t>, </a:t>
            </a:r>
            <a:r>
              <a:rPr lang="en-US" dirty="0" err="1"/>
              <a:t>mungkin</a:t>
            </a:r>
            <a:r>
              <a:rPr lang="en-US" dirty="0"/>
              <a:t> </a:t>
            </a:r>
            <a:r>
              <a:rPr lang="en-US" dirty="0" err="1"/>
              <a:t>kecelakaan</a:t>
            </a:r>
            <a:r>
              <a:rPr lang="en-US" dirty="0"/>
              <a:t> </a:t>
            </a:r>
            <a:r>
              <a:rPr lang="en-US" dirty="0" err="1"/>
              <a:t>terjadi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hari</a:t>
            </a:r>
            <a:r>
              <a:rPr lang="en-US" dirty="0"/>
              <a:t>. </a:t>
            </a:r>
            <a:r>
              <a:rPr lang="en-US" dirty="0" err="1"/>
              <a:t>Pemberian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numerik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sesuatu</a:t>
            </a:r>
            <a:r>
              <a:rPr lang="en-US" dirty="0"/>
              <a:t> yang </a:t>
            </a:r>
            <a:r>
              <a:rPr lang="en-US" dirty="0" err="1"/>
              <a:t>bersifat</a:t>
            </a:r>
            <a:r>
              <a:rPr lang="en-US" dirty="0"/>
              <a:t> </a:t>
            </a:r>
            <a:r>
              <a:rPr lang="en-US" dirty="0" err="1"/>
              <a:t>mungkin</a:t>
            </a:r>
            <a:r>
              <a:rPr lang="en-US" dirty="0"/>
              <a:t> </a:t>
            </a:r>
            <a:r>
              <a:rPr lang="en-US" dirty="0" err="1"/>
              <a:t>disebut</a:t>
            </a:r>
            <a:r>
              <a:rPr lang="en-US" dirty="0"/>
              <a:t> </a:t>
            </a:r>
            <a:r>
              <a:rPr lang="en-US" dirty="0" err="1"/>
              <a:t>peluang</a:t>
            </a:r>
            <a:r>
              <a:rPr lang="en-US" dirty="0"/>
              <a:t>.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contoh</a:t>
            </a:r>
            <a:r>
              <a:rPr lang="en-US" dirty="0"/>
              <a:t>: </a:t>
            </a:r>
            <a:r>
              <a:rPr lang="en-US" dirty="0" err="1"/>
              <a:t>Peluang</a:t>
            </a:r>
            <a:r>
              <a:rPr lang="en-US" dirty="0"/>
              <a:t> </a:t>
            </a:r>
            <a:r>
              <a:rPr lang="en-US" dirty="0" err="1"/>
              <a:t>besok</a:t>
            </a:r>
            <a:r>
              <a:rPr lang="en-US" dirty="0"/>
              <a:t> </a:t>
            </a:r>
            <a:r>
              <a:rPr lang="en-US" dirty="0" err="1"/>
              <a:t>hujan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75%, </a:t>
            </a:r>
            <a:r>
              <a:rPr lang="en-US" dirty="0" err="1"/>
              <a:t>peluang</a:t>
            </a:r>
            <a:r>
              <a:rPr lang="en-US" dirty="0"/>
              <a:t> </a:t>
            </a:r>
            <a:r>
              <a:rPr lang="en-US" dirty="0" err="1"/>
              <a:t>malpraktik</a:t>
            </a:r>
            <a:r>
              <a:rPr lang="en-US" dirty="0"/>
              <a:t> </a:t>
            </a:r>
            <a:r>
              <a:rPr lang="en-US" dirty="0" err="1"/>
              <a:t>sebesar</a:t>
            </a:r>
            <a:r>
              <a:rPr lang="en-US" dirty="0"/>
              <a:t> 0,08, </a:t>
            </a:r>
            <a:r>
              <a:rPr lang="en-US" dirty="0" err="1"/>
              <a:t>peluang</a:t>
            </a:r>
            <a:r>
              <a:rPr lang="en-US" dirty="0"/>
              <a:t> </a:t>
            </a:r>
            <a:r>
              <a:rPr lang="en-US" dirty="0" err="1"/>
              <a:t>salah</a:t>
            </a:r>
            <a:r>
              <a:rPr lang="en-US" dirty="0"/>
              <a:t> </a:t>
            </a:r>
            <a:r>
              <a:rPr lang="en-US" dirty="0" err="1"/>
              <a:t>ketik</a:t>
            </a:r>
            <a:r>
              <a:rPr lang="en-US" dirty="0"/>
              <a:t> </a:t>
            </a:r>
            <a:r>
              <a:rPr lang="en-US" dirty="0" err="1"/>
              <a:t>huruf</a:t>
            </a:r>
            <a:r>
              <a:rPr lang="en-US" dirty="0"/>
              <a:t> </a:t>
            </a:r>
            <a:r>
              <a:rPr lang="en-US" dirty="0" err="1"/>
              <a:t>sebesar</a:t>
            </a:r>
            <a:r>
              <a:rPr lang="en-US" dirty="0"/>
              <a:t> 0,05,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peluang</a:t>
            </a:r>
            <a:r>
              <a:rPr lang="en-US" dirty="0"/>
              <a:t> </a:t>
            </a:r>
            <a:r>
              <a:rPr lang="en-US" dirty="0" err="1"/>
              <a:t>kejadian</a:t>
            </a:r>
            <a:r>
              <a:rPr lang="en-US" dirty="0"/>
              <a:t> tsunami </a:t>
            </a:r>
            <a:r>
              <a:rPr lang="en-US" dirty="0" err="1"/>
              <a:t>sebesar</a:t>
            </a:r>
            <a:r>
              <a:rPr lang="en-US" dirty="0"/>
              <a:t> 0,008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4728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9351" y="438864"/>
            <a:ext cx="9404723" cy="1400530"/>
          </a:xfrm>
        </p:spPr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2" y="623456"/>
            <a:ext cx="9403742" cy="5624944"/>
          </a:xfrm>
        </p:spPr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Beberapa</a:t>
            </a:r>
            <a:r>
              <a:rPr lang="en-US" dirty="0" smtClean="0"/>
              <a:t> </a:t>
            </a:r>
            <a:r>
              <a:rPr lang="en-US" dirty="0" err="1" smtClean="0"/>
              <a:t>contoh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peluang</a:t>
            </a:r>
            <a:r>
              <a:rPr lang="en-US" dirty="0" smtClean="0"/>
              <a:t> :</a:t>
            </a:r>
          </a:p>
          <a:p>
            <a:pPr marL="0" indent="0">
              <a:buNone/>
            </a:pPr>
            <a:r>
              <a:rPr lang="en-US" dirty="0"/>
              <a:t>•	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lemparan</a:t>
            </a:r>
            <a:r>
              <a:rPr lang="en-US" dirty="0"/>
              <a:t> </a:t>
            </a:r>
            <a:r>
              <a:rPr lang="en-US" dirty="0" err="1"/>
              <a:t>koin</a:t>
            </a:r>
            <a:r>
              <a:rPr lang="en-US" dirty="0"/>
              <a:t> yang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sisi</a:t>
            </a:r>
            <a:r>
              <a:rPr lang="en-US" dirty="0"/>
              <a:t> </a:t>
            </a:r>
            <a:r>
              <a:rPr lang="en-US" dirty="0" err="1"/>
              <a:t>angka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gambar</a:t>
            </a:r>
            <a:r>
              <a:rPr lang="en-US" dirty="0"/>
              <a:t>,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 smtClean="0"/>
              <a:t>peluang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/>
              <a:t>muncul</a:t>
            </a:r>
            <a:r>
              <a:rPr lang="en-US" dirty="0"/>
              <a:t> </a:t>
            </a:r>
            <a:r>
              <a:rPr lang="en-US" dirty="0" err="1"/>
              <a:t>gambar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•	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lemparan</a:t>
            </a:r>
            <a:r>
              <a:rPr lang="en-US" dirty="0"/>
              <a:t> </a:t>
            </a:r>
            <a:r>
              <a:rPr lang="en-US" dirty="0" err="1"/>
              <a:t>dadu</a:t>
            </a:r>
            <a:r>
              <a:rPr lang="en-US" dirty="0"/>
              <a:t> yang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1 </a:t>
            </a:r>
            <a:r>
              <a:rPr lang="en-US" dirty="0" err="1"/>
              <a:t>sampai</a:t>
            </a:r>
            <a:r>
              <a:rPr lang="en-US" dirty="0"/>
              <a:t> 6,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peluang</a:t>
            </a:r>
            <a:r>
              <a:rPr lang="en-US" dirty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muncul</a:t>
            </a:r>
            <a:r>
              <a:rPr lang="en-US" dirty="0" smtClean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dadu</a:t>
            </a:r>
            <a:r>
              <a:rPr lang="en-US" dirty="0"/>
              <a:t> 5.</a:t>
            </a:r>
          </a:p>
          <a:p>
            <a:pPr marL="0" indent="0">
              <a:buNone/>
            </a:pPr>
            <a:r>
              <a:rPr lang="en-US" dirty="0"/>
              <a:t>•	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pengumuman</a:t>
            </a:r>
            <a:r>
              <a:rPr lang="en-US" dirty="0"/>
              <a:t> di Bursa </a:t>
            </a:r>
            <a:r>
              <a:rPr lang="en-US" dirty="0" err="1"/>
              <a:t>Efek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peluang</a:t>
            </a:r>
            <a:r>
              <a:rPr lang="en-US" dirty="0"/>
              <a:t> </a:t>
            </a:r>
            <a:r>
              <a:rPr lang="en-US" dirty="0" err="1"/>
              <a:t>bahwa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US $1 =</a:t>
            </a:r>
          </a:p>
          <a:p>
            <a:pPr marL="0" indent="0">
              <a:buNone/>
            </a:pPr>
            <a:r>
              <a:rPr lang="en-US" dirty="0"/>
              <a:t>Rp10.999,-.</a:t>
            </a:r>
          </a:p>
          <a:p>
            <a:pPr marL="0" indent="0">
              <a:buNone/>
            </a:pPr>
            <a:r>
              <a:rPr lang="en-US" dirty="0"/>
              <a:t>•	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hari</a:t>
            </a:r>
            <a:r>
              <a:rPr lang="en-US" dirty="0"/>
              <a:t> di </a:t>
            </a:r>
            <a:r>
              <a:rPr lang="en-US" dirty="0" err="1"/>
              <a:t>tempat</a:t>
            </a:r>
            <a:r>
              <a:rPr lang="en-US" dirty="0"/>
              <a:t> </a:t>
            </a:r>
            <a:r>
              <a:rPr lang="en-US" dirty="0" err="1"/>
              <a:t>kerja</a:t>
            </a:r>
            <a:r>
              <a:rPr lang="en-US" dirty="0"/>
              <a:t>,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peluang</a:t>
            </a:r>
            <a:r>
              <a:rPr lang="en-US" dirty="0"/>
              <a:t> </a:t>
            </a:r>
            <a:r>
              <a:rPr lang="en-US" dirty="0" err="1"/>
              <a:t>terdapat</a:t>
            </a:r>
            <a:r>
              <a:rPr lang="en-US" dirty="0"/>
              <a:t> 8 orang </a:t>
            </a:r>
            <a:r>
              <a:rPr lang="en-US" dirty="0" err="1"/>
              <a:t>membolos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9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2" y="258755"/>
            <a:ext cx="9404723" cy="1400530"/>
          </a:xfrm>
        </p:spPr>
        <p:txBody>
          <a:bodyPr/>
          <a:lstStyle/>
          <a:p>
            <a:r>
              <a:rPr lang="en-US" dirty="0" smtClean="0"/>
              <a:t>B. </a:t>
            </a:r>
            <a:r>
              <a:rPr lang="en-US" dirty="0" err="1" smtClean="0"/>
              <a:t>Istilah</a:t>
            </a:r>
            <a:r>
              <a:rPr lang="en-US" dirty="0" smtClean="0"/>
              <a:t> </a:t>
            </a:r>
            <a:r>
              <a:rPr lang="en-US" dirty="0" err="1" smtClean="0"/>
              <a:t>Probabilitas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5527" y="1122219"/>
            <a:ext cx="11651673" cy="561109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a.	</a:t>
            </a:r>
            <a:r>
              <a:rPr lang="en-US" sz="2400" dirty="0" err="1"/>
              <a:t>Himpunan</a:t>
            </a:r>
            <a:r>
              <a:rPr lang="en-US" sz="2400" dirty="0"/>
              <a:t> </a:t>
            </a:r>
            <a:r>
              <a:rPr lang="en-US" sz="2400" dirty="0" err="1"/>
              <a:t>semua</a:t>
            </a:r>
            <a:r>
              <a:rPr lang="en-US" sz="2400" dirty="0"/>
              <a:t> </a:t>
            </a:r>
            <a:r>
              <a:rPr lang="en-US" sz="2400" dirty="0" err="1"/>
              <a:t>kemungkinan</a:t>
            </a:r>
            <a:r>
              <a:rPr lang="en-US" sz="2400" dirty="0"/>
              <a:t> </a:t>
            </a:r>
            <a:r>
              <a:rPr lang="en-US" sz="2400" dirty="0" err="1"/>
              <a:t>peristiwa</a:t>
            </a:r>
            <a:r>
              <a:rPr lang="en-US" sz="2400" dirty="0"/>
              <a:t> </a:t>
            </a:r>
            <a:r>
              <a:rPr lang="en-US" sz="2400" dirty="0" err="1"/>
              <a:t>disebut</a:t>
            </a:r>
            <a:r>
              <a:rPr lang="en-US" sz="2400" dirty="0"/>
              <a:t> </a:t>
            </a:r>
            <a:r>
              <a:rPr lang="en-US" sz="2400" dirty="0" err="1"/>
              <a:t>ruang</a:t>
            </a:r>
            <a:r>
              <a:rPr lang="en-US" sz="2400" dirty="0"/>
              <a:t> </a:t>
            </a:r>
            <a:r>
              <a:rPr lang="en-US" sz="2400" dirty="0" err="1"/>
              <a:t>sampel</a:t>
            </a:r>
            <a:r>
              <a:rPr lang="en-US" sz="2400" dirty="0"/>
              <a:t> (sample space).</a:t>
            </a:r>
          </a:p>
          <a:p>
            <a:pPr marL="0" indent="0">
              <a:buNone/>
            </a:pPr>
            <a:r>
              <a:rPr lang="en-US" sz="2400" dirty="0"/>
              <a:t>b.	</a:t>
            </a:r>
            <a:r>
              <a:rPr lang="en-US" sz="2400" dirty="0" err="1"/>
              <a:t>Anggota</a:t>
            </a:r>
            <a:r>
              <a:rPr lang="en-US" sz="2400" dirty="0"/>
              <a:t> yang </a:t>
            </a:r>
            <a:r>
              <a:rPr lang="en-US" sz="2400" dirty="0" err="1"/>
              <a:t>ada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ruang</a:t>
            </a:r>
            <a:r>
              <a:rPr lang="en-US" sz="2400" dirty="0"/>
              <a:t> </a:t>
            </a:r>
            <a:r>
              <a:rPr lang="en-US" sz="2400" dirty="0" err="1"/>
              <a:t>sampel</a:t>
            </a:r>
            <a:r>
              <a:rPr lang="en-US" sz="2400" dirty="0"/>
              <a:t> </a:t>
            </a:r>
            <a:r>
              <a:rPr lang="en-US" sz="2400" dirty="0" err="1"/>
              <a:t>disebut</a:t>
            </a:r>
            <a:r>
              <a:rPr lang="en-US" sz="2400" dirty="0"/>
              <a:t> </a:t>
            </a:r>
            <a:r>
              <a:rPr lang="en-US" sz="2400" dirty="0" err="1"/>
              <a:t>titik</a:t>
            </a:r>
            <a:r>
              <a:rPr lang="en-US" sz="2400" dirty="0"/>
              <a:t> </a:t>
            </a:r>
            <a:r>
              <a:rPr lang="en-US" sz="2400" dirty="0" err="1"/>
              <a:t>sampel</a:t>
            </a:r>
            <a:r>
              <a:rPr lang="en-US" sz="2400" dirty="0"/>
              <a:t> (sample point). </a:t>
            </a:r>
            <a:r>
              <a:rPr lang="en-US" sz="2400" dirty="0" err="1"/>
              <a:t>Anggota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elemen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objek</a:t>
            </a:r>
            <a:r>
              <a:rPr lang="en-US" sz="2400" dirty="0"/>
              <a:t> yang </a:t>
            </a:r>
            <a:r>
              <a:rPr lang="en-US" sz="2400" dirty="0" err="1"/>
              <a:t>menjadi</a:t>
            </a:r>
            <a:r>
              <a:rPr lang="en-US" sz="2400" dirty="0"/>
              <a:t> </a:t>
            </a:r>
            <a:r>
              <a:rPr lang="en-US" sz="2400" dirty="0" err="1"/>
              <a:t>fokus</a:t>
            </a:r>
            <a:r>
              <a:rPr lang="en-US" sz="2400" dirty="0"/>
              <a:t> </a:t>
            </a:r>
            <a:r>
              <a:rPr lang="en-US" sz="2400" dirty="0" err="1"/>
              <a:t>perhatian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dirty="0"/>
              <a:t> c.	</a:t>
            </a:r>
            <a:r>
              <a:rPr lang="en-US" sz="2400" dirty="0" err="1"/>
              <a:t>Kejadian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peristiwa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proses </a:t>
            </a:r>
            <a:r>
              <a:rPr lang="en-US" sz="2400" dirty="0" err="1"/>
              <a:t>terjadinya</a:t>
            </a:r>
            <a:r>
              <a:rPr lang="en-US" sz="2400" dirty="0"/>
              <a:t> </a:t>
            </a:r>
            <a:r>
              <a:rPr lang="en-US" sz="2400" dirty="0" err="1"/>
              <a:t>sesuatu</a:t>
            </a:r>
            <a:r>
              <a:rPr lang="en-US" sz="2400" dirty="0"/>
              <a:t>, </a:t>
            </a:r>
            <a:r>
              <a:rPr lang="en-US" sz="2400" dirty="0" err="1"/>
              <a:t>baik</a:t>
            </a:r>
            <a:r>
              <a:rPr lang="en-US" sz="2400" dirty="0"/>
              <a:t> </a:t>
            </a:r>
            <a:r>
              <a:rPr lang="en-US" sz="2400" dirty="0" err="1"/>
              <a:t>disengaja</a:t>
            </a:r>
            <a:r>
              <a:rPr lang="en-US" sz="2400" dirty="0"/>
              <a:t> (</a:t>
            </a:r>
            <a:r>
              <a:rPr lang="en-US" sz="2400" dirty="0" err="1"/>
              <a:t>eksperimentasi</a:t>
            </a:r>
            <a:r>
              <a:rPr lang="en-US" sz="2400" dirty="0"/>
              <a:t>)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tidak</a:t>
            </a:r>
            <a:r>
              <a:rPr lang="en-US" sz="2400" dirty="0"/>
              <a:t>. </a:t>
            </a:r>
            <a:r>
              <a:rPr lang="en-US" sz="2400" dirty="0" err="1"/>
              <a:t>Peristiwa</a:t>
            </a:r>
            <a:r>
              <a:rPr lang="en-US" sz="2400" dirty="0"/>
              <a:t> yang </a:t>
            </a:r>
            <a:r>
              <a:rPr lang="en-US" sz="2400" dirty="0" err="1"/>
              <a:t>mempunyai</a:t>
            </a:r>
            <a:r>
              <a:rPr lang="en-US" sz="2400" dirty="0"/>
              <a:t> </a:t>
            </a:r>
            <a:r>
              <a:rPr lang="en-US" sz="2400" dirty="0" err="1"/>
              <a:t>kesempatan</a:t>
            </a:r>
            <a:r>
              <a:rPr lang="en-US" sz="2400" dirty="0"/>
              <a:t> </a:t>
            </a:r>
            <a:r>
              <a:rPr lang="en-US" sz="2400" dirty="0" err="1"/>
              <a:t>sama</a:t>
            </a:r>
            <a:r>
              <a:rPr lang="en-US" sz="2400" dirty="0"/>
              <a:t> </a:t>
            </a:r>
            <a:r>
              <a:rPr lang="en-US" sz="2400" dirty="0" err="1"/>
              <a:t>disebut</a:t>
            </a:r>
            <a:r>
              <a:rPr lang="en-US" sz="2400" dirty="0"/>
              <a:t> equally likely, </a:t>
            </a:r>
            <a:r>
              <a:rPr lang="en-US" sz="2400" dirty="0" err="1"/>
              <a:t>misalnya</a:t>
            </a:r>
            <a:r>
              <a:rPr lang="en-US" sz="2400" dirty="0"/>
              <a:t> </a:t>
            </a:r>
            <a:r>
              <a:rPr lang="en-US" sz="2400" dirty="0" err="1"/>
              <a:t>munculnya</a:t>
            </a:r>
            <a:r>
              <a:rPr lang="en-US" sz="2400" dirty="0"/>
              <a:t> </a:t>
            </a:r>
            <a:r>
              <a:rPr lang="en-US" sz="2400" dirty="0" err="1"/>
              <a:t>angka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gambar</a:t>
            </a:r>
            <a:r>
              <a:rPr lang="en-US" sz="2400" dirty="0"/>
              <a:t> </a:t>
            </a:r>
            <a:r>
              <a:rPr lang="en-US" sz="2400" dirty="0" err="1"/>
              <a:t>pada</a:t>
            </a:r>
            <a:r>
              <a:rPr lang="en-US" sz="2400" dirty="0"/>
              <a:t> </a:t>
            </a:r>
            <a:r>
              <a:rPr lang="en-US" sz="2400" dirty="0" err="1"/>
              <a:t>lantunan</a:t>
            </a:r>
            <a:r>
              <a:rPr lang="en-US" sz="2400" dirty="0"/>
              <a:t> </a:t>
            </a:r>
            <a:r>
              <a:rPr lang="en-US" sz="2400" dirty="0" err="1"/>
              <a:t>sebuah</a:t>
            </a:r>
            <a:r>
              <a:rPr lang="en-US" sz="2400" dirty="0"/>
              <a:t> coin.</a:t>
            </a:r>
          </a:p>
          <a:p>
            <a:pPr marL="0" indent="0">
              <a:buNone/>
            </a:pPr>
            <a:r>
              <a:rPr lang="en-US" sz="2400" dirty="0"/>
              <a:t>d.	</a:t>
            </a:r>
            <a:r>
              <a:rPr lang="en-US" sz="2400" dirty="0" err="1"/>
              <a:t>Kejadian</a:t>
            </a:r>
            <a:r>
              <a:rPr lang="en-US" sz="2400" dirty="0"/>
              <a:t> yang </a:t>
            </a:r>
            <a:r>
              <a:rPr lang="en-US" sz="2400" dirty="0" err="1"/>
              <a:t>saling</a:t>
            </a:r>
            <a:r>
              <a:rPr lang="en-US" sz="2400" dirty="0"/>
              <a:t> </a:t>
            </a:r>
            <a:r>
              <a:rPr lang="en-US" sz="2400" dirty="0" err="1"/>
              <a:t>menghilangkan</a:t>
            </a:r>
            <a:r>
              <a:rPr lang="en-US" sz="2400" dirty="0"/>
              <a:t> </a:t>
            </a:r>
            <a:r>
              <a:rPr lang="en-US" sz="2400" dirty="0" err="1"/>
              <a:t>disebut</a:t>
            </a:r>
            <a:r>
              <a:rPr lang="en-US" sz="2400" dirty="0"/>
              <a:t> mutually exclusive. </a:t>
            </a:r>
            <a:r>
              <a:rPr lang="en-US" sz="2400" dirty="0" err="1"/>
              <a:t>Misalnya</a:t>
            </a:r>
            <a:r>
              <a:rPr lang="en-US" sz="2400" dirty="0"/>
              <a:t> </a:t>
            </a:r>
            <a:r>
              <a:rPr lang="en-US" sz="2400" dirty="0" err="1"/>
              <a:t>seorang</a:t>
            </a:r>
            <a:r>
              <a:rPr lang="en-US" sz="2400" dirty="0"/>
              <a:t> </a:t>
            </a:r>
            <a:r>
              <a:rPr lang="en-US" sz="2400" dirty="0" err="1"/>
              <a:t>menjadi</a:t>
            </a:r>
            <a:r>
              <a:rPr lang="en-US" sz="2400" dirty="0"/>
              <a:t> </a:t>
            </a:r>
            <a:r>
              <a:rPr lang="en-US" sz="2400" dirty="0" err="1"/>
              <a:t>tersangka</a:t>
            </a:r>
            <a:r>
              <a:rPr lang="en-US" sz="2400" dirty="0"/>
              <a:t> </a:t>
            </a:r>
            <a:r>
              <a:rPr lang="en-US" sz="2400" dirty="0" err="1"/>
              <a:t>melakukan</a:t>
            </a:r>
            <a:r>
              <a:rPr lang="en-US" sz="2400" dirty="0"/>
              <a:t> </a:t>
            </a:r>
            <a:r>
              <a:rPr lang="en-US" sz="2400" dirty="0" err="1"/>
              <a:t>penyalahgunaan</a:t>
            </a:r>
            <a:r>
              <a:rPr lang="en-US" sz="2400" dirty="0"/>
              <a:t> </a:t>
            </a:r>
            <a:r>
              <a:rPr lang="en-US" sz="2400" dirty="0" err="1"/>
              <a:t>wewenang</a:t>
            </a:r>
            <a:r>
              <a:rPr lang="en-US" sz="2400" dirty="0"/>
              <a:t>. </a:t>
            </a:r>
            <a:r>
              <a:rPr lang="en-US" sz="2400" dirty="0" err="1"/>
              <a:t>Kemungkinannya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(</a:t>
            </a:r>
            <a:r>
              <a:rPr lang="en-US" sz="2400" dirty="0" err="1"/>
              <a:t>terbukti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terbukti</a:t>
            </a:r>
            <a:r>
              <a:rPr lang="en-US" sz="2400" dirty="0"/>
              <a:t>). </a:t>
            </a:r>
            <a:r>
              <a:rPr lang="en-US" sz="2400" dirty="0" err="1"/>
              <a:t>Jadi</a:t>
            </a:r>
            <a:r>
              <a:rPr lang="en-US" sz="2400" dirty="0"/>
              <a:t> </a:t>
            </a:r>
            <a:r>
              <a:rPr lang="en-US" sz="2400" dirty="0" err="1"/>
              <a:t>ruang</a:t>
            </a:r>
            <a:r>
              <a:rPr lang="en-US" sz="2400" dirty="0"/>
              <a:t> </a:t>
            </a:r>
            <a:r>
              <a:rPr lang="en-US" sz="2400" dirty="0" err="1"/>
              <a:t>sampelnya</a:t>
            </a:r>
            <a:r>
              <a:rPr lang="en-US" sz="2400" dirty="0"/>
              <a:t> </a:t>
            </a:r>
            <a:r>
              <a:rPr lang="en-US" sz="2400" dirty="0" err="1"/>
              <a:t>ditulis</a:t>
            </a:r>
            <a:r>
              <a:rPr lang="en-US" sz="2400" dirty="0"/>
              <a:t> (S) = {</a:t>
            </a:r>
            <a:r>
              <a:rPr lang="en-US" sz="2400" dirty="0" err="1"/>
              <a:t>terbukti</a:t>
            </a:r>
            <a:r>
              <a:rPr lang="en-US" sz="2400" dirty="0"/>
              <a:t> , </a:t>
            </a:r>
            <a:r>
              <a:rPr lang="en-US" sz="2400" dirty="0" err="1"/>
              <a:t>tdk</a:t>
            </a:r>
            <a:r>
              <a:rPr lang="en-US" sz="2400" dirty="0"/>
              <a:t> </a:t>
            </a:r>
            <a:r>
              <a:rPr lang="en-US" sz="2400" dirty="0" err="1"/>
              <a:t>terbukti</a:t>
            </a:r>
            <a:r>
              <a:rPr lang="en-US" sz="2400" dirty="0"/>
              <a:t>}. </a:t>
            </a:r>
            <a:r>
              <a:rPr lang="en-US" sz="2400" dirty="0" err="1"/>
              <a:t>Seandainya</a:t>
            </a:r>
            <a:r>
              <a:rPr lang="en-US" sz="2400" dirty="0"/>
              <a:t> </a:t>
            </a:r>
            <a:r>
              <a:rPr lang="en-US" sz="2400" dirty="0" err="1"/>
              <a:t>peristiwa</a:t>
            </a:r>
            <a:r>
              <a:rPr lang="en-US" sz="2400" dirty="0"/>
              <a:t> </a:t>
            </a:r>
            <a:r>
              <a:rPr lang="en-US" sz="2400" dirty="0" err="1"/>
              <a:t>terbukti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benar</a:t>
            </a:r>
            <a:r>
              <a:rPr lang="en-US" sz="2400" dirty="0"/>
              <a:t> </a:t>
            </a:r>
            <a:r>
              <a:rPr lang="en-US" sz="2400" dirty="0" err="1"/>
              <a:t>maka</a:t>
            </a:r>
            <a:r>
              <a:rPr lang="en-US" sz="2400" dirty="0"/>
              <a:t> </a:t>
            </a:r>
            <a:r>
              <a:rPr lang="en-US" sz="2400" dirty="0" err="1"/>
              <a:t>peristiwa</a:t>
            </a:r>
            <a:r>
              <a:rPr lang="en-US" sz="2400" dirty="0"/>
              <a:t>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terbukti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benar</a:t>
            </a:r>
            <a:r>
              <a:rPr lang="en-US" sz="2400" dirty="0"/>
              <a:t>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sebaliknya</a:t>
            </a:r>
            <a:r>
              <a:rPr lang="en-US" sz="2400" dirty="0"/>
              <a:t>, </a:t>
            </a:r>
            <a:r>
              <a:rPr lang="en-US" sz="2400" dirty="0" err="1"/>
              <a:t>sehingga</a:t>
            </a:r>
            <a:r>
              <a:rPr lang="en-US" sz="2400" dirty="0"/>
              <a:t> </a:t>
            </a:r>
            <a:r>
              <a:rPr lang="en-US" sz="2400" dirty="0" err="1"/>
              <a:t>kejadiannya</a:t>
            </a:r>
            <a:r>
              <a:rPr lang="en-US" sz="2400" dirty="0"/>
              <a:t> </a:t>
            </a:r>
            <a:r>
              <a:rPr lang="en-US" sz="2400" dirty="0" err="1"/>
              <a:t>saling</a:t>
            </a:r>
            <a:r>
              <a:rPr lang="en-US" sz="2400" dirty="0"/>
              <a:t> </a:t>
            </a:r>
            <a:r>
              <a:rPr lang="en-US" sz="2400" dirty="0" err="1"/>
              <a:t>meniadakan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mutually exclusive. </a:t>
            </a:r>
            <a:r>
              <a:rPr lang="en-US" sz="2400" dirty="0" err="1"/>
              <a:t>Peristiwa</a:t>
            </a:r>
            <a:r>
              <a:rPr lang="en-US" sz="2400" dirty="0"/>
              <a:t> </a:t>
            </a:r>
            <a:r>
              <a:rPr lang="en-US" sz="2400" dirty="0" err="1"/>
              <a:t>terbukti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terbukti</a:t>
            </a:r>
            <a:r>
              <a:rPr lang="en-US" sz="2400" dirty="0"/>
              <a:t> </a:t>
            </a:r>
            <a:r>
              <a:rPr lang="en-US" sz="2400" dirty="0" err="1"/>
              <a:t>peluangnya</a:t>
            </a:r>
            <a:r>
              <a:rPr lang="en-US" sz="2400" dirty="0"/>
              <a:t> </a:t>
            </a:r>
            <a:r>
              <a:rPr lang="en-US" sz="2400" dirty="0" err="1"/>
              <a:t>sama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equally likely. </a:t>
            </a:r>
            <a:r>
              <a:rPr lang="en-US" sz="2400" dirty="0" err="1"/>
              <a:t>Selanjutnya</a:t>
            </a:r>
            <a:r>
              <a:rPr lang="en-US" sz="2400" dirty="0"/>
              <a:t> </a:t>
            </a:r>
            <a:r>
              <a:rPr lang="en-US" sz="2400" dirty="0" err="1"/>
              <a:t>terbukti</a:t>
            </a:r>
            <a:r>
              <a:rPr lang="en-US" sz="2400" dirty="0"/>
              <a:t>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terbukti</a:t>
            </a:r>
            <a:r>
              <a:rPr lang="en-US" sz="2400" dirty="0"/>
              <a:t> </a:t>
            </a:r>
            <a:r>
              <a:rPr lang="en-US" sz="2400" dirty="0" err="1"/>
              <a:t>masing-masing</a:t>
            </a:r>
            <a:r>
              <a:rPr lang="en-US" sz="2400" dirty="0"/>
              <a:t> </a:t>
            </a:r>
            <a:r>
              <a:rPr lang="en-US" sz="2400" dirty="0" err="1"/>
              <a:t>disebut</a:t>
            </a:r>
            <a:r>
              <a:rPr lang="en-US" sz="2400" dirty="0"/>
              <a:t> </a:t>
            </a:r>
            <a:r>
              <a:rPr lang="en-US" sz="2400" dirty="0" err="1"/>
              <a:t>titik</a:t>
            </a:r>
            <a:r>
              <a:rPr lang="en-US" sz="2400" dirty="0"/>
              <a:t> </a:t>
            </a:r>
            <a:r>
              <a:rPr lang="en-US" sz="2400" dirty="0" err="1"/>
              <a:t>sampel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sample point.</a:t>
            </a:r>
          </a:p>
          <a:p>
            <a:pPr marL="0" indent="0">
              <a:buNone/>
            </a:pPr>
            <a:r>
              <a:rPr lang="en-US" sz="2400" dirty="0"/>
              <a:t>e.	</a:t>
            </a:r>
            <a:r>
              <a:rPr lang="en-US" sz="2400" dirty="0" err="1"/>
              <a:t>Percobaan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proses yang </a:t>
            </a:r>
            <a:r>
              <a:rPr lang="en-US" sz="2400" dirty="0" err="1"/>
              <a:t>dilakukan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menemukan</a:t>
            </a:r>
            <a:r>
              <a:rPr lang="en-US" sz="2400" dirty="0"/>
              <a:t> </a:t>
            </a:r>
            <a:r>
              <a:rPr lang="en-US" sz="2400" dirty="0" err="1"/>
              <a:t>nilai</a:t>
            </a:r>
            <a:r>
              <a:rPr lang="en-US" sz="2400" dirty="0"/>
              <a:t> </a:t>
            </a:r>
            <a:r>
              <a:rPr lang="en-US" sz="2400" dirty="0" err="1"/>
              <a:t>suatu</a:t>
            </a:r>
            <a:r>
              <a:rPr lang="en-US" sz="2400" dirty="0"/>
              <a:t> </a:t>
            </a:r>
            <a:r>
              <a:rPr lang="en-US" sz="2400" dirty="0" err="1"/>
              <a:t>peluang</a:t>
            </a:r>
            <a:r>
              <a:rPr lang="en-US" sz="2400" dirty="0"/>
              <a:t>. </a:t>
            </a:r>
            <a:r>
              <a:rPr lang="en-US" sz="2400" dirty="0" err="1"/>
              <a:t>Misalnya</a:t>
            </a:r>
            <a:r>
              <a:rPr lang="en-US" sz="2400" dirty="0"/>
              <a:t> </a:t>
            </a:r>
            <a:r>
              <a:rPr lang="en-US" sz="2400" dirty="0" err="1"/>
              <a:t>menarik</a:t>
            </a:r>
            <a:r>
              <a:rPr lang="en-US" sz="2400" dirty="0"/>
              <a:t> </a:t>
            </a:r>
            <a:r>
              <a:rPr lang="en-US" sz="2400" dirty="0" err="1"/>
              <a:t>undian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menemukan</a:t>
            </a:r>
            <a:r>
              <a:rPr lang="en-US" sz="2400" dirty="0"/>
              <a:t> </a:t>
            </a:r>
            <a:r>
              <a:rPr lang="en-US" sz="2400" dirty="0" err="1"/>
              <a:t>nilai</a:t>
            </a:r>
            <a:r>
              <a:rPr lang="en-US" sz="2400" dirty="0"/>
              <a:t> </a:t>
            </a:r>
            <a:r>
              <a:rPr lang="en-US" sz="2400" dirty="0" err="1"/>
              <a:t>peluang</a:t>
            </a:r>
            <a:r>
              <a:rPr lang="en-US" sz="2400" dirty="0"/>
              <a:t> </a:t>
            </a:r>
            <a:r>
              <a:rPr lang="en-US" sz="2400" dirty="0" err="1"/>
              <a:t>bagi</a:t>
            </a:r>
            <a:r>
              <a:rPr lang="en-US" sz="2400" dirty="0"/>
              <a:t> </a:t>
            </a:r>
            <a:r>
              <a:rPr lang="en-US" sz="2400" dirty="0" err="1"/>
              <a:t>keluarnya</a:t>
            </a:r>
            <a:r>
              <a:rPr lang="en-US" sz="2400" dirty="0"/>
              <a:t> </a:t>
            </a:r>
            <a:r>
              <a:rPr lang="en-US" sz="2400" dirty="0" err="1"/>
              <a:t>hadiah</a:t>
            </a:r>
            <a:r>
              <a:rPr lang="en-US" sz="2400" dirty="0"/>
              <a:t> </a:t>
            </a:r>
            <a:r>
              <a:rPr lang="en-US" sz="2400" dirty="0" err="1"/>
              <a:t>pertama</a:t>
            </a:r>
            <a:endParaRPr lang="en-US" sz="24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521044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US" dirty="0" smtClean="0"/>
              <a:t>. </a:t>
            </a:r>
            <a:r>
              <a:rPr lang="en-US" dirty="0" err="1" smtClean="0"/>
              <a:t>Ruang</a:t>
            </a:r>
            <a:r>
              <a:rPr lang="en-US" dirty="0" smtClean="0"/>
              <a:t> </a:t>
            </a:r>
            <a:r>
              <a:rPr lang="en-US" dirty="0" err="1" smtClean="0"/>
              <a:t>Sampel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3346" y="1371600"/>
            <a:ext cx="11651672" cy="5486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 smtClean="0"/>
              <a:t>Ruang</a:t>
            </a:r>
            <a:r>
              <a:rPr lang="en-US" sz="2400" dirty="0" smtClean="0"/>
              <a:t> </a:t>
            </a:r>
            <a:r>
              <a:rPr lang="en-US" sz="2400" dirty="0" err="1"/>
              <a:t>Sampel</a:t>
            </a:r>
            <a:r>
              <a:rPr lang="en-US" sz="2400" dirty="0"/>
              <a:t> (S) </a:t>
            </a:r>
            <a:r>
              <a:rPr lang="en-US" sz="2400" dirty="0" err="1"/>
              <a:t>didefinisikan</a:t>
            </a:r>
            <a:r>
              <a:rPr lang="en-US" sz="2400" dirty="0"/>
              <a:t> </a:t>
            </a:r>
            <a:r>
              <a:rPr lang="en-US" sz="2400" dirty="0" err="1"/>
              <a:t>sebagai</a:t>
            </a:r>
            <a:r>
              <a:rPr lang="en-US" sz="2400" dirty="0"/>
              <a:t> </a:t>
            </a:r>
            <a:r>
              <a:rPr lang="en-US" sz="2400" dirty="0" err="1"/>
              <a:t>himpunan</a:t>
            </a:r>
            <a:r>
              <a:rPr lang="en-US" sz="2400" dirty="0"/>
              <a:t> </a:t>
            </a:r>
            <a:r>
              <a:rPr lang="en-US" sz="2400" dirty="0" err="1"/>
              <a:t>semua</a:t>
            </a:r>
            <a:r>
              <a:rPr lang="en-US" sz="2400" dirty="0"/>
              <a:t> </a:t>
            </a:r>
            <a:r>
              <a:rPr lang="en-US" sz="2400" dirty="0" err="1"/>
              <a:t>peristiwa</a:t>
            </a:r>
            <a:r>
              <a:rPr lang="en-US" sz="2400" dirty="0"/>
              <a:t> yang </a:t>
            </a:r>
            <a:r>
              <a:rPr lang="en-US" sz="2400" dirty="0" err="1"/>
              <a:t>mungkin</a:t>
            </a:r>
            <a:r>
              <a:rPr lang="en-US" sz="2400" dirty="0"/>
              <a:t> </a:t>
            </a:r>
            <a:r>
              <a:rPr lang="en-US" sz="2400" dirty="0" err="1"/>
              <a:t>terjadi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suatu</a:t>
            </a:r>
            <a:r>
              <a:rPr lang="en-US" sz="2400" dirty="0"/>
              <a:t> </a:t>
            </a:r>
            <a:r>
              <a:rPr lang="en-US" sz="2400" dirty="0" err="1"/>
              <a:t>sampel</a:t>
            </a:r>
            <a:r>
              <a:rPr lang="en-US" sz="2400" dirty="0"/>
              <a:t> </a:t>
            </a:r>
            <a:r>
              <a:rPr lang="en-US" sz="2400" dirty="0" err="1"/>
              <a:t>berukuran</a:t>
            </a:r>
            <a:r>
              <a:rPr lang="en-US" sz="2400" dirty="0"/>
              <a:t> n yang </a:t>
            </a:r>
            <a:r>
              <a:rPr lang="en-US" sz="2400" dirty="0" err="1"/>
              <a:t>dipilih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suatu</a:t>
            </a:r>
            <a:r>
              <a:rPr lang="en-US" sz="2400" dirty="0"/>
              <a:t> </a:t>
            </a:r>
            <a:r>
              <a:rPr lang="en-US" sz="2400" dirty="0" err="1"/>
              <a:t>populasi</a:t>
            </a:r>
            <a:r>
              <a:rPr lang="en-US" sz="2400" dirty="0"/>
              <a:t>. </a:t>
            </a:r>
            <a:r>
              <a:rPr lang="en-US" sz="2400" dirty="0" err="1"/>
              <a:t>Misalnya</a:t>
            </a:r>
            <a:r>
              <a:rPr lang="en-US" sz="2400" dirty="0"/>
              <a:t> </a:t>
            </a:r>
            <a:r>
              <a:rPr lang="en-US" sz="2400" dirty="0" err="1"/>
              <a:t>pada</a:t>
            </a:r>
            <a:r>
              <a:rPr lang="en-US" sz="2400" dirty="0"/>
              <a:t> </a:t>
            </a:r>
            <a:r>
              <a:rPr lang="en-US" sz="2400" dirty="0" err="1"/>
              <a:t>pelemparan</a:t>
            </a:r>
            <a:r>
              <a:rPr lang="en-US" sz="2400" dirty="0"/>
              <a:t> </a:t>
            </a:r>
            <a:r>
              <a:rPr lang="en-US" sz="2400" dirty="0" err="1"/>
              <a:t>dua</a:t>
            </a:r>
            <a:r>
              <a:rPr lang="en-US" sz="2400" dirty="0"/>
              <a:t> </a:t>
            </a:r>
            <a:r>
              <a:rPr lang="en-US" sz="2400" dirty="0" err="1"/>
              <a:t>mata</a:t>
            </a:r>
            <a:r>
              <a:rPr lang="en-US" sz="2400" dirty="0"/>
              <a:t> </a:t>
            </a:r>
            <a:r>
              <a:rPr lang="en-US" sz="2400" dirty="0" err="1"/>
              <a:t>uang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permukaan</a:t>
            </a:r>
            <a:r>
              <a:rPr lang="en-US" sz="2400" dirty="0"/>
              <a:t> </a:t>
            </a:r>
            <a:r>
              <a:rPr lang="en-US" sz="2400" dirty="0" err="1"/>
              <a:t>angka</a:t>
            </a:r>
            <a:r>
              <a:rPr lang="en-US" sz="2400" dirty="0"/>
              <a:t> = A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gambar</a:t>
            </a:r>
            <a:r>
              <a:rPr lang="en-US" sz="2400" dirty="0"/>
              <a:t> = G, </a:t>
            </a:r>
            <a:r>
              <a:rPr lang="en-US" sz="2400" dirty="0" err="1"/>
              <a:t>maka</a:t>
            </a:r>
            <a:r>
              <a:rPr lang="en-US" sz="2400" dirty="0"/>
              <a:t> </a:t>
            </a:r>
            <a:r>
              <a:rPr lang="en-US" sz="2400" dirty="0" err="1"/>
              <a:t>ruang</a:t>
            </a:r>
            <a:r>
              <a:rPr lang="en-US" sz="2400" dirty="0"/>
              <a:t> </a:t>
            </a:r>
            <a:r>
              <a:rPr lang="en-US" sz="2400" dirty="0" err="1"/>
              <a:t>sampelnya</a:t>
            </a:r>
            <a:r>
              <a:rPr lang="en-US" sz="2400" dirty="0"/>
              <a:t>: S = (AA, AG, GA, GG). </a:t>
            </a:r>
            <a:r>
              <a:rPr lang="en-US" sz="2400" dirty="0" err="1"/>
              <a:t>Begitupula</a:t>
            </a:r>
            <a:r>
              <a:rPr lang="en-US" sz="2400" dirty="0"/>
              <a:t> </a:t>
            </a:r>
            <a:r>
              <a:rPr lang="en-US" sz="2400" dirty="0" err="1"/>
              <a:t>pada</a:t>
            </a:r>
            <a:r>
              <a:rPr lang="en-US" sz="2400" dirty="0"/>
              <a:t> </a:t>
            </a:r>
            <a:r>
              <a:rPr lang="en-US" sz="2400" dirty="0" err="1"/>
              <a:t>pelemparan</a:t>
            </a:r>
            <a:r>
              <a:rPr lang="en-US" sz="2400" dirty="0"/>
              <a:t> </a:t>
            </a:r>
            <a:r>
              <a:rPr lang="en-US" sz="2400" dirty="0" err="1"/>
              <a:t>mata</a:t>
            </a:r>
            <a:r>
              <a:rPr lang="en-US" sz="2400" dirty="0"/>
              <a:t> </a:t>
            </a:r>
            <a:r>
              <a:rPr lang="en-US" sz="2400" dirty="0" err="1"/>
              <a:t>dadu</a:t>
            </a:r>
            <a:r>
              <a:rPr lang="en-US" sz="2400" dirty="0"/>
              <a:t>, </a:t>
            </a:r>
            <a:r>
              <a:rPr lang="en-US" sz="2400" dirty="0" err="1"/>
              <a:t>maka</a:t>
            </a:r>
            <a:r>
              <a:rPr lang="en-US" sz="2400" dirty="0"/>
              <a:t> </a:t>
            </a:r>
            <a:r>
              <a:rPr lang="en-US" sz="2400" dirty="0" err="1"/>
              <a:t>ruang</a:t>
            </a:r>
            <a:r>
              <a:rPr lang="en-US" sz="2400" dirty="0"/>
              <a:t> </a:t>
            </a:r>
            <a:r>
              <a:rPr lang="en-US" sz="2400" dirty="0" err="1"/>
              <a:t>sampelnya</a:t>
            </a:r>
            <a:r>
              <a:rPr lang="en-US" sz="2400" dirty="0"/>
              <a:t>: S = (1, 2, 3, 4, 5, 6).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err="1"/>
              <a:t>Ruang</a:t>
            </a:r>
            <a:r>
              <a:rPr lang="en-US" sz="2400" dirty="0"/>
              <a:t> </a:t>
            </a:r>
            <a:r>
              <a:rPr lang="en-US" sz="2400" dirty="0" err="1"/>
              <a:t>sampel</a:t>
            </a:r>
            <a:r>
              <a:rPr lang="en-US" sz="2400" dirty="0"/>
              <a:t> </a:t>
            </a:r>
            <a:r>
              <a:rPr lang="en-US" sz="2400" dirty="0" err="1"/>
              <a:t>dapat</a:t>
            </a:r>
            <a:r>
              <a:rPr lang="en-US" sz="2400" dirty="0"/>
              <a:t> juga </a:t>
            </a:r>
            <a:r>
              <a:rPr lang="en-US" sz="2400" dirty="0" err="1"/>
              <a:t>diartikan</a:t>
            </a:r>
            <a:r>
              <a:rPr lang="en-US" sz="2400" dirty="0"/>
              <a:t> </a:t>
            </a:r>
            <a:r>
              <a:rPr lang="en-US" sz="2400" dirty="0" err="1"/>
              <a:t>sebagai</a:t>
            </a:r>
            <a:r>
              <a:rPr lang="en-US" sz="2400" dirty="0"/>
              <a:t> </a:t>
            </a:r>
            <a:r>
              <a:rPr lang="en-US" sz="2400" dirty="0" err="1"/>
              <a:t>himpunan</a:t>
            </a:r>
            <a:r>
              <a:rPr lang="en-US" sz="2400" dirty="0"/>
              <a:t> </a:t>
            </a:r>
            <a:r>
              <a:rPr lang="en-US" sz="2400" dirty="0" err="1"/>
              <a:t>semua</a:t>
            </a:r>
            <a:r>
              <a:rPr lang="en-US" sz="2400" dirty="0"/>
              <a:t> </a:t>
            </a:r>
            <a:r>
              <a:rPr lang="en-US" sz="2400" dirty="0" err="1"/>
              <a:t>sampel</a:t>
            </a:r>
            <a:r>
              <a:rPr lang="en-US" sz="2400" dirty="0"/>
              <a:t> </a:t>
            </a:r>
            <a:r>
              <a:rPr lang="en-US" sz="2400" dirty="0" err="1"/>
              <a:t>berukuran</a:t>
            </a:r>
            <a:r>
              <a:rPr lang="en-US" sz="2400" dirty="0"/>
              <a:t> </a:t>
            </a:r>
            <a:r>
              <a:rPr lang="en-US" sz="2400" dirty="0" err="1"/>
              <a:t>tertentu</a:t>
            </a:r>
            <a:r>
              <a:rPr lang="en-US" sz="2400" dirty="0"/>
              <a:t> (k) yang </a:t>
            </a:r>
            <a:r>
              <a:rPr lang="en-US" sz="2400" dirty="0" err="1"/>
              <a:t>mungkin</a:t>
            </a:r>
            <a:r>
              <a:rPr lang="en-US" sz="2400" dirty="0"/>
              <a:t> </a:t>
            </a:r>
            <a:r>
              <a:rPr lang="en-US" sz="2400" dirty="0" err="1"/>
              <a:t>diambil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dipilih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suatu</a:t>
            </a:r>
            <a:r>
              <a:rPr lang="en-US" sz="2400" dirty="0"/>
              <a:t> </a:t>
            </a:r>
            <a:r>
              <a:rPr lang="en-US" sz="2400" dirty="0" err="1"/>
              <a:t>populasi</a:t>
            </a:r>
            <a:r>
              <a:rPr lang="en-US" sz="2400" dirty="0"/>
              <a:t> </a:t>
            </a:r>
            <a:r>
              <a:rPr lang="en-US" sz="2400" dirty="0" err="1"/>
              <a:t>berukuran</a:t>
            </a:r>
            <a:r>
              <a:rPr lang="en-US" sz="2400" dirty="0"/>
              <a:t> (n). </a:t>
            </a:r>
            <a:r>
              <a:rPr lang="en-US" sz="2400" dirty="0" err="1"/>
              <a:t>Berkaitan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teori</a:t>
            </a:r>
            <a:r>
              <a:rPr lang="en-US" sz="2400" dirty="0"/>
              <a:t> </a:t>
            </a:r>
            <a:r>
              <a:rPr lang="en-US" sz="2400" dirty="0" err="1"/>
              <a:t>himpunan</a:t>
            </a:r>
            <a:r>
              <a:rPr lang="en-US" sz="2400" dirty="0"/>
              <a:t>, </a:t>
            </a:r>
            <a:r>
              <a:rPr lang="en-US" sz="2400" dirty="0" err="1"/>
              <a:t>ruang</a:t>
            </a:r>
            <a:r>
              <a:rPr lang="en-US" sz="2400" dirty="0"/>
              <a:t> </a:t>
            </a:r>
            <a:r>
              <a:rPr lang="en-US" sz="2400" dirty="0" err="1"/>
              <a:t>sampel</a:t>
            </a:r>
            <a:r>
              <a:rPr lang="en-US" sz="2400" dirty="0"/>
              <a:t>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dinyatakan</a:t>
            </a:r>
            <a:r>
              <a:rPr lang="en-US" sz="2400" dirty="0"/>
              <a:t> </a:t>
            </a:r>
            <a:r>
              <a:rPr lang="en-US" sz="2400" dirty="0" err="1"/>
              <a:t>sebagai</a:t>
            </a:r>
            <a:r>
              <a:rPr lang="en-US" sz="2400" dirty="0"/>
              <a:t> </a:t>
            </a:r>
            <a:r>
              <a:rPr lang="en-US" sz="2400" dirty="0" err="1"/>
              <a:t>himpunan</a:t>
            </a:r>
            <a:r>
              <a:rPr lang="en-US" sz="2400" dirty="0"/>
              <a:t> </a:t>
            </a:r>
            <a:r>
              <a:rPr lang="en-US" sz="2400" dirty="0" err="1"/>
              <a:t>bagian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jumlah</a:t>
            </a:r>
            <a:r>
              <a:rPr lang="en-US" sz="2400" dirty="0"/>
              <a:t> </a:t>
            </a:r>
            <a:r>
              <a:rPr lang="en-US" sz="2400" dirty="0" err="1"/>
              <a:t>elemen</a:t>
            </a:r>
            <a:r>
              <a:rPr lang="en-US" sz="2400" dirty="0"/>
              <a:t>, </a:t>
            </a:r>
            <a:r>
              <a:rPr lang="en-US" sz="2400" dirty="0" err="1"/>
              <a:t>misanya</a:t>
            </a:r>
            <a:r>
              <a:rPr lang="en-US" sz="2400" dirty="0"/>
              <a:t> k </a:t>
            </a:r>
            <a:r>
              <a:rPr lang="en-US" sz="2400" dirty="0" err="1"/>
              <a:t>dari</a:t>
            </a:r>
            <a:r>
              <a:rPr lang="en-US" sz="2400" dirty="0"/>
              <a:t> n </a:t>
            </a:r>
            <a:r>
              <a:rPr lang="en-US" sz="2400" dirty="0" err="1"/>
              <a:t>elemen</a:t>
            </a:r>
            <a:r>
              <a:rPr lang="en-US" sz="2400" dirty="0"/>
              <a:t>, </a:t>
            </a:r>
            <a:r>
              <a:rPr lang="en-US" sz="2400" dirty="0" err="1"/>
              <a:t>dengan</a:t>
            </a:r>
            <a:r>
              <a:rPr lang="en-US" sz="2400" dirty="0"/>
              <a:t> n &gt; k. </a:t>
            </a:r>
            <a:r>
              <a:rPr lang="en-US" sz="2400" dirty="0" err="1"/>
              <a:t>Sehingga</a:t>
            </a:r>
            <a:r>
              <a:rPr lang="en-US" sz="2400" dirty="0"/>
              <a:t> </a:t>
            </a:r>
            <a:r>
              <a:rPr lang="en-US" sz="2400" dirty="0" err="1"/>
              <a:t>jumlah</a:t>
            </a:r>
            <a:r>
              <a:rPr lang="en-US" sz="2400" dirty="0"/>
              <a:t> yang </a:t>
            </a:r>
            <a:r>
              <a:rPr lang="en-US" sz="2400" dirty="0" err="1"/>
              <a:t>mungkin</a:t>
            </a:r>
            <a:r>
              <a:rPr lang="en-US" sz="2400" dirty="0"/>
              <a:t>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dibentuk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rumus</a:t>
            </a:r>
            <a:r>
              <a:rPr lang="en-US" sz="2400" dirty="0"/>
              <a:t> </a:t>
            </a:r>
            <a:r>
              <a:rPr lang="en-US" sz="2400" dirty="0" err="1"/>
              <a:t>kombinasi</a:t>
            </a:r>
            <a:r>
              <a:rPr lang="en-US" sz="2400" dirty="0"/>
              <a:t>:</a:t>
            </a:r>
          </a:p>
          <a:p>
            <a:pPr marL="0" indent="0"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050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7156" y="2160589"/>
            <a:ext cx="9717222" cy="304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070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D. </a:t>
            </a:r>
            <a:r>
              <a:rPr lang="en-US" dirty="0" err="1" smtClean="0"/>
              <a:t>Definisi</a:t>
            </a:r>
            <a:r>
              <a:rPr lang="en-US" dirty="0" smtClean="0"/>
              <a:t> </a:t>
            </a:r>
            <a:r>
              <a:rPr lang="en-US" dirty="0" err="1" smtClean="0"/>
              <a:t>Peluang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074" y="1537856"/>
            <a:ext cx="9675780" cy="47105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Apabila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ruang</a:t>
            </a:r>
            <a:r>
              <a:rPr lang="en-US" dirty="0"/>
              <a:t> </a:t>
            </a:r>
            <a:r>
              <a:rPr lang="en-US" dirty="0" err="1"/>
              <a:t>sampel</a:t>
            </a:r>
            <a:r>
              <a:rPr lang="en-US" dirty="0"/>
              <a:t> </a:t>
            </a:r>
            <a:r>
              <a:rPr lang="en-US" dirty="0" err="1"/>
              <a:t>berisi</a:t>
            </a:r>
            <a:r>
              <a:rPr lang="en-US" dirty="0"/>
              <a:t> N </a:t>
            </a:r>
            <a:r>
              <a:rPr lang="en-US" dirty="0" err="1"/>
              <a:t>buah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 </a:t>
            </a:r>
            <a:r>
              <a:rPr lang="en-US" dirty="0" err="1"/>
              <a:t>sampel</a:t>
            </a:r>
            <a:r>
              <a:rPr lang="en-US" dirty="0"/>
              <a:t> yang equally likely</a:t>
            </a:r>
          </a:p>
          <a:p>
            <a:pPr marL="0" indent="0">
              <a:buNone/>
            </a:pPr>
            <a:r>
              <a:rPr lang="en-US" dirty="0" err="1"/>
              <a:t>dan</a:t>
            </a:r>
            <a:r>
              <a:rPr lang="en-US" dirty="0"/>
              <a:t> mutually exclusive </a:t>
            </a:r>
            <a:r>
              <a:rPr lang="en-US" dirty="0" err="1"/>
              <a:t>terdapat</a:t>
            </a:r>
            <a:r>
              <a:rPr lang="en-US" dirty="0"/>
              <a:t> a </a:t>
            </a:r>
            <a:r>
              <a:rPr lang="en-US" dirty="0" err="1"/>
              <a:t>buah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 </a:t>
            </a:r>
            <a:r>
              <a:rPr lang="en-US" dirty="0" err="1"/>
              <a:t>sampel</a:t>
            </a:r>
            <a:r>
              <a:rPr lang="en-US" dirty="0"/>
              <a:t> yang </a:t>
            </a:r>
            <a:r>
              <a:rPr lang="en-US" dirty="0" err="1"/>
              <a:t>mendukung</a:t>
            </a:r>
            <a:r>
              <a:rPr lang="en-US" dirty="0"/>
              <a:t> </a:t>
            </a:r>
            <a:r>
              <a:rPr lang="en-US" dirty="0" err="1"/>
              <a:t>peristiwa</a:t>
            </a:r>
            <a:r>
              <a:rPr lang="en-US" dirty="0"/>
              <a:t> A,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peluang</a:t>
            </a:r>
            <a:r>
              <a:rPr lang="en-US" dirty="0"/>
              <a:t> </a:t>
            </a:r>
            <a:r>
              <a:rPr lang="en-US" dirty="0" err="1"/>
              <a:t>terjadinya</a:t>
            </a:r>
            <a:r>
              <a:rPr lang="en-US" dirty="0"/>
              <a:t> </a:t>
            </a:r>
            <a:r>
              <a:rPr lang="en-US" dirty="0" err="1"/>
              <a:t>peristiwa</a:t>
            </a:r>
            <a:r>
              <a:rPr lang="en-US" dirty="0"/>
              <a:t> A </a:t>
            </a:r>
            <a:r>
              <a:rPr lang="en-US" dirty="0" err="1"/>
              <a:t>didefinisikan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: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p(A</a:t>
            </a:r>
            <a:r>
              <a:rPr lang="en-US" dirty="0"/>
              <a:t>) = a ”.</a:t>
            </a:r>
          </a:p>
          <a:p>
            <a:pPr marL="0" indent="0">
              <a:buNone/>
            </a:pPr>
            <a:r>
              <a:rPr lang="en-US" dirty="0" smtClean="0"/>
              <a:t>            N</a:t>
            </a:r>
          </a:p>
          <a:p>
            <a:pPr marL="0" indent="0">
              <a:buNone/>
            </a:pPr>
            <a:r>
              <a:rPr lang="en-US" dirty="0" err="1"/>
              <a:t>Misalkan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percobaan</a:t>
            </a:r>
            <a:r>
              <a:rPr lang="en-US" dirty="0"/>
              <a:t> </a:t>
            </a:r>
            <a:r>
              <a:rPr lang="en-US" dirty="0" err="1"/>
              <a:t>melemparkan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coin </a:t>
            </a:r>
            <a:r>
              <a:rPr lang="en-US" dirty="0" err="1"/>
              <a:t>sebanyak</a:t>
            </a:r>
            <a:r>
              <a:rPr lang="en-US" dirty="0"/>
              <a:t> 2 kali.</a:t>
            </a:r>
          </a:p>
          <a:p>
            <a:pPr marL="0" indent="0">
              <a:buNone/>
            </a:pPr>
            <a:r>
              <a:rPr lang="en-US" dirty="0"/>
              <a:t>1)	</a:t>
            </a:r>
            <a:r>
              <a:rPr lang="en-US" dirty="0" err="1"/>
              <a:t>Tentukan</a:t>
            </a:r>
            <a:r>
              <a:rPr lang="en-US" dirty="0"/>
              <a:t> </a:t>
            </a:r>
            <a:r>
              <a:rPr lang="en-US" dirty="0" err="1"/>
              <a:t>ruang</a:t>
            </a:r>
            <a:r>
              <a:rPr lang="en-US" dirty="0"/>
              <a:t> </a:t>
            </a:r>
            <a:r>
              <a:rPr lang="en-US" dirty="0" err="1"/>
              <a:t>sampelnya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2)	</a:t>
            </a:r>
            <a:r>
              <a:rPr lang="en-US" dirty="0" err="1"/>
              <a:t>Hitung</a:t>
            </a:r>
            <a:r>
              <a:rPr lang="en-US" dirty="0"/>
              <a:t> </a:t>
            </a:r>
            <a:r>
              <a:rPr lang="en-US" dirty="0" err="1"/>
              <a:t>peluang</a:t>
            </a:r>
            <a:r>
              <a:rPr lang="en-US" dirty="0"/>
              <a:t> </a:t>
            </a:r>
            <a:r>
              <a:rPr lang="en-US" dirty="0" err="1"/>
              <a:t>keduanya</a:t>
            </a:r>
            <a:r>
              <a:rPr lang="en-US" dirty="0"/>
              <a:t> </a:t>
            </a:r>
            <a:r>
              <a:rPr lang="en-US" dirty="0" err="1"/>
              <a:t>muncul</a:t>
            </a:r>
            <a:r>
              <a:rPr lang="en-US" dirty="0"/>
              <a:t> </a:t>
            </a:r>
            <a:r>
              <a:rPr lang="en-US" dirty="0" err="1"/>
              <a:t>angka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3)	</a:t>
            </a:r>
            <a:r>
              <a:rPr lang="en-US" dirty="0" err="1"/>
              <a:t>Hitung</a:t>
            </a:r>
            <a:r>
              <a:rPr lang="en-US" dirty="0"/>
              <a:t> </a:t>
            </a:r>
            <a:r>
              <a:rPr lang="en-US" dirty="0" err="1"/>
              <a:t>peluang</a:t>
            </a:r>
            <a:r>
              <a:rPr lang="en-US" dirty="0"/>
              <a:t> </a:t>
            </a:r>
            <a:r>
              <a:rPr lang="en-US" dirty="0" err="1"/>
              <a:t>muncul</a:t>
            </a:r>
            <a:r>
              <a:rPr lang="en-US" dirty="0"/>
              <a:t> </a:t>
            </a:r>
            <a:r>
              <a:rPr lang="en-US" dirty="0" err="1"/>
              <a:t>angka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gambar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4)	</a:t>
            </a:r>
            <a:r>
              <a:rPr lang="en-US" dirty="0" err="1"/>
              <a:t>Hitung</a:t>
            </a:r>
            <a:r>
              <a:rPr lang="en-US" dirty="0"/>
              <a:t> </a:t>
            </a:r>
            <a:r>
              <a:rPr lang="en-US" dirty="0" err="1"/>
              <a:t>peluang</a:t>
            </a:r>
            <a:r>
              <a:rPr lang="en-US" dirty="0"/>
              <a:t> </a:t>
            </a:r>
            <a:r>
              <a:rPr lang="en-US" dirty="0" err="1"/>
              <a:t>keduanya</a:t>
            </a:r>
            <a:r>
              <a:rPr lang="en-US" dirty="0"/>
              <a:t> </a:t>
            </a:r>
            <a:r>
              <a:rPr lang="en-US" dirty="0" err="1"/>
              <a:t>muncul</a:t>
            </a:r>
            <a:r>
              <a:rPr lang="en-US" dirty="0"/>
              <a:t> </a:t>
            </a:r>
            <a:r>
              <a:rPr lang="en-US" dirty="0" err="1"/>
              <a:t>gambar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1233055" y="3089564"/>
            <a:ext cx="429490" cy="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2381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2" y="637310"/>
            <a:ext cx="9403742" cy="5611090"/>
          </a:xfrm>
        </p:spPr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131" y="744111"/>
            <a:ext cx="10951124" cy="392746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6333" y="4962970"/>
            <a:ext cx="10197535" cy="86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681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624993" y="476214"/>
            <a:ext cx="8596668" cy="3880773"/>
          </a:xfrm>
        </p:spPr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27" y="1274618"/>
            <a:ext cx="11687110" cy="4267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003964" y="5430982"/>
            <a:ext cx="678872" cy="4156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N[S]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143138" y="5278582"/>
            <a:ext cx="360218" cy="4156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250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E. </a:t>
            </a:r>
            <a:r>
              <a:rPr lang="en-US" dirty="0" err="1" smtClean="0"/>
              <a:t>Definisi</a:t>
            </a:r>
            <a:r>
              <a:rPr lang="en-US" dirty="0" smtClean="0"/>
              <a:t> EMPIRIK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000"/>
            <a:ext cx="11105845" cy="22435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441858" y="3023420"/>
            <a:ext cx="383459" cy="3392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N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13528"/>
            <a:ext cx="10665596" cy="2505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6146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61841" y="807652"/>
            <a:ext cx="11967917" cy="155209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08193" y="2549973"/>
            <a:ext cx="11860619" cy="330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6773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40658" y="335618"/>
            <a:ext cx="11031794" cy="6217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1860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80" y="609600"/>
            <a:ext cx="10646685" cy="1375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4010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4400" dirty="0" smtClean="0"/>
              <a:t>TERIMA KASIH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04661458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276</TotalTime>
  <Words>376</Words>
  <Application>Microsoft Office PowerPoint</Application>
  <PresentationFormat>Widescreen</PresentationFormat>
  <Paragraphs>59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Trebuchet MS</vt:lpstr>
      <vt:lpstr>Wingdings 3</vt:lpstr>
      <vt:lpstr>Facet</vt:lpstr>
      <vt:lpstr>BAB V KONSEP PROBABILITAS</vt:lpstr>
      <vt:lpstr>CAPAIAN PEMBELAJARAN</vt:lpstr>
      <vt:lpstr>A. Pengertian Probabilitas (peluang)</vt:lpstr>
      <vt:lpstr> </vt:lpstr>
      <vt:lpstr>B. Istilah Probabilitas</vt:lpstr>
      <vt:lpstr>C. Ruang Sampel</vt:lpstr>
      <vt:lpstr> </vt:lpstr>
      <vt:lpstr>D. Definisi Peluang</vt:lpstr>
      <vt:lpstr> </vt:lpstr>
      <vt:lpstr> </vt:lpstr>
      <vt:lpstr>E. Definisi EMPIRIK</vt:lpstr>
      <vt:lpstr> </vt:lpstr>
      <vt:lpstr> </vt:lpstr>
      <vt:lpstr> </vt:lpstr>
      <vt:lpstr>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BAB V KONSEP PROBABILITAS</dc:title>
  <dc:creator>Windows User</dc:creator>
  <cp:lastModifiedBy>Windows User</cp:lastModifiedBy>
  <cp:revision>13</cp:revision>
  <dcterms:created xsi:type="dcterms:W3CDTF">2022-10-13T21:10:02Z</dcterms:created>
  <dcterms:modified xsi:type="dcterms:W3CDTF">2022-10-21T00:21:53Z</dcterms:modified>
</cp:coreProperties>
</file>