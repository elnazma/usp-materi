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19" autoAdjust="0"/>
    <p:restoredTop sz="94660"/>
  </p:normalViewPr>
  <p:slideViewPr>
    <p:cSldViewPr snapToGrid="0">
      <p:cViewPr>
        <p:scale>
          <a:sx n="50" d="100"/>
          <a:sy n="50" d="100"/>
        </p:scale>
        <p:origin x="978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BAB III ANALISA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Ir. </a:t>
            </a:r>
            <a:r>
              <a:rPr lang="en-US" dirty="0" err="1" smtClean="0"/>
              <a:t>Masruki</a:t>
            </a:r>
            <a:r>
              <a:rPr lang="en-US" dirty="0" smtClean="0"/>
              <a:t> </a:t>
            </a:r>
            <a:r>
              <a:rPr lang="en-US" dirty="0" err="1" smtClean="0"/>
              <a:t>Kabib</a:t>
            </a:r>
            <a:r>
              <a:rPr lang="en-US" dirty="0" smtClean="0"/>
              <a:t>, MT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9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CAPAIAN 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memilih</a:t>
            </a:r>
            <a:r>
              <a:rPr lang="en-US" dirty="0" smtClean="0"/>
              <a:t> </a:t>
            </a:r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dirty="0" err="1" smtClean="0"/>
              <a:t>analisa</a:t>
            </a:r>
            <a:r>
              <a:rPr lang="en-US" dirty="0" smtClean="0"/>
              <a:t> data yang </a:t>
            </a:r>
            <a:r>
              <a:rPr lang="en-US" dirty="0" err="1" smtClean="0"/>
              <a:t>sesuai</a:t>
            </a:r>
            <a:endParaRPr lang="en-US" dirty="0" smtClean="0"/>
          </a:p>
          <a:p>
            <a:pPr marL="457200" indent="-457200">
              <a:buAutoNum type="arabicPeriod"/>
            </a:pP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menyajikan</a:t>
            </a:r>
            <a:r>
              <a:rPr lang="en-US" dirty="0" smtClean="0"/>
              <a:t> data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14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A. TEKNIK ANALISA STATISTIKA DESKRIPTIF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78853"/>
              </p:ext>
            </p:extLst>
          </p:nvPr>
        </p:nvGraphicFramePr>
        <p:xfrm>
          <a:off x="1368040" y="2214694"/>
          <a:ext cx="9283918" cy="357650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389514"/>
                <a:gridCol w="6894404"/>
              </a:tblGrid>
              <a:tr h="678180">
                <a:tc>
                  <a:txBody>
                    <a:bodyPr/>
                    <a:lstStyle/>
                    <a:p>
                      <a:pPr marL="146050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id-ID" sz="2400" b="1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Skala</a:t>
                      </a:r>
                      <a:r>
                        <a:rPr lang="id-ID" sz="2400" b="1" spc="3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b="1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Pengukuran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DDE"/>
                    </a:solidFill>
                  </a:tcPr>
                </a:tc>
                <a:tc>
                  <a:txBody>
                    <a:bodyPr/>
                    <a:lstStyle/>
                    <a:p>
                      <a:pPr marL="746760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id-ID" sz="2400" b="1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Teknik</a:t>
                      </a:r>
                      <a:r>
                        <a:rPr lang="id-ID" sz="2400" b="1" spc="4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b="1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statistik</a:t>
                      </a:r>
                      <a:r>
                        <a:rPr lang="id-ID" sz="2400" b="1" spc="45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b="1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yang</a:t>
                      </a:r>
                      <a:r>
                        <a:rPr lang="id-ID" sz="2400" b="1" spc="4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b="1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tepat</a:t>
                      </a:r>
                      <a:r>
                        <a:rPr lang="id-ID" sz="2400" b="1" spc="45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b="1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digunakan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DDE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marL="50165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Nominal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Modus,</a:t>
                      </a:r>
                      <a:r>
                        <a:rPr lang="id-ID" sz="2400" spc="3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Tabel</a:t>
                      </a:r>
                      <a:r>
                        <a:rPr lang="id-ID" sz="2400" spc="4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Frekuensi,</a:t>
                      </a:r>
                      <a:r>
                        <a:rPr lang="id-ID" sz="2400" spc="4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Persentase,</a:t>
                      </a:r>
                      <a:r>
                        <a:rPr lang="id-ID" sz="2400" spc="3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</a:t>
                      </a:r>
                      <a:r>
                        <a:rPr lang="id-ID" sz="2400" spc="4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Grafik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978">
                <a:tc>
                  <a:txBody>
                    <a:bodyPr/>
                    <a:lstStyle/>
                    <a:p>
                      <a:pPr marL="50165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id-ID" sz="240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Ordinal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id-ID" sz="2400" spc="-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Minimum,</a:t>
                      </a:r>
                      <a:r>
                        <a:rPr lang="id-ID" sz="2400" spc="-6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Maksimum,</a:t>
                      </a:r>
                      <a:r>
                        <a:rPr lang="id-ID" sz="2400" spc="-6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Median,</a:t>
                      </a:r>
                      <a:r>
                        <a:rPr lang="id-ID" sz="2400" spc="-6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Tabel</a:t>
                      </a:r>
                      <a:r>
                        <a:rPr lang="id-ID" sz="2400" spc="-6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Frekuensi,</a:t>
                      </a:r>
                      <a:r>
                        <a:rPr lang="id-ID" sz="2400" spc="-6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Persentase,</a:t>
                      </a:r>
                      <a:r>
                        <a:rPr lang="id-ID" sz="2400" spc="-6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</a:t>
                      </a:r>
                      <a:r>
                        <a:rPr lang="id-ID" sz="2400" spc="-6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Grafik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2167">
                <a:tc>
                  <a:txBody>
                    <a:bodyPr/>
                    <a:lstStyle/>
                    <a:p>
                      <a:pPr marL="50165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id-ID" sz="240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Interval/Rasio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algn="l">
                        <a:lnSpc>
                          <a:spcPct val="97000"/>
                        </a:lnSpc>
                        <a:spcBef>
                          <a:spcPts val="210"/>
                        </a:spcBef>
                        <a:spcAft>
                          <a:spcPts val="0"/>
                        </a:spcAft>
                      </a:pP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Rata-rata,</a:t>
                      </a:r>
                      <a:r>
                        <a:rPr lang="id-ID" sz="2400" spc="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Minimum,</a:t>
                      </a:r>
                      <a:r>
                        <a:rPr lang="id-ID" sz="2400" spc="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Maksimum,</a:t>
                      </a:r>
                      <a:r>
                        <a:rPr lang="id-ID" sz="2400" spc="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Range,</a:t>
                      </a:r>
                      <a:r>
                        <a:rPr lang="id-ID" sz="2400" spc="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Varians,</a:t>
                      </a:r>
                      <a:r>
                        <a:rPr lang="id-ID" sz="2400" spc="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Simpangan</a:t>
                      </a:r>
                      <a:r>
                        <a:rPr lang="id-ID" sz="2400" spc="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Baku,</a:t>
                      </a:r>
                      <a:r>
                        <a:rPr lang="id-ID" sz="2400" spc="-18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Koefisien</a:t>
                      </a:r>
                      <a:r>
                        <a:rPr lang="id-ID" sz="2400" spc="-3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Varians,</a:t>
                      </a:r>
                      <a:r>
                        <a:rPr lang="id-ID" sz="2400" spc="-3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Kemiringan,</a:t>
                      </a:r>
                      <a:r>
                        <a:rPr lang="id-ID" sz="2400" spc="-3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Ketajaman,</a:t>
                      </a:r>
                      <a:r>
                        <a:rPr lang="id-ID" sz="2400" spc="-25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</a:t>
                      </a:r>
                      <a:r>
                        <a:rPr lang="id-ID" sz="2400" spc="-3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d-ID" sz="2400" dirty="0">
                          <a:solidFill>
                            <a:srgbClr val="231F2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Grafik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83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536" y="0"/>
            <a:ext cx="10364451" cy="1596177"/>
          </a:xfrm>
        </p:spPr>
        <p:txBody>
          <a:bodyPr/>
          <a:lstStyle/>
          <a:p>
            <a:r>
              <a:rPr lang="en-US" dirty="0" smtClean="0"/>
              <a:t>1. DISTRIBUSI FREKUENSI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9876" y="1207033"/>
            <a:ext cx="11469294" cy="4770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err="1" smtClean="0"/>
              <a:t>Pengertian</a:t>
            </a:r>
            <a:r>
              <a:rPr lang="en-US" sz="1800" dirty="0" smtClean="0"/>
              <a:t> </a:t>
            </a:r>
            <a:r>
              <a:rPr lang="en-US" sz="1800" dirty="0" err="1" smtClean="0"/>
              <a:t>Istilah</a:t>
            </a:r>
            <a:r>
              <a:rPr lang="en-US" sz="1800" dirty="0" smtClean="0"/>
              <a:t> :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interval,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kelompok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nilai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 yang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berupa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2. Batas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nilai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 yang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terletak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di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sebelah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kiri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untuk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setiap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3. Batas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nilai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 yang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terletak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di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sebelah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kanan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untuk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setiap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Tepi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dikurangi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ketelitian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data. </a:t>
            </a:r>
          </a:p>
          <a:p>
            <a:pPr marL="0" indent="0">
              <a:buNone/>
            </a:pPr>
            <a:r>
              <a:rPr lang="sv-SE" sz="1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− </a:t>
            </a:r>
            <a:r>
              <a:rPr lang="sv-SE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Jika data berupa bilangan bulat, maka ketelitian datanya 0,5.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−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Jika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berupa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bilangan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satu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desimal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maka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ketelitian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datanya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0,05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seterusnya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5.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Tepi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ditambah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ketelitian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6.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Titik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tengah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setengah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kali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jumlah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7.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Panjang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selisih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antara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tepi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tepi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48263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5544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9875" y="1046237"/>
            <a:ext cx="11328267" cy="54364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Adapun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Data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Data</a:t>
            </a:r>
          </a:p>
          <a:p>
            <a:pPr marL="0" indent="0">
              <a:buNone/>
            </a:pPr>
            <a:r>
              <a:rPr lang="en-US" dirty="0" err="1"/>
              <a:t>Berkelompok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Urutkan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terkecil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data </a:t>
            </a:r>
            <a:r>
              <a:rPr lang="en-US" dirty="0" err="1"/>
              <a:t>terbesar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( </a:t>
            </a:r>
            <a:r>
              <a:rPr lang="en-US" dirty="0" err="1" smtClean="0"/>
              <a:t>Biasanya</a:t>
            </a:r>
            <a:r>
              <a:rPr lang="en-US" dirty="0" smtClean="0"/>
              <a:t>, </a:t>
            </a:r>
            <a:r>
              <a:rPr lang="en-US" dirty="0"/>
              <a:t>5 ≤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kelas</a:t>
            </a:r>
            <a:r>
              <a:rPr lang="en-US" dirty="0" smtClean="0"/>
              <a:t> </a:t>
            </a:r>
            <a:r>
              <a:rPr lang="en-US" dirty="0"/>
              <a:t>≤ 15)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/>
              <a:t>sturges</a:t>
            </a:r>
            <a:r>
              <a:rPr lang="en-US" dirty="0"/>
              <a:t>: 𝑘𝑘= 1 + 3,3 log 𝑛𝑛.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Keterangan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𝑘  =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kelas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𝑛  = </a:t>
            </a:r>
            <a:r>
              <a:rPr lang="en-US" dirty="0" err="1"/>
              <a:t>banyak</a:t>
            </a:r>
            <a:r>
              <a:rPr lang="en-US" dirty="0"/>
              <a:t> data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interval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perkiraan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Panjang</a:t>
            </a:r>
            <a:r>
              <a:rPr lang="en-US" dirty="0" smtClean="0"/>
              <a:t> </a:t>
            </a:r>
            <a:r>
              <a:rPr lang="en-US" dirty="0" err="1"/>
              <a:t>kelas</a:t>
            </a:r>
            <a:r>
              <a:rPr lang="en-US" dirty="0"/>
              <a:t> = </a:t>
            </a:r>
            <a:r>
              <a:rPr lang="en-US" dirty="0" smtClean="0"/>
              <a:t>𝑗</a:t>
            </a:r>
            <a:r>
              <a:rPr lang="en-US" dirty="0" err="1" smtClean="0"/>
              <a:t>angkauan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kelas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988860" y="5609230"/>
            <a:ext cx="1610436" cy="13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9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130" y="154493"/>
            <a:ext cx="10364451" cy="1596177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77046" y="1152441"/>
            <a:ext cx="11314620" cy="5234711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7797" y="1152439"/>
            <a:ext cx="1095915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Tentukan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batas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pertama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Aturannya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: </a:t>
            </a:r>
          </a:p>
          <a:p>
            <a:r>
              <a:rPr lang="pt-BR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 batas bawah kelas interval pertama boleh mengambil nilai data terkecil </a:t>
            </a:r>
          </a:p>
          <a:p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batas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pertama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boleh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mengambil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nilai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 yang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lebih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kecil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data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terkecil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dengan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syarat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nilai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 yang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terbesar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harus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tercakup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terakhir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5.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Masukkan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semua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nilai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data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1297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45" y="0"/>
            <a:ext cx="10364451" cy="1596177"/>
          </a:xfrm>
        </p:spPr>
        <p:txBody>
          <a:bodyPr/>
          <a:lstStyle/>
          <a:p>
            <a:r>
              <a:rPr lang="en-US" dirty="0" smtClean="0"/>
              <a:t>TABEL DISTRIBUSI FREKUENSI RELATIF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90945" y="1088177"/>
            <a:ext cx="10363826" cy="3424107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Tabel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distribusi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relative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adalah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tabel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memuat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relative (</a:t>
            </a: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setiap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interval data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𝑓r </a:t>
            </a:r>
            <a:r>
              <a:rPr lang="en-US" dirty="0">
                <a:solidFill>
                  <a:srgbClr val="000000"/>
                </a:solidFill>
                <a:latin typeface="Cambria Math" panose="02040503050406030204" pitchFamily="18" charset="0"/>
              </a:rPr>
              <a:t>= </a:t>
            </a:r>
            <a:r>
              <a:rPr lang="en-US" dirty="0" err="1" smtClean="0">
                <a:solidFill>
                  <a:srgbClr val="000000"/>
                </a:solidFill>
                <a:latin typeface="Cambria Math" panose="02040503050406030204" pitchFamily="18" charset="0"/>
              </a:rPr>
              <a:t>Frekuensi</a:t>
            </a:r>
            <a:r>
              <a:rPr 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ambria Math" panose="02040503050406030204" pitchFamily="18" charset="0"/>
              </a:rPr>
              <a:t>kelas</a:t>
            </a:r>
            <a:r>
              <a:rPr lang="en-US" sz="1200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         </a:t>
            </a:r>
            <a:r>
              <a:rPr 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x </a:t>
            </a:r>
            <a:r>
              <a:rPr lang="en-US" dirty="0">
                <a:solidFill>
                  <a:srgbClr val="000000"/>
                </a:solidFill>
                <a:latin typeface="Cambria Math" panose="02040503050406030204" pitchFamily="18" charset="0"/>
              </a:rPr>
              <a:t>100% </a:t>
            </a:r>
            <a:endParaRPr lang="en-US" dirty="0" smtClean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                </a:t>
            </a:r>
            <a:r>
              <a:rPr lang="en-US" dirty="0" err="1" smtClean="0">
                <a:solidFill>
                  <a:srgbClr val="000000"/>
                </a:solidFill>
                <a:latin typeface="Cambria Math" panose="02040503050406030204" pitchFamily="18" charset="0"/>
              </a:rPr>
              <a:t>Jumlah</a:t>
            </a:r>
            <a:r>
              <a:rPr 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ambria Math" panose="02040503050406030204" pitchFamily="18" charset="0"/>
              </a:rPr>
              <a:t>frekuensi</a:t>
            </a:r>
            <a:endParaRPr lang="en-US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contoh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relative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pertama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= 2/80 x 100% = 2,50%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dst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828800" y="2438400"/>
            <a:ext cx="20610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494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07092"/>
              </p:ext>
            </p:extLst>
          </p:nvPr>
        </p:nvGraphicFramePr>
        <p:xfrm>
          <a:off x="3771631" y="1170038"/>
          <a:ext cx="7341846" cy="478059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548243"/>
                <a:gridCol w="2260812"/>
                <a:gridCol w="2532791"/>
              </a:tblGrid>
              <a:tr h="515304">
                <a:tc>
                  <a:txBody>
                    <a:bodyPr/>
                    <a:lstStyle/>
                    <a:p>
                      <a:pPr marL="198120" marR="19367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Nilai</a:t>
                      </a:r>
                      <a:r>
                        <a:rPr lang="id-ID" sz="20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Ujian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5260" marR="17018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0490" marR="10477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</a:t>
                      </a:r>
                      <a:r>
                        <a:rPr lang="id-ID" sz="20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(%)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8286">
                <a:tc>
                  <a:txBody>
                    <a:bodyPr/>
                    <a:lstStyle/>
                    <a:p>
                      <a:pPr marL="198120" marR="19177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31-40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98120" marR="191770"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41-50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98120" marR="19177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51-60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98120" marR="19177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61-70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98120" marR="19177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71-80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98120" marR="191770"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81-90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98120" marR="19304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91-100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marR="0"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marR="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75260" marR="16891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75260" marR="16891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75260" marR="168910"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75260" marR="168910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0490" marR="10477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2,50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10490" marR="104775"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3,75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10490" marR="104775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6,25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10490" marR="104775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17,50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10490" marR="104775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30,00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10490" marR="104775"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25,00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10490" marR="104775" algn="ctr"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15,00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05">
                <a:tc>
                  <a:txBody>
                    <a:bodyPr/>
                    <a:lstStyle/>
                    <a:p>
                      <a:pPr marL="198120" marR="19367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Jumlah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5260" marR="16891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0490" marR="10414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71631" y="569875"/>
            <a:ext cx="2625919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Tabel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Distribusi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Frekuensi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Relatif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1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ditribusi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</a:t>
            </a:r>
            <a:r>
              <a:rPr lang="en-US" dirty="0" err="1" smtClean="0"/>
              <a:t>komulatif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Tabel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distribusi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kumulatif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merupakan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tabel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berisikan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kumulatif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hasil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akumulasi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). 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kumulatif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adalah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dijumlahkan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yaitu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duatu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dijumlahkan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sebelumnya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Frekuensi Kumulatif ada 2 macam yaitu,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kumulaif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kurang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suatu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adalah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jumlah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itu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kumulatif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sebelumnya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kumulatif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lebih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suatu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adalah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jumlah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itu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dengan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frkuensi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kumulatif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kelas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sesudahnya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57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68630" y="618517"/>
            <a:ext cx="10915370" cy="58693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sz="24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</a:rPr>
              <a:t>Tabel</a:t>
            </a:r>
            <a:r>
              <a:rPr lang="en-US" sz="1600" b="1" dirty="0" smtClean="0">
                <a:latin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</a:rPr>
              <a:t>Distribusi</a:t>
            </a:r>
            <a:r>
              <a:rPr lang="en-US" sz="1600" b="1" dirty="0" smtClean="0">
                <a:latin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</a:rPr>
              <a:t>Frekuensi</a:t>
            </a:r>
            <a:endParaRPr lang="en-US" sz="1600" b="1" dirty="0" smtClean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Frekuensi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Tepi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Bawah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Tepi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Atas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51-55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3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50,5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55,5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56-60 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6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55,5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60,5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61-65 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10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60,5 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65,5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66-70 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12 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65,5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70,5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71-75 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70,5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75,5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76-80 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4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 75,5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  80,5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1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912881"/>
              </p:ext>
            </p:extLst>
          </p:nvPr>
        </p:nvGraphicFramePr>
        <p:xfrm>
          <a:off x="4176957" y="2367090"/>
          <a:ext cx="5135855" cy="357650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408288"/>
                <a:gridCol w="3727567"/>
              </a:tblGrid>
              <a:tr h="986141">
                <a:tc>
                  <a:txBody>
                    <a:bodyPr/>
                    <a:lstStyle/>
                    <a:p>
                      <a:pPr marL="0" marR="0"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65735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5135" marR="177165" indent="-252730">
                        <a:spcBef>
                          <a:spcPts val="675"/>
                        </a:spcBef>
                        <a:spcAft>
                          <a:spcPts val="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 Kumulatif</a:t>
                      </a:r>
                      <a:r>
                        <a:rPr lang="id-ID" sz="2000" b="1" spc="-2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Kurang</a:t>
                      </a:r>
                      <a:r>
                        <a:rPr lang="id-ID" sz="2000" b="1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dari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054">
                <a:tc>
                  <a:txBody>
                    <a:bodyPr/>
                    <a:lstStyle/>
                    <a:p>
                      <a:pPr marL="141605" marR="0"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£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593">
                <a:tc>
                  <a:txBody>
                    <a:bodyPr/>
                    <a:lstStyle/>
                    <a:p>
                      <a:pPr marL="141605" marR="0"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£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017">
                <a:tc>
                  <a:txBody>
                    <a:bodyPr/>
                    <a:lstStyle/>
                    <a:p>
                      <a:pPr marL="141605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£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7870" marR="7327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054">
                <a:tc>
                  <a:txBody>
                    <a:bodyPr/>
                    <a:lstStyle/>
                    <a:p>
                      <a:pPr marL="141605" marR="0"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£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70,5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7870" marR="73279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593">
                <a:tc>
                  <a:txBody>
                    <a:bodyPr/>
                    <a:lstStyle/>
                    <a:p>
                      <a:pPr marL="141605" marR="0"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£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75,5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7870" marR="73279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054">
                <a:tc>
                  <a:txBody>
                    <a:bodyPr/>
                    <a:lstStyle/>
                    <a:p>
                      <a:pPr marL="141605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£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7870" marR="7327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76957" y="1177301"/>
            <a:ext cx="2767567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Daftar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Frekuensi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Kumulatif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“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Kurang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Dari”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521984"/>
              </p:ext>
            </p:extLst>
          </p:nvPr>
        </p:nvGraphicFramePr>
        <p:xfrm>
          <a:off x="2954215" y="1561515"/>
          <a:ext cx="5908431" cy="438208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21890"/>
                <a:gridCol w="4286541"/>
              </a:tblGrid>
              <a:tr h="828311">
                <a:tc>
                  <a:txBody>
                    <a:bodyPr/>
                    <a:lstStyle/>
                    <a:p>
                      <a:pPr marL="167005" marR="0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6730" marR="180975" indent="-310515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 Kumulatif</a:t>
                      </a:r>
                      <a:r>
                        <a:rPr lang="id-ID" sz="2000" b="1" spc="-26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Lebih</a:t>
                      </a:r>
                      <a:r>
                        <a:rPr lang="id-ID" sz="2000" b="1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dari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154">
                <a:tc>
                  <a:txBody>
                    <a:bodyPr/>
                    <a:lstStyle/>
                    <a:p>
                      <a:pPr marL="143510" marR="0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339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261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339">
                <a:tc>
                  <a:txBody>
                    <a:bodyPr/>
                    <a:lstStyle/>
                    <a:p>
                      <a:pPr marL="143510" marR="0"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339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70,5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7339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200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75,5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54215" y="618517"/>
            <a:ext cx="2092973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Daftar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Frekuensi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Kumulatif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“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Lebih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Dari”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4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581" y="14259"/>
            <a:ext cx="10364451" cy="1596177"/>
          </a:xfrm>
        </p:spPr>
        <p:txBody>
          <a:bodyPr/>
          <a:lstStyle/>
          <a:p>
            <a:r>
              <a:rPr lang="en-US" dirty="0" smtClean="0"/>
              <a:t>UKURAN PEMUSATAN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68740" y="1610436"/>
            <a:ext cx="10608860" cy="418076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 smtClean="0"/>
              <a:t>Rata-rata (mean)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21" y="2063485"/>
            <a:ext cx="9932591" cy="447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2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19214"/>
          </a:xfrm>
        </p:spPr>
        <p:txBody>
          <a:bodyPr/>
          <a:lstStyle/>
          <a:p>
            <a:r>
              <a:rPr lang="en-US" dirty="0" smtClean="0"/>
              <a:t>Rata-rata </a:t>
            </a:r>
            <a:r>
              <a:rPr lang="en-US" dirty="0" err="1" smtClean="0"/>
              <a:t>bobot</a:t>
            </a:r>
            <a:r>
              <a:rPr lang="en-US" dirty="0" smtClean="0"/>
              <a:t> </a:t>
            </a:r>
            <a:r>
              <a:rPr lang="en-US" dirty="0" err="1" smtClean="0"/>
              <a:t>tertimbang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9876" y="1637732"/>
            <a:ext cx="11178142" cy="4885898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900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173" y="618517"/>
            <a:ext cx="10200053" cy="732611"/>
          </a:xfrm>
        </p:spPr>
        <p:txBody>
          <a:bodyPr/>
          <a:lstStyle/>
          <a:p>
            <a:r>
              <a:rPr lang="en-US" dirty="0" err="1" smtClean="0"/>
              <a:t>Contoh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22706" y="1548226"/>
            <a:ext cx="10809652" cy="5057290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945611"/>
              </p:ext>
            </p:extLst>
          </p:nvPr>
        </p:nvGraphicFramePr>
        <p:xfrm>
          <a:off x="3251247" y="1880013"/>
          <a:ext cx="3191755" cy="180572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903232"/>
                <a:gridCol w="1288523"/>
              </a:tblGrid>
              <a:tr h="300358">
                <a:tc>
                  <a:txBody>
                    <a:bodyPr/>
                    <a:lstStyle/>
                    <a:p>
                      <a:pPr marL="67310" marR="0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Berat</a:t>
                      </a:r>
                      <a:r>
                        <a:rPr lang="id-ID" sz="1100" b="1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Badan</a:t>
                      </a:r>
                      <a:r>
                        <a:rPr lang="id-ID" sz="1100" b="1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(kg)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550">
                <a:tc>
                  <a:txBody>
                    <a:bodyPr/>
                    <a:lstStyle/>
                    <a:p>
                      <a:pPr marL="487680" marR="48260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45-49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8">
                <a:tc>
                  <a:txBody>
                    <a:bodyPr/>
                    <a:lstStyle/>
                    <a:p>
                      <a:pPr marL="487680" marR="4826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50-54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8">
                <a:tc>
                  <a:txBody>
                    <a:bodyPr/>
                    <a:lstStyle/>
                    <a:p>
                      <a:pPr marL="487680" marR="4826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55-59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105" marR="73025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8">
                <a:tc>
                  <a:txBody>
                    <a:bodyPr/>
                    <a:lstStyle/>
                    <a:p>
                      <a:pPr marL="487680" marR="48260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60-64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1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741">
                <a:tc>
                  <a:txBody>
                    <a:bodyPr/>
                    <a:lstStyle/>
                    <a:p>
                      <a:pPr marL="487680" marR="48260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65-79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51248" y="131962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Data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Berat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Badan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dan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Frekuensinya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552512"/>
              </p:ext>
            </p:extLst>
          </p:nvPr>
        </p:nvGraphicFramePr>
        <p:xfrm>
          <a:off x="6975841" y="1917164"/>
          <a:ext cx="4302385" cy="272517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213603"/>
                <a:gridCol w="1212747"/>
                <a:gridCol w="1093783"/>
                <a:gridCol w="782252"/>
              </a:tblGrid>
              <a:tr h="569187">
                <a:tc>
                  <a:txBody>
                    <a:bodyPr/>
                    <a:lstStyle/>
                    <a:p>
                      <a:pPr marL="329565" marR="53340" indent="-258445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Berat Badan</a:t>
                      </a:r>
                      <a:r>
                        <a:rPr lang="id-ID" sz="1100" b="1" spc="-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(kg)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105" marR="73025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Titik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8105" marR="73025" algn="ctr">
                        <a:lnSpc>
                          <a:spcPts val="11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b="1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ngah (</a:t>
                      </a: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𝑿𝑿</a:t>
                      </a:r>
                      <a:r>
                        <a:rPr lang="id-ID" sz="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𝒊</a:t>
                      </a:r>
                      <a:r>
                        <a:rPr lang="id-ID" sz="800" spc="4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𝒊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3510" marR="137795" algn="ctr">
                        <a:lnSpc>
                          <a:spcPts val="12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</a:t>
                      </a:r>
                      <a:r>
                        <a:rPr lang="id-ID" sz="1100" b="1" spc="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𝑛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5890" marR="129540" algn="ctr">
                        <a:lnSpc>
                          <a:spcPts val="14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𝑿𝑿</a:t>
                      </a:r>
                      <a:r>
                        <a:rPr lang="id-ID" sz="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𝒊</a:t>
                      </a:r>
                      <a:r>
                        <a:rPr lang="id-ID" sz="800" spc="4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𝒊</a:t>
                      </a: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  <a:r>
                        <a:rPr lang="id-ID" sz="1100" spc="-5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𝑛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057">
                <a:tc>
                  <a:txBody>
                    <a:bodyPr/>
                    <a:lstStyle/>
                    <a:p>
                      <a:pPr marL="274320" marR="26733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45-49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105" marR="72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5890" marR="12890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288">
                <a:tc>
                  <a:txBody>
                    <a:bodyPr/>
                    <a:lstStyle/>
                    <a:p>
                      <a:pPr marL="274320" marR="26733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50-54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105" marR="72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5890" marR="12890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057">
                <a:tc>
                  <a:txBody>
                    <a:bodyPr/>
                    <a:lstStyle/>
                    <a:p>
                      <a:pPr marL="274320" marR="26733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55-59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105" marR="72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3510" marR="13779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5890" marR="12890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570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288">
                <a:tc>
                  <a:txBody>
                    <a:bodyPr/>
                    <a:lstStyle/>
                    <a:p>
                      <a:pPr marL="274320" marR="26733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60-64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105" marR="72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5890" marR="12890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057">
                <a:tc>
                  <a:txBody>
                    <a:bodyPr/>
                    <a:lstStyle/>
                    <a:p>
                      <a:pPr marL="274320" marR="26733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65-79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8105" marR="7239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5890" marR="128905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223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3350" marR="0">
                        <a:lnSpc>
                          <a:spcPts val="8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9850" marR="0">
                        <a:spcBef>
                          <a:spcPts val="41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�</a:t>
                      </a:r>
                      <a:r>
                        <a:rPr lang="id-ID" sz="1100" spc="-5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𝑛</a:t>
                      </a:r>
                      <a:r>
                        <a:rPr lang="id-ID" sz="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𝑓𝑓 </a:t>
                      </a:r>
                      <a:r>
                        <a:rPr lang="id-ID" sz="800" spc="2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=</a:t>
                      </a:r>
                      <a:r>
                        <a:rPr lang="id-ID" sz="1100" spc="6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 </a:t>
                      </a:r>
                      <a:r>
                        <a:rPr lang="id-ID" sz="1100" spc="-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20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6835" marR="0">
                        <a:spcBef>
                          <a:spcPts val="210"/>
                        </a:spcBef>
                        <a:spcAft>
                          <a:spcPts val="0"/>
                        </a:spcAft>
                      </a:pPr>
                      <a:r>
                        <a:rPr lang="id-ID" sz="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𝑓</a:t>
                      </a:r>
                      <a:r>
                        <a:rPr lang="id-ID" sz="800" spc="25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𝑓</a:t>
                      </a:r>
                      <a:r>
                        <a:rPr lang="id-ID" sz="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33045" marR="0">
                        <a:lnSpc>
                          <a:spcPts val="5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𝑛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1120" marR="0">
                        <a:lnSpc>
                          <a:spcPts val="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74625" marR="0">
                        <a:lnSpc>
                          <a:spcPts val="8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�</a:t>
                      </a:r>
                      <a:r>
                        <a:rPr lang="id-ID" sz="1100" spc="5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 </a:t>
                      </a:r>
                      <a:r>
                        <a:rPr lang="id-ID" sz="1100" spc="-1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𝑋𝑋</a:t>
                      </a:r>
                      <a:r>
                        <a:rPr lang="id-ID" sz="800" spc="-1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𝑓𝑓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8580" marR="0">
                        <a:lnSpc>
                          <a:spcPts val="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𝑛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81610" marR="0">
                        <a:lnSpc>
                          <a:spcPts val="6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𝑓</a:t>
                      </a:r>
                      <a:r>
                        <a:rPr lang="id-ID" sz="800" spc="25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𝑓</a:t>
                      </a:r>
                      <a:r>
                        <a:rPr lang="id-ID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8580" marR="0">
                        <a:lnSpc>
                          <a:spcPts val="11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a:t>=</a:t>
                      </a:r>
                      <a:r>
                        <a:rPr lang="id-ID" sz="1100" spc="60" dirty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 dirty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a:t>56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975841" y="13712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Penyelesaian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Mean Data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Berkelompok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767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18964"/>
          </a:xfrm>
        </p:spPr>
        <p:txBody>
          <a:bodyPr/>
          <a:lstStyle/>
          <a:p>
            <a:pPr algn="l"/>
            <a:r>
              <a:rPr lang="en-US" dirty="0" smtClean="0"/>
              <a:t>2. Median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58932" y="1548227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85" y="805637"/>
            <a:ext cx="8198337" cy="29772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32" y="3969985"/>
            <a:ext cx="9528104" cy="138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40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7325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5" y="814064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136"/>
            <a:ext cx="7300686" cy="653686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320194"/>
              </p:ext>
            </p:extLst>
          </p:nvPr>
        </p:nvGraphicFramePr>
        <p:xfrm>
          <a:off x="3638232" y="3643086"/>
          <a:ext cx="4112397" cy="286793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128871"/>
                <a:gridCol w="2983526"/>
              </a:tblGrid>
              <a:tr h="594536">
                <a:tc>
                  <a:txBody>
                    <a:bodyPr/>
                    <a:lstStyle/>
                    <a:p>
                      <a:pPr marL="167005" marR="0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6730" marR="180975" indent="-310515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Frekuensi Kumulatif</a:t>
                      </a:r>
                      <a:r>
                        <a:rPr lang="id-ID" sz="1100" b="1" spc="-26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Lebih</a:t>
                      </a:r>
                      <a:r>
                        <a:rPr lang="id-ID" sz="1100" b="1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dari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88">
                <a:tc>
                  <a:txBody>
                    <a:bodyPr/>
                    <a:lstStyle/>
                    <a:p>
                      <a:pPr marL="143510" marR="0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5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115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50,5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126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5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115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55,5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803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5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115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60,5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126">
                <a:tc>
                  <a:txBody>
                    <a:bodyPr/>
                    <a:lstStyle/>
                    <a:p>
                      <a:pPr marL="143510" marR="0"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5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115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65,5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1680" marR="736600" algn="ctr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126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5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115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70,5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126">
                <a:tc>
                  <a:txBody>
                    <a:bodyPr/>
                    <a:lstStyle/>
                    <a:p>
                      <a:pPr marL="143510" marR="0">
                        <a:lnSpc>
                          <a:spcPts val="12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50"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³</a:t>
                      </a:r>
                      <a:r>
                        <a:rPr lang="id-ID" sz="1150" spc="-8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75,5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038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1596177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902231" y="1247107"/>
            <a:ext cx="10363826" cy="342410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520"/>
            <a:ext cx="7548055" cy="31184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452055" y="238039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kelas</a:t>
            </a:r>
            <a:r>
              <a:rPr lang="en-US" dirty="0"/>
              <a:t> ke-3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𝑀𝑒 = 𝑏2 + 𝑙 �2	�</a:t>
            </a:r>
          </a:p>
          <a:p>
            <a:r>
              <a:rPr lang="en-US" dirty="0"/>
              <a:t>𝑓𝑓</a:t>
            </a:r>
          </a:p>
          <a:p>
            <a:r>
              <a:rPr lang="en-US" dirty="0"/>
              <a:t>50 − 35</a:t>
            </a:r>
          </a:p>
          <a:p>
            <a:r>
              <a:rPr lang="en-US" dirty="0"/>
              <a:t>= 65,5 + 3 �	�</a:t>
            </a:r>
          </a:p>
          <a:p>
            <a:r>
              <a:rPr lang="en-US" dirty="0"/>
              <a:t>32</a:t>
            </a:r>
          </a:p>
          <a:p>
            <a:r>
              <a:rPr lang="en-US" dirty="0"/>
              <a:t>13</a:t>
            </a:r>
          </a:p>
          <a:p>
            <a:r>
              <a:rPr lang="en-US" dirty="0"/>
              <a:t>= 65,5 + 3 �	�</a:t>
            </a:r>
          </a:p>
          <a:p>
            <a:r>
              <a:rPr lang="en-US" dirty="0"/>
              <a:t>32</a:t>
            </a:r>
          </a:p>
          <a:p>
            <a:r>
              <a:rPr lang="en-US" dirty="0"/>
              <a:t>= 65,5 + 1,21875</a:t>
            </a:r>
          </a:p>
          <a:p>
            <a:r>
              <a:rPr lang="en-US" dirty="0"/>
              <a:t>= 66,7</a:t>
            </a:r>
          </a:p>
        </p:txBody>
      </p:sp>
    </p:spTree>
    <p:extLst>
      <p:ext uri="{BB962C8B-B14F-4D97-AF65-F5344CB8AC3E}">
        <p14:creationId xmlns:p14="http://schemas.microsoft.com/office/powerpoint/2010/main" val="2046163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Terima</a:t>
            </a:r>
            <a:r>
              <a:rPr lang="en-US" dirty="0" smtClean="0"/>
              <a:t> </a:t>
            </a:r>
            <a:r>
              <a:rPr lang="en-US" dirty="0" err="1" smtClean="0"/>
              <a:t>kasih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9218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285</TotalTime>
  <Words>750</Words>
  <Application>Microsoft Office PowerPoint</Application>
  <PresentationFormat>Widescreen</PresentationFormat>
  <Paragraphs>220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 Math</vt:lpstr>
      <vt:lpstr>Symbol</vt:lpstr>
      <vt:lpstr>Times New Roman</vt:lpstr>
      <vt:lpstr>Tw Cen MT</vt:lpstr>
      <vt:lpstr>Droplet</vt:lpstr>
      <vt:lpstr>BAB III ANALISA DATA</vt:lpstr>
      <vt:lpstr>CAPAIAN PEMBELAJARAN</vt:lpstr>
      <vt:lpstr>A. TEKNIK ANALISA STATISTIKA DESKRIPTIF</vt:lpstr>
      <vt:lpstr>1. DISTRIBUSI FREKUENSI</vt:lpstr>
      <vt:lpstr> </vt:lpstr>
      <vt:lpstr> </vt:lpstr>
      <vt:lpstr>TABEL DISTRIBUSI FREKUENSI RELATIF</vt:lpstr>
      <vt:lpstr>  </vt:lpstr>
      <vt:lpstr>Tabel ditribusi frekuensi komulatif</vt:lpstr>
      <vt:lpstr> </vt:lpstr>
      <vt:lpstr> </vt:lpstr>
      <vt:lpstr> </vt:lpstr>
      <vt:lpstr>UKURAN PEMUSATAN DATA</vt:lpstr>
      <vt:lpstr>Rata-rata bobot tertimbang</vt:lpstr>
      <vt:lpstr>Contoh</vt:lpstr>
      <vt:lpstr>2. Median</vt:lpstr>
      <vt:lpstr> </vt:lpstr>
      <vt:lpstr> </vt:lpstr>
      <vt:lpstr>Terima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III ANALISA DATA</dc:title>
  <dc:creator>Windows User</dc:creator>
  <cp:lastModifiedBy>Windows User</cp:lastModifiedBy>
  <cp:revision>16</cp:revision>
  <dcterms:created xsi:type="dcterms:W3CDTF">2022-09-29T22:10:05Z</dcterms:created>
  <dcterms:modified xsi:type="dcterms:W3CDTF">2022-09-30T02:55:26Z</dcterms:modified>
</cp:coreProperties>
</file>