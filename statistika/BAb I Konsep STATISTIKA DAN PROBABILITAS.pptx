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7" autoAdjust="0"/>
    <p:restoredTop sz="94660"/>
  </p:normalViewPr>
  <p:slideViewPr>
    <p:cSldViewPr snapToGrid="0">
      <p:cViewPr varScale="1">
        <p:scale>
          <a:sx n="81" d="100"/>
          <a:sy n="81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BAB 1 KONSEP STATISTIKA DAN PROBABILITAS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Ir. </a:t>
            </a:r>
            <a:r>
              <a:rPr lang="en-US" dirty="0" err="1" smtClean="0"/>
              <a:t>Masruki</a:t>
            </a:r>
            <a:r>
              <a:rPr lang="en-US" dirty="0" smtClean="0"/>
              <a:t> </a:t>
            </a:r>
            <a:r>
              <a:rPr lang="en-US" dirty="0" err="1" smtClean="0"/>
              <a:t>Kabib</a:t>
            </a:r>
            <a:r>
              <a:rPr lang="en-US" dirty="0" smtClean="0"/>
              <a:t>, MT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177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Capaian</a:t>
            </a:r>
            <a:r>
              <a:rPr lang="en-US" dirty="0" smtClean="0"/>
              <a:t> </a:t>
            </a:r>
            <a:r>
              <a:rPr lang="en-US" dirty="0" err="1" smtClean="0"/>
              <a:t>Pembelajaran</a:t>
            </a:r>
            <a:r>
              <a:rPr lang="en-US" dirty="0" smtClean="0"/>
              <a:t>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1479712"/>
            <a:ext cx="10056656" cy="4730019"/>
          </a:xfrm>
        </p:spPr>
        <p:txBody>
          <a:bodyPr>
            <a:normAutofit/>
          </a:bodyPr>
          <a:lstStyle/>
          <a:p>
            <a:pPr marR="31750" lvl="0">
              <a:spcBef>
                <a:spcPts val="0"/>
              </a:spcBef>
              <a:buFont typeface="+mj-lt"/>
              <a:buAutoNum type="arabicPeriod"/>
              <a:tabLst>
                <a:tab pos="361315" algn="l"/>
              </a:tabLst>
            </a:pP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Mahasiswa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mampu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menjelaskan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Statistika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probabilitas</a:t>
            </a:r>
            <a:endParaRPr 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31750" lvl="0">
              <a:spcBef>
                <a:spcPts val="0"/>
              </a:spcBef>
              <a:buFont typeface="+mj-lt"/>
              <a:buAutoNum type="arabicPeriod"/>
              <a:tabLst>
                <a:tab pos="361315" algn="l"/>
              </a:tabLst>
            </a:pP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Mahasiswa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mampu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menyusun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data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menganalisa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data</a:t>
            </a:r>
          </a:p>
          <a:p>
            <a:pPr marR="31750" lvl="0">
              <a:spcBef>
                <a:spcPts val="0"/>
              </a:spcBef>
              <a:buFont typeface="+mj-lt"/>
              <a:buAutoNum type="arabicPeriod"/>
              <a:tabLst>
                <a:tab pos="361315" algn="l"/>
              </a:tabLst>
            </a:pP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Mahasiswa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mampu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membuat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kemungkinan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kejadian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akan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datang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R="31750" lvl="0">
              <a:spcBef>
                <a:spcPts val="0"/>
              </a:spcBef>
              <a:buFont typeface="+mj-lt"/>
              <a:buAutoNum type="arabicPeriod"/>
              <a:tabLst>
                <a:tab pos="361315" algn="l"/>
              </a:tabLst>
            </a:pP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Mahasiswa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mampu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menyusun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berbagai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analisa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statistika</a:t>
            </a:r>
            <a:endParaRPr 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31750" lvl="0">
              <a:spcBef>
                <a:spcPts val="0"/>
              </a:spcBef>
              <a:buFont typeface="+mj-lt"/>
              <a:buAutoNum type="arabicPeriod"/>
              <a:tabLst>
                <a:tab pos="361315" algn="l"/>
              </a:tabLst>
            </a:pP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Mahasiswa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mampu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menganalisa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menggunakan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software </a:t>
            </a:r>
          </a:p>
          <a:p>
            <a:pPr marR="31750" lvl="0">
              <a:spcBef>
                <a:spcPts val="0"/>
              </a:spcBef>
              <a:buFont typeface="+mj-lt"/>
              <a:buAutoNum type="arabicPeriod"/>
              <a:tabLst>
                <a:tab pos="361315" algn="l"/>
              </a:tabLst>
            </a:pP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Mahasiswa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mampu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analisa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probabilitas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617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A. </a:t>
            </a:r>
            <a:r>
              <a:rPr lang="en-US" dirty="0" err="1" smtClean="0"/>
              <a:t>Pengertian</a:t>
            </a:r>
            <a:r>
              <a:rPr lang="en-US" dirty="0" smtClean="0"/>
              <a:t> </a:t>
            </a:r>
            <a:r>
              <a:rPr lang="en-US" dirty="0" err="1" smtClean="0"/>
              <a:t>Statistika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pengetahuan</a:t>
            </a:r>
            <a:r>
              <a:rPr lang="en-US" dirty="0"/>
              <a:t> yang </a:t>
            </a:r>
            <a:r>
              <a:rPr lang="en-US" dirty="0" err="1"/>
              <a:t>berkaitan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,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mengumpulkan</a:t>
            </a:r>
            <a:r>
              <a:rPr lang="en-US" dirty="0"/>
              <a:t>, </a:t>
            </a:r>
            <a:r>
              <a:rPr lang="en-US" dirty="0" err="1"/>
              <a:t>mengolah</a:t>
            </a:r>
            <a:r>
              <a:rPr lang="en-US" dirty="0"/>
              <a:t>, </a:t>
            </a:r>
            <a:r>
              <a:rPr lang="en-US" dirty="0" err="1"/>
              <a:t>menganalisis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menginterprestasikan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disajikan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lengkap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yang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dipahami</a:t>
            </a:r>
            <a:r>
              <a:rPr lang="en-US" dirty="0"/>
              <a:t> </a:t>
            </a:r>
            <a:r>
              <a:rPr lang="en-US" dirty="0" err="1"/>
              <a:t>penggunanya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kumpulan</a:t>
            </a:r>
            <a:r>
              <a:rPr lang="en-US" dirty="0"/>
              <a:t> data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yang </a:t>
            </a:r>
            <a:r>
              <a:rPr lang="en-US" dirty="0" err="1"/>
              <a:t>disusun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(</a:t>
            </a:r>
            <a:r>
              <a:rPr lang="en-US" dirty="0" err="1"/>
              <a:t>daftar</a:t>
            </a:r>
            <a:r>
              <a:rPr lang="en-US" dirty="0"/>
              <a:t>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diagram yang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berkaitan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  <a:p>
            <a:r>
              <a:rPr lang="en-US" dirty="0" err="1" smtClean="0"/>
              <a:t>Contoh</a:t>
            </a:r>
            <a:r>
              <a:rPr lang="en-US" dirty="0" smtClean="0"/>
              <a:t> :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    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penduduk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kumpulan</a:t>
            </a:r>
            <a:r>
              <a:rPr lang="en-US" dirty="0"/>
              <a:t> </a:t>
            </a:r>
            <a:r>
              <a:rPr lang="en-US" dirty="0" err="1"/>
              <a:t>angka-angka</a:t>
            </a:r>
            <a:r>
              <a:rPr lang="en-US" dirty="0"/>
              <a:t> yang </a:t>
            </a:r>
            <a:r>
              <a:rPr lang="en-US" dirty="0" err="1"/>
              <a:t>berkaitan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penduduk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smtClean="0"/>
              <a:t>2.    </a:t>
            </a:r>
            <a:r>
              <a:rPr lang="en-US" dirty="0" err="1" smtClean="0"/>
              <a:t>Statistik</a:t>
            </a:r>
            <a:r>
              <a:rPr lang="en-US" dirty="0" smtClean="0"/>
              <a:t> </a:t>
            </a:r>
            <a:r>
              <a:rPr lang="en-US" dirty="0" err="1"/>
              <a:t>ekonomi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kumpulan</a:t>
            </a:r>
            <a:r>
              <a:rPr lang="en-US" dirty="0"/>
              <a:t> </a:t>
            </a:r>
            <a:r>
              <a:rPr lang="en-US" dirty="0" err="1"/>
              <a:t>angka-angka</a:t>
            </a:r>
            <a:r>
              <a:rPr lang="en-US" dirty="0"/>
              <a:t> yang </a:t>
            </a:r>
            <a:r>
              <a:rPr lang="en-US" dirty="0" err="1"/>
              <a:t>berkaitan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ekonomi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00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3" y="297400"/>
            <a:ext cx="9404723" cy="747432"/>
          </a:xfrm>
        </p:spPr>
        <p:txBody>
          <a:bodyPr/>
          <a:lstStyle/>
          <a:p>
            <a:r>
              <a:rPr lang="en-US" dirty="0" smtClean="0"/>
              <a:t>B. </a:t>
            </a:r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Statistika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774" y="1044832"/>
            <a:ext cx="10578191" cy="51258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a.	</a:t>
            </a:r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err="1"/>
              <a:t>Deskriptif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lang="en-US" dirty="0" err="1" smtClean="0"/>
              <a:t>Menyajikan</a:t>
            </a:r>
            <a:r>
              <a:rPr lang="en-US" dirty="0" smtClean="0"/>
              <a:t> </a:t>
            </a:r>
            <a:r>
              <a:rPr lang="en-US" dirty="0"/>
              <a:t>data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besaran-besaran</a:t>
            </a:r>
            <a:r>
              <a:rPr lang="en-US" dirty="0"/>
              <a:t>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diinterpretasikan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minimum, </a:t>
            </a:r>
            <a:r>
              <a:rPr lang="en-US" dirty="0" err="1"/>
              <a:t>rataan</a:t>
            </a:r>
            <a:r>
              <a:rPr lang="en-US" dirty="0"/>
              <a:t>, </a:t>
            </a:r>
            <a:r>
              <a:rPr lang="en-US" dirty="0" err="1"/>
              <a:t>simpangan</a:t>
            </a:r>
            <a:r>
              <a:rPr lang="en-US" dirty="0"/>
              <a:t> </a:t>
            </a:r>
            <a:r>
              <a:rPr lang="en-US" dirty="0" err="1"/>
              <a:t>baku</a:t>
            </a:r>
            <a:r>
              <a:rPr lang="en-US" dirty="0"/>
              <a:t>, median,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menyajikan</a:t>
            </a:r>
            <a:r>
              <a:rPr lang="en-US" dirty="0"/>
              <a:t> data-data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diagram. </a:t>
            </a:r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</a:t>
            </a:r>
            <a:r>
              <a:rPr lang="en-US" dirty="0" err="1"/>
              <a:t>mereduksi</a:t>
            </a:r>
            <a:r>
              <a:rPr lang="en-US" dirty="0"/>
              <a:t> data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besaran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 </a:t>
            </a:r>
            <a:r>
              <a:rPr lang="en-US" dirty="0" err="1"/>
              <a:t>disajikan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bermakna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:</a:t>
            </a:r>
          </a:p>
          <a:p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menyajikan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pekerja</a:t>
            </a:r>
            <a:r>
              <a:rPr lang="en-US" dirty="0"/>
              <a:t> </a:t>
            </a:r>
            <a:r>
              <a:rPr lang="en-US" dirty="0" err="1"/>
              <a:t>pabrik</a:t>
            </a:r>
            <a:r>
              <a:rPr lang="en-US" dirty="0"/>
              <a:t> di Kota </a:t>
            </a:r>
            <a:r>
              <a:rPr lang="en-US" dirty="0" err="1"/>
              <a:t>Garut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pengelompokan</a:t>
            </a:r>
            <a:r>
              <a:rPr lang="en-US" dirty="0"/>
              <a:t> </a:t>
            </a:r>
            <a:r>
              <a:rPr lang="en-US" dirty="0" err="1"/>
              <a:t>usia</a:t>
            </a:r>
            <a:r>
              <a:rPr lang="en-US" dirty="0"/>
              <a:t>. </a:t>
            </a:r>
            <a:r>
              <a:rPr lang="en-US" dirty="0" err="1"/>
              <a:t>Gambaran</a:t>
            </a:r>
            <a:r>
              <a:rPr lang="en-US" dirty="0"/>
              <a:t>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dilihat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1.1 </a:t>
            </a:r>
            <a:r>
              <a:rPr lang="en-US" dirty="0" err="1"/>
              <a:t>contoh</a:t>
            </a:r>
            <a:r>
              <a:rPr lang="en-US" dirty="0"/>
              <a:t> diagram </a:t>
            </a:r>
            <a:r>
              <a:rPr lang="en-US" dirty="0" err="1"/>
              <a:t>batang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:</a:t>
            </a:r>
          </a:p>
          <a:p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412534" y="383502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041" y="4007466"/>
            <a:ext cx="3729883" cy="278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412534" y="674014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48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1115"/>
          </a:xfrm>
        </p:spPr>
        <p:txBody>
          <a:bodyPr/>
          <a:lstStyle/>
          <a:p>
            <a:r>
              <a:rPr lang="en-US" dirty="0">
                <a:solidFill>
                  <a:srgbClr val="EBEBEB"/>
                </a:solidFill>
              </a:rPr>
              <a:t/>
            </a:r>
            <a:br>
              <a:rPr lang="en-US" dirty="0">
                <a:solidFill>
                  <a:srgbClr val="EBEBEB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Tabulasi</a:t>
            </a:r>
            <a:r>
              <a:rPr lang="en-US" dirty="0"/>
              <a:t> Data</a:t>
            </a:r>
          </a:p>
          <a:p>
            <a:pPr marL="0" indent="0">
              <a:buNone/>
            </a:pPr>
            <a:r>
              <a:rPr lang="en-US" dirty="0"/>
              <a:t>    Diagram </a:t>
            </a:r>
            <a:r>
              <a:rPr lang="en-US" dirty="0" err="1"/>
              <a:t>Balok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Diagram </a:t>
            </a:r>
            <a:r>
              <a:rPr lang="en-US" dirty="0" err="1"/>
              <a:t>Kue</a:t>
            </a:r>
            <a:r>
              <a:rPr lang="en-US" dirty="0"/>
              <a:t> Pie</a:t>
            </a:r>
          </a:p>
          <a:p>
            <a:pPr marL="0" indent="0">
              <a:buNone/>
            </a:pPr>
            <a:r>
              <a:rPr lang="en-US" dirty="0"/>
              <a:t>    Box Plot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79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Statistika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282890"/>
            <a:ext cx="9403742" cy="49655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b.	</a:t>
            </a:r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err="1"/>
              <a:t>Inferensial</a:t>
            </a:r>
            <a:r>
              <a:rPr lang="en-US" dirty="0"/>
              <a:t> / </a:t>
            </a:r>
            <a:r>
              <a:rPr lang="en-US" dirty="0" err="1"/>
              <a:t>Induktif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err="1"/>
              <a:t>deskripsi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menaksir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besaran</a:t>
            </a:r>
            <a:r>
              <a:rPr lang="en-US" dirty="0"/>
              <a:t> </a:t>
            </a:r>
            <a:r>
              <a:rPr lang="en-US" dirty="0" err="1"/>
              <a:t>statistik</a:t>
            </a:r>
            <a:r>
              <a:rPr lang="en-US" dirty="0"/>
              <a:t>. </a:t>
            </a:r>
            <a:r>
              <a:rPr lang="en-US" dirty="0" err="1"/>
              <a:t>Inferensi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yang </a:t>
            </a:r>
            <a:r>
              <a:rPr lang="en-US" dirty="0" err="1"/>
              <a:t>didasarkan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random yang </a:t>
            </a:r>
            <a:r>
              <a:rPr lang="en-US" dirty="0" err="1"/>
              <a:t>diambil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kesimpulan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 yang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meliputi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, </a:t>
            </a:r>
            <a:r>
              <a:rPr lang="en-US" dirty="0" err="1"/>
              <a:t>estimasi,dan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 err="1"/>
              <a:t>Berdasarkan</a:t>
            </a:r>
            <a:r>
              <a:rPr lang="en-US" dirty="0"/>
              <a:t> diagram </a:t>
            </a:r>
            <a:r>
              <a:rPr lang="en-US" dirty="0" err="1"/>
              <a:t>batang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1.1, </a:t>
            </a:r>
            <a:r>
              <a:rPr lang="en-US" dirty="0" err="1"/>
              <a:t>diperoleh</a:t>
            </a:r>
            <a:r>
              <a:rPr lang="en-US" dirty="0"/>
              <a:t> data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pekerja</a:t>
            </a:r>
            <a:r>
              <a:rPr lang="en-US" dirty="0"/>
              <a:t> </a:t>
            </a:r>
            <a:r>
              <a:rPr lang="en-US" dirty="0" err="1"/>
              <a:t>pabrik</a:t>
            </a:r>
            <a:r>
              <a:rPr lang="en-US" dirty="0"/>
              <a:t> di </a:t>
            </a:r>
            <a:r>
              <a:rPr lang="en-US" dirty="0" err="1"/>
              <a:t>kota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yang </a:t>
            </a:r>
            <a:r>
              <a:rPr lang="en-US" dirty="0" err="1"/>
              <a:t>usianya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25 </a:t>
            </a:r>
            <a:r>
              <a:rPr lang="en-US" dirty="0" err="1"/>
              <a:t>th</a:t>
            </a:r>
            <a:r>
              <a:rPr lang="en-US" dirty="0"/>
              <a:t> – 29 </a:t>
            </a:r>
            <a:r>
              <a:rPr lang="en-US" dirty="0" err="1"/>
              <a:t>th</a:t>
            </a:r>
            <a:r>
              <a:rPr lang="en-US" dirty="0"/>
              <a:t> </a:t>
            </a:r>
            <a:r>
              <a:rPr lang="en-US" dirty="0" err="1"/>
              <a:t>berjumlah</a:t>
            </a:r>
            <a:r>
              <a:rPr lang="en-US" dirty="0"/>
              <a:t> 3000 orang.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067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C. </a:t>
            </a:r>
            <a:r>
              <a:rPr lang="en-US" dirty="0" err="1" smtClean="0"/>
              <a:t>Penerapan</a:t>
            </a:r>
            <a:r>
              <a:rPr lang="en-US" dirty="0" smtClean="0"/>
              <a:t> </a:t>
            </a:r>
            <a:r>
              <a:rPr lang="en-US" dirty="0" err="1" smtClean="0"/>
              <a:t>Statistika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:</a:t>
            </a:r>
          </a:p>
          <a:p>
            <a:r>
              <a:rPr lang="en-US" dirty="0"/>
              <a:t>1.	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gambaran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kuantitatif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keadaan</a:t>
            </a:r>
            <a:r>
              <a:rPr lang="en-US" dirty="0"/>
              <a:t> data</a:t>
            </a:r>
          </a:p>
          <a:p>
            <a:r>
              <a:rPr lang="en-US" dirty="0"/>
              <a:t>2.	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estimasi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prediksi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</a:t>
            </a:r>
          </a:p>
          <a:p>
            <a:r>
              <a:rPr lang="en-US" dirty="0"/>
              <a:t>3.	</a:t>
            </a:r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</a:t>
            </a:r>
            <a:r>
              <a:rPr lang="en-US" dirty="0" err="1"/>
              <a:t>deduktif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induktif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ilmiah</a:t>
            </a:r>
            <a:r>
              <a:rPr lang="en-US" dirty="0"/>
              <a:t> </a:t>
            </a:r>
          </a:p>
          <a:p>
            <a:r>
              <a:rPr lang="en-US" dirty="0"/>
              <a:t>4.	</a:t>
            </a:r>
            <a:r>
              <a:rPr lang="en-US" dirty="0" err="1"/>
              <a:t>Menemukan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pendapat</a:t>
            </a:r>
            <a:r>
              <a:rPr lang="en-US" dirty="0"/>
              <a:t> orang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poling </a:t>
            </a:r>
            <a:r>
              <a:rPr lang="en-US" dirty="0" err="1"/>
              <a:t>pendapat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928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D. Data </a:t>
            </a:r>
            <a:r>
              <a:rPr lang="en-US" dirty="0" err="1" smtClean="0"/>
              <a:t>Statistika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err="1"/>
              <a:t>terapan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:</a:t>
            </a:r>
          </a:p>
          <a:p>
            <a:r>
              <a:rPr lang="en-US" dirty="0"/>
              <a:t>	</a:t>
            </a:r>
            <a:r>
              <a:rPr lang="en-US" dirty="0" err="1"/>
              <a:t>Ujian</a:t>
            </a:r>
            <a:r>
              <a:rPr lang="en-US" dirty="0"/>
              <a:t> </a:t>
            </a:r>
          </a:p>
          <a:p>
            <a:r>
              <a:rPr lang="en-US" dirty="0"/>
              <a:t>	Survey</a:t>
            </a:r>
          </a:p>
          <a:p>
            <a:r>
              <a:rPr lang="en-US" dirty="0"/>
              <a:t>	</a:t>
            </a:r>
            <a:r>
              <a:rPr lang="en-US" dirty="0" err="1"/>
              <a:t>Eksperimen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288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E. </a:t>
            </a:r>
            <a:r>
              <a:rPr lang="en-US" dirty="0" err="1" smtClean="0"/>
              <a:t>Pengertian</a:t>
            </a:r>
            <a:r>
              <a:rPr lang="en-US" dirty="0" smtClean="0"/>
              <a:t> </a:t>
            </a:r>
            <a:r>
              <a:rPr lang="en-US" dirty="0" err="1" smtClean="0"/>
              <a:t>Probabilitas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725371"/>
            <a:ext cx="10681531" cy="44570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err="1"/>
              <a:t>Probabilitas</a:t>
            </a:r>
            <a:r>
              <a:rPr lang="en-US" sz="2800" dirty="0"/>
              <a:t> </a:t>
            </a:r>
            <a:r>
              <a:rPr lang="en-US" sz="2800" dirty="0" err="1"/>
              <a:t>merupakan</a:t>
            </a:r>
            <a:r>
              <a:rPr lang="en-US" sz="2800" dirty="0"/>
              <a:t> </a:t>
            </a:r>
            <a:r>
              <a:rPr lang="en-US" sz="2800" dirty="0" err="1"/>
              <a:t>besarnya</a:t>
            </a:r>
            <a:r>
              <a:rPr lang="en-US" sz="2800" dirty="0"/>
              <a:t> </a:t>
            </a:r>
            <a:r>
              <a:rPr lang="en-US" sz="2800" dirty="0" err="1"/>
              <a:t>kesempatan</a:t>
            </a:r>
            <a:r>
              <a:rPr lang="en-US" sz="2800" dirty="0"/>
              <a:t> (</a:t>
            </a:r>
            <a:r>
              <a:rPr lang="en-US" sz="2800" dirty="0" err="1"/>
              <a:t>kemungkinan</a:t>
            </a:r>
            <a:r>
              <a:rPr lang="en-US" sz="2800" dirty="0"/>
              <a:t>)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peristiwa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terjadi</a:t>
            </a:r>
            <a:r>
              <a:rPr lang="en-US" sz="2800" dirty="0"/>
              <a:t>. </a:t>
            </a:r>
            <a:r>
              <a:rPr lang="en-US" sz="2800" dirty="0" err="1"/>
              <a:t>Besarnya</a:t>
            </a:r>
            <a:r>
              <a:rPr lang="en-US" sz="2800" dirty="0"/>
              <a:t> </a:t>
            </a:r>
            <a:r>
              <a:rPr lang="en-US" sz="2800" dirty="0" err="1"/>
              <a:t>kesempatan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ditulis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bentuk</a:t>
            </a:r>
            <a:r>
              <a:rPr lang="en-US" sz="2800" dirty="0"/>
              <a:t> </a:t>
            </a:r>
            <a:r>
              <a:rPr lang="en-US" sz="2800" dirty="0" err="1"/>
              <a:t>bilangan</a:t>
            </a:r>
            <a:r>
              <a:rPr lang="en-US" sz="2800" dirty="0"/>
              <a:t> decimal, </a:t>
            </a:r>
            <a:r>
              <a:rPr lang="en-US" sz="2800" dirty="0" err="1"/>
              <a:t>pecahan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 smtClean="0"/>
              <a:t>persen</a:t>
            </a: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Probabilitas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diartikan</a:t>
            </a:r>
            <a:r>
              <a:rPr lang="en-US" sz="2800" dirty="0"/>
              <a:t> </a:t>
            </a:r>
            <a:r>
              <a:rPr lang="en-US" sz="2800" dirty="0" err="1"/>
              <a:t>sebagai</a:t>
            </a:r>
            <a:r>
              <a:rPr lang="en-US" sz="2800" dirty="0"/>
              <a:t> </a:t>
            </a:r>
            <a:r>
              <a:rPr lang="en-US" sz="2800" dirty="0" err="1"/>
              <a:t>derajat</a:t>
            </a:r>
            <a:r>
              <a:rPr lang="en-US" sz="2800" dirty="0"/>
              <a:t> / </a:t>
            </a:r>
            <a:r>
              <a:rPr lang="en-US" sz="2800" dirty="0" err="1"/>
              <a:t>tingkat</a:t>
            </a:r>
            <a:r>
              <a:rPr lang="en-US" sz="2800" dirty="0"/>
              <a:t> </a:t>
            </a:r>
            <a:r>
              <a:rPr lang="en-US" sz="2800" dirty="0" err="1"/>
              <a:t>kepastian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keyakinan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munculnya</a:t>
            </a:r>
            <a:r>
              <a:rPr lang="en-US" sz="2800" dirty="0"/>
              <a:t> </a:t>
            </a:r>
            <a:r>
              <a:rPr lang="en-US" sz="2800" dirty="0" err="1"/>
              <a:t>hasil</a:t>
            </a:r>
            <a:r>
              <a:rPr lang="en-US" sz="2800" dirty="0"/>
              <a:t> </a:t>
            </a:r>
            <a:r>
              <a:rPr lang="en-US" sz="2800" dirty="0" err="1"/>
              <a:t>pecobaan</a:t>
            </a:r>
            <a:r>
              <a:rPr lang="en-US" sz="2800" dirty="0"/>
              <a:t> </a:t>
            </a:r>
            <a:r>
              <a:rPr lang="en-US" sz="2800" dirty="0" err="1"/>
              <a:t>statistik</a:t>
            </a:r>
            <a:r>
              <a:rPr lang="en-US" sz="2800" dirty="0"/>
              <a:t>. </a:t>
            </a:r>
            <a:r>
              <a:rPr lang="en-US" sz="2800" dirty="0" err="1"/>
              <a:t>Selain</a:t>
            </a:r>
            <a:r>
              <a:rPr lang="en-US" sz="2800" dirty="0"/>
              <a:t> </a:t>
            </a:r>
            <a:r>
              <a:rPr lang="en-US" sz="2800" dirty="0" err="1"/>
              <a:t>itu</a:t>
            </a:r>
            <a:r>
              <a:rPr lang="en-US" sz="2800" dirty="0"/>
              <a:t> juga </a:t>
            </a:r>
            <a:r>
              <a:rPr lang="en-US" sz="2800" dirty="0" err="1"/>
              <a:t>diartikan</a:t>
            </a:r>
            <a:r>
              <a:rPr lang="en-US" sz="2800" dirty="0"/>
              <a:t> </a:t>
            </a:r>
            <a:r>
              <a:rPr lang="en-US" sz="2800" dirty="0" err="1"/>
              <a:t>sebagai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ukuran</a:t>
            </a:r>
            <a:r>
              <a:rPr lang="en-US" sz="2800" dirty="0"/>
              <a:t> </a:t>
            </a:r>
            <a:r>
              <a:rPr lang="en-US" sz="2800" dirty="0" err="1"/>
              <a:t>seberapa</a:t>
            </a:r>
            <a:r>
              <a:rPr lang="en-US" sz="2800" dirty="0"/>
              <a:t> </a:t>
            </a:r>
            <a:r>
              <a:rPr lang="en-US" sz="2800" dirty="0" err="1"/>
              <a:t>besar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kejadian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terjadi</a:t>
            </a:r>
            <a:r>
              <a:rPr lang="en-US" sz="2800" dirty="0"/>
              <a:t> </a:t>
            </a:r>
            <a:r>
              <a:rPr lang="en-US" sz="2800" dirty="0" err="1"/>
              <a:t>terhadap</a:t>
            </a:r>
            <a:r>
              <a:rPr lang="en-US" sz="2800" dirty="0"/>
              <a:t> </a:t>
            </a:r>
            <a:r>
              <a:rPr lang="en-US" sz="2800" dirty="0" err="1"/>
              <a:t>semua</a:t>
            </a:r>
            <a:r>
              <a:rPr lang="en-US" sz="2800" dirty="0"/>
              <a:t> </a:t>
            </a:r>
            <a:r>
              <a:rPr lang="en-US" sz="2800" dirty="0" err="1"/>
              <a:t>kejadian</a:t>
            </a:r>
            <a:r>
              <a:rPr lang="en-US" sz="2800" dirty="0"/>
              <a:t> yang </a:t>
            </a:r>
            <a:r>
              <a:rPr lang="en-US" sz="2800" dirty="0" err="1"/>
              <a:t>ada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779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E. </a:t>
            </a:r>
            <a:r>
              <a:rPr lang="en-US" dirty="0" err="1" smtClean="0"/>
              <a:t>Perumusan</a:t>
            </a:r>
            <a:r>
              <a:rPr lang="en-US" dirty="0" smtClean="0"/>
              <a:t> </a:t>
            </a:r>
            <a:r>
              <a:rPr lang="en-US" dirty="0" err="1" smtClean="0"/>
              <a:t>Probabilitas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Perumusan</a:t>
            </a:r>
            <a:r>
              <a:rPr lang="en-US" sz="2800" dirty="0"/>
              <a:t> </a:t>
            </a:r>
            <a:r>
              <a:rPr lang="en-US" sz="2800" dirty="0" err="1"/>
              <a:t>konsep</a:t>
            </a:r>
            <a:r>
              <a:rPr lang="en-US" sz="2800" dirty="0"/>
              <a:t> </a:t>
            </a:r>
            <a:r>
              <a:rPr lang="en-US" sz="2800" dirty="0" err="1"/>
              <a:t>dasar</a:t>
            </a:r>
            <a:r>
              <a:rPr lang="en-US" sz="2800" dirty="0"/>
              <a:t> </a:t>
            </a:r>
            <a:r>
              <a:rPr lang="en-US" sz="2800" dirty="0" err="1"/>
              <a:t>probabilitas</a:t>
            </a:r>
            <a:r>
              <a:rPr lang="en-US" sz="2800" dirty="0"/>
              <a:t> </a:t>
            </a:r>
            <a:r>
              <a:rPr lang="en-US" sz="2800" dirty="0" err="1"/>
              <a:t>dilakukan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tiga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, </a:t>
            </a:r>
            <a:r>
              <a:rPr lang="en-US" sz="2800" dirty="0" err="1"/>
              <a:t>yaitu</a:t>
            </a:r>
            <a:r>
              <a:rPr lang="en-US" sz="2800" dirty="0"/>
              <a:t> </a:t>
            </a:r>
            <a:r>
              <a:rPr lang="en-US" sz="2800" dirty="0" err="1"/>
              <a:t>perumusan</a:t>
            </a:r>
            <a:r>
              <a:rPr lang="en-US" sz="2800" dirty="0"/>
              <a:t> </a:t>
            </a:r>
            <a:r>
              <a:rPr lang="en-US" sz="2800" dirty="0" err="1"/>
              <a:t>klasik</a:t>
            </a:r>
            <a:r>
              <a:rPr lang="en-US" sz="2800" dirty="0"/>
              <a:t>,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frekuensi</a:t>
            </a:r>
            <a:r>
              <a:rPr lang="en-US" sz="2800" dirty="0"/>
              <a:t> </a:t>
            </a:r>
            <a:r>
              <a:rPr lang="en-US" sz="2800" dirty="0" err="1"/>
              <a:t>relatif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pendekatan</a:t>
            </a:r>
            <a:r>
              <a:rPr lang="en-US" sz="2800" dirty="0"/>
              <a:t> </a:t>
            </a:r>
            <a:r>
              <a:rPr lang="en-US" sz="2800" dirty="0" err="1"/>
              <a:t>subjektif</a:t>
            </a:r>
            <a:r>
              <a:rPr lang="en-US" sz="2800" dirty="0"/>
              <a:t>. </a:t>
            </a:r>
            <a:r>
              <a:rPr lang="en-US" sz="2800" dirty="0" err="1"/>
              <a:t>Bila</a:t>
            </a:r>
            <a:r>
              <a:rPr lang="en-US" sz="2800" dirty="0"/>
              <a:t> </a:t>
            </a:r>
            <a:r>
              <a:rPr lang="en-US" sz="2800" dirty="0" err="1"/>
              <a:t>kejadian-kejadian</a:t>
            </a:r>
            <a:r>
              <a:rPr lang="en-US" sz="2800" dirty="0"/>
              <a:t>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contoh</a:t>
            </a:r>
            <a:r>
              <a:rPr lang="en-US" sz="2800" dirty="0"/>
              <a:t> di </a:t>
            </a:r>
            <a:r>
              <a:rPr lang="en-US" sz="2800" dirty="0" err="1"/>
              <a:t>atas</a:t>
            </a:r>
            <a:r>
              <a:rPr lang="en-US" sz="2800" dirty="0"/>
              <a:t> </a:t>
            </a:r>
            <a:r>
              <a:rPr lang="en-US" sz="2800" dirty="0" err="1"/>
              <a:t>kita</a:t>
            </a:r>
            <a:r>
              <a:rPr lang="en-US" sz="2800" dirty="0"/>
              <a:t> </a:t>
            </a:r>
            <a:r>
              <a:rPr lang="en-US" sz="2800" dirty="0" err="1"/>
              <a:t>lambangkan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besar</a:t>
            </a:r>
            <a:r>
              <a:rPr lang="en-US" sz="2800" dirty="0"/>
              <a:t> E, </a:t>
            </a:r>
            <a:r>
              <a:rPr lang="en-US" sz="2800" dirty="0" err="1"/>
              <a:t>kita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merumuskan</a:t>
            </a:r>
            <a:r>
              <a:rPr lang="en-US" sz="2800" dirty="0"/>
              <a:t> </a:t>
            </a:r>
            <a:r>
              <a:rPr lang="en-US" sz="2800" dirty="0" err="1"/>
              <a:t>probabilitas</a:t>
            </a:r>
            <a:r>
              <a:rPr lang="en-US" sz="2800" dirty="0"/>
              <a:t> </a:t>
            </a:r>
            <a:r>
              <a:rPr lang="en-US" sz="2800" dirty="0" err="1"/>
              <a:t>kejadian</a:t>
            </a:r>
            <a:r>
              <a:rPr lang="en-US" sz="2800" dirty="0"/>
              <a:t> E, </a:t>
            </a:r>
            <a:r>
              <a:rPr lang="en-US" sz="2800" dirty="0" err="1"/>
              <a:t>yaitu</a:t>
            </a:r>
            <a:r>
              <a:rPr lang="en-US" sz="2800" dirty="0"/>
              <a:t> P(E).</a:t>
            </a:r>
          </a:p>
        </p:txBody>
      </p:sp>
    </p:spTree>
    <p:extLst>
      <p:ext uri="{BB962C8B-B14F-4D97-AF65-F5344CB8AC3E}">
        <p14:creationId xmlns:p14="http://schemas.microsoft.com/office/powerpoint/2010/main" val="1952861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750628"/>
            <a:ext cx="9403742" cy="54977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1. </a:t>
            </a:r>
            <a:r>
              <a:rPr lang="en-US" dirty="0" err="1" smtClean="0"/>
              <a:t>Perumusan</a:t>
            </a:r>
            <a:r>
              <a:rPr lang="en-US" dirty="0" smtClean="0"/>
              <a:t> </a:t>
            </a:r>
            <a:r>
              <a:rPr lang="en-US" dirty="0" err="1"/>
              <a:t>Klasik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E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n </a:t>
            </a:r>
            <a:r>
              <a:rPr lang="en-US" dirty="0" err="1"/>
              <a:t>cara</a:t>
            </a:r>
            <a:r>
              <a:rPr lang="en-US" dirty="0"/>
              <a:t> yang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masing-masing</a:t>
            </a:r>
            <a:r>
              <a:rPr lang="en-US" dirty="0"/>
              <a:t> n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kesempatan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, </a:t>
            </a:r>
            <a:r>
              <a:rPr lang="en-US" dirty="0" err="1"/>
              <a:t>prrobabilitas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E yang </a:t>
            </a:r>
            <a:r>
              <a:rPr lang="en-US" dirty="0" err="1"/>
              <a:t>ditulis</a:t>
            </a:r>
            <a:r>
              <a:rPr lang="en-US" dirty="0"/>
              <a:t> P(E) </a:t>
            </a:r>
            <a:r>
              <a:rPr lang="en-US" dirty="0" err="1"/>
              <a:t>dirumuskan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P(E) = m / </a:t>
            </a:r>
            <a:r>
              <a:rPr lang="en-US" dirty="0" smtClean="0"/>
              <a:t>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/>
              <a:t>1.	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uang</a:t>
            </a:r>
            <a:r>
              <a:rPr lang="en-US" dirty="0"/>
              <a:t> </a:t>
            </a:r>
            <a:r>
              <a:rPr lang="en-US" dirty="0" err="1"/>
              <a:t>logam</a:t>
            </a:r>
            <a:r>
              <a:rPr lang="en-US" dirty="0"/>
              <a:t> </a:t>
            </a:r>
            <a:r>
              <a:rPr lang="en-US" dirty="0" err="1"/>
              <a:t>dilemparkan</a:t>
            </a:r>
            <a:r>
              <a:rPr lang="en-US" dirty="0"/>
              <a:t>. </a:t>
            </a: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sebut</a:t>
            </a:r>
            <a:r>
              <a:rPr lang="en-US" dirty="0"/>
              <a:t> </a:t>
            </a:r>
            <a:r>
              <a:rPr lang="en-US" dirty="0" err="1"/>
              <a:t>muka</a:t>
            </a:r>
            <a:r>
              <a:rPr lang="en-US" dirty="0"/>
              <a:t> (m)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sebut</a:t>
            </a:r>
            <a:r>
              <a:rPr lang="en-US" dirty="0"/>
              <a:t> </a:t>
            </a:r>
            <a:r>
              <a:rPr lang="en-US" dirty="0" err="1"/>
              <a:t>belakang</a:t>
            </a:r>
            <a:r>
              <a:rPr lang="en-US" dirty="0"/>
              <a:t> (b),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yang </a:t>
            </a:r>
            <a:r>
              <a:rPr lang="en-US" dirty="0" err="1"/>
              <a:t>mungkin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</a:t>
            </a:r>
            <a:r>
              <a:rPr lang="en-US" dirty="0" err="1"/>
              <a:t>munculnya</a:t>
            </a:r>
            <a:r>
              <a:rPr lang="en-US" dirty="0"/>
              <a:t> </a:t>
            </a:r>
            <a:r>
              <a:rPr lang="en-US" dirty="0" err="1"/>
              <a:t>muka</a:t>
            </a:r>
            <a:r>
              <a:rPr lang="en-US" dirty="0"/>
              <a:t> m yang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sebut</a:t>
            </a:r>
            <a:r>
              <a:rPr lang="en-US" dirty="0"/>
              <a:t> E={m}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</a:t>
            </a:r>
            <a:r>
              <a:rPr lang="en-US" dirty="0" err="1"/>
              <a:t>munculnya</a:t>
            </a:r>
            <a:r>
              <a:rPr lang="en-US" dirty="0"/>
              <a:t> </a:t>
            </a:r>
            <a:r>
              <a:rPr lang="en-US" dirty="0" err="1"/>
              <a:t>belakang</a:t>
            </a:r>
            <a:r>
              <a:rPr lang="en-US" dirty="0"/>
              <a:t> yang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sebut</a:t>
            </a:r>
            <a:r>
              <a:rPr lang="en-US" dirty="0"/>
              <a:t> {b}.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uang</a:t>
            </a:r>
            <a:r>
              <a:rPr lang="en-US" dirty="0"/>
              <a:t> </a:t>
            </a:r>
            <a:r>
              <a:rPr lang="en-US" dirty="0" err="1"/>
              <a:t>logam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2 </a:t>
            </a:r>
            <a:r>
              <a:rPr lang="en-US" dirty="0" err="1"/>
              <a:t>sisi</a:t>
            </a:r>
            <a:r>
              <a:rPr lang="en-US" dirty="0"/>
              <a:t> (n=2)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kesempatan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,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munculnya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E={m} </a:t>
            </a:r>
            <a:r>
              <a:rPr lang="en-US" dirty="0" err="1"/>
              <a:t>atau</a:t>
            </a:r>
            <a:r>
              <a:rPr lang="en-US" dirty="0"/>
              <a:t> E{b} </a:t>
            </a:r>
            <a:r>
              <a:rPr lang="en-US" dirty="0" err="1"/>
              <a:t>adalah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P(E) = P(m)	= m/n			P(E) = P(b)	= m/n</a:t>
            </a:r>
          </a:p>
          <a:p>
            <a:pPr marL="0" indent="0">
              <a:buNone/>
            </a:pPr>
            <a:r>
              <a:rPr lang="en-US" dirty="0"/>
              <a:t>			= 1/2					= 1/2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306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668740"/>
            <a:ext cx="9403742" cy="55796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2.</a:t>
            </a:r>
            <a:r>
              <a:rPr lang="en-US" dirty="0"/>
              <a:t>	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Relatif</a:t>
            </a:r>
            <a:r>
              <a:rPr lang="en-US" dirty="0"/>
              <a:t> </a:t>
            </a:r>
          </a:p>
          <a:p>
            <a:pPr marL="0" indent="0" algn="just">
              <a:buNone/>
            </a:pPr>
            <a:r>
              <a:rPr lang="en-US" dirty="0" err="1"/>
              <a:t>Perumusan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klasik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kelemahan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menuntut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kesempatan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. </a:t>
            </a:r>
            <a:r>
              <a:rPr lang="en-US" dirty="0" err="1"/>
              <a:t>Pengertian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mengaburkan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. </a:t>
            </a:r>
            <a:r>
              <a:rPr lang="en-US" dirty="0" err="1"/>
              <a:t>Sehubungan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statistic,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pendekatan</a:t>
            </a:r>
            <a:r>
              <a:rPr lang="en-US" dirty="0"/>
              <a:t> </a:t>
            </a:r>
            <a:r>
              <a:rPr lang="en-US" dirty="0" err="1"/>
              <a:t>empiris</a:t>
            </a:r>
            <a:r>
              <a:rPr lang="en-US" dirty="0"/>
              <a:t>.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empiris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</a:t>
            </a:r>
            <a:r>
              <a:rPr lang="en-US" dirty="0" err="1"/>
              <a:t>dirumuskan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memakai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relatif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terjadinya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pengamatan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n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. </a:t>
            </a:r>
            <a:r>
              <a:rPr lang="en-US" dirty="0" err="1"/>
              <a:t>Bila</a:t>
            </a:r>
            <a:r>
              <a:rPr lang="en-US" dirty="0"/>
              <a:t> n </a:t>
            </a:r>
            <a:r>
              <a:rPr lang="en-US" dirty="0" err="1"/>
              <a:t>bertambah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terhingga</a:t>
            </a:r>
            <a:r>
              <a:rPr lang="en-US" dirty="0"/>
              <a:t> (n -&gt; ∞),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E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limit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relatif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E </a:t>
            </a:r>
            <a:r>
              <a:rPr lang="en-US" dirty="0" err="1"/>
              <a:t>tersebut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demikian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 smtClean="0"/>
              <a:t>kejadian</a:t>
            </a:r>
            <a:r>
              <a:rPr lang="en-US" dirty="0" smtClean="0"/>
              <a:t> </a:t>
            </a:r>
            <a:r>
              <a:rPr lang="en-US" dirty="0"/>
              <a:t>E </a:t>
            </a:r>
            <a:r>
              <a:rPr lang="en-US" dirty="0" err="1"/>
              <a:t>berlangsung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f kali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keseluruhan</a:t>
            </a:r>
            <a:r>
              <a:rPr lang="en-US" dirty="0"/>
              <a:t> </a:t>
            </a:r>
            <a:r>
              <a:rPr lang="en-US" dirty="0" err="1"/>
              <a:t>pengamatan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n, </a:t>
            </a:r>
            <a:r>
              <a:rPr lang="en-US" dirty="0" err="1"/>
              <a:t>dimana</a:t>
            </a:r>
            <a:r>
              <a:rPr lang="en-US" dirty="0"/>
              <a:t> n </a:t>
            </a:r>
            <a:r>
              <a:rPr lang="en-US" dirty="0" err="1"/>
              <a:t>mendekati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berhingga</a:t>
            </a:r>
            <a:r>
              <a:rPr lang="en-US" dirty="0"/>
              <a:t>,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E </a:t>
            </a:r>
            <a:r>
              <a:rPr lang="en-US" dirty="0" err="1"/>
              <a:t>dirumuskan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err="1"/>
              <a:t>Rumus</a:t>
            </a:r>
            <a:r>
              <a:rPr lang="en-US" dirty="0"/>
              <a:t> 1.2</a:t>
            </a:r>
          </a:p>
          <a:p>
            <a:pPr marL="0" indent="0" algn="just">
              <a:buNone/>
            </a:pPr>
            <a:r>
              <a:rPr lang="en-US" dirty="0"/>
              <a:t>		P(E)	= </a:t>
            </a:r>
            <a:r>
              <a:rPr lang="en-US" dirty="0" err="1"/>
              <a:t>lim</a:t>
            </a:r>
            <a:r>
              <a:rPr lang="en-US" dirty="0"/>
              <a:t>  f / n</a:t>
            </a:r>
          </a:p>
          <a:p>
            <a:pPr marL="0" indent="0" algn="just">
              <a:buNone/>
            </a:pPr>
            <a:r>
              <a:rPr lang="en-US" dirty="0"/>
              <a:t>		 	   n -&gt; ∞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27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99" y="-120488"/>
            <a:ext cx="9404723" cy="1400530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910" y="477672"/>
            <a:ext cx="11109278" cy="59777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 err="1"/>
              <a:t>Walaupun</a:t>
            </a:r>
            <a:r>
              <a:rPr lang="en-US" sz="2800" dirty="0"/>
              <a:t> </a:t>
            </a:r>
            <a:r>
              <a:rPr lang="en-US" sz="2800" dirty="0" err="1"/>
              <a:t>mudah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berguna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praktek</a:t>
            </a:r>
            <a:r>
              <a:rPr lang="en-US" sz="2800" dirty="0"/>
              <a:t>, </a:t>
            </a:r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dirty="0" err="1"/>
              <a:t>matematis</a:t>
            </a:r>
            <a:r>
              <a:rPr lang="en-US" sz="2800" dirty="0"/>
              <a:t> </a:t>
            </a:r>
            <a:r>
              <a:rPr lang="en-US" sz="2800" dirty="0" err="1"/>
              <a:t>perumusan</a:t>
            </a:r>
            <a:r>
              <a:rPr lang="en-US" sz="2800" dirty="0"/>
              <a:t> </a:t>
            </a:r>
            <a:r>
              <a:rPr lang="en-US" sz="2800" dirty="0" err="1"/>
              <a:t>konsep</a:t>
            </a:r>
            <a:r>
              <a:rPr lang="en-US" sz="2800" dirty="0"/>
              <a:t> </a:t>
            </a:r>
            <a:r>
              <a:rPr lang="en-US" sz="2800" dirty="0" err="1"/>
              <a:t>probabilitas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frekuensi</a:t>
            </a:r>
            <a:r>
              <a:rPr lang="en-US" sz="2800" dirty="0"/>
              <a:t> relative </a:t>
            </a:r>
            <a:r>
              <a:rPr lang="en-US" sz="2800" dirty="0" err="1"/>
              <a:t>ini</a:t>
            </a:r>
            <a:r>
              <a:rPr lang="en-US" sz="2800" dirty="0"/>
              <a:t> juga </a:t>
            </a:r>
            <a:r>
              <a:rPr lang="en-US" sz="2800" dirty="0" err="1"/>
              <a:t>mempunyai</a:t>
            </a:r>
            <a:r>
              <a:rPr lang="en-US" sz="2800" dirty="0"/>
              <a:t> </a:t>
            </a:r>
            <a:r>
              <a:rPr lang="en-US" sz="2800" dirty="0" err="1"/>
              <a:t>kelemahan</a:t>
            </a:r>
            <a:r>
              <a:rPr lang="en-US" sz="2800" dirty="0"/>
              <a:t> </a:t>
            </a:r>
            <a:r>
              <a:rPr lang="en-US" sz="2800" dirty="0" err="1"/>
              <a:t>karena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nilai</a:t>
            </a:r>
            <a:r>
              <a:rPr lang="en-US" sz="2800" dirty="0"/>
              <a:t> limit yang </a:t>
            </a:r>
            <a:r>
              <a:rPr lang="en-US" sz="2800" dirty="0" err="1"/>
              <a:t>benar-benar</a:t>
            </a:r>
            <a:r>
              <a:rPr lang="en-US" sz="2800" dirty="0"/>
              <a:t> </a:t>
            </a:r>
            <a:r>
              <a:rPr lang="en-US" sz="2800" dirty="0" err="1"/>
              <a:t>mungkin</a:t>
            </a:r>
            <a:r>
              <a:rPr lang="en-US" sz="2800" dirty="0"/>
              <a:t> </a:t>
            </a:r>
            <a:r>
              <a:rPr lang="en-US" sz="2800" dirty="0" err="1"/>
              <a:t>sebenarnya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. </a:t>
            </a:r>
            <a:r>
              <a:rPr lang="en-US" sz="2800" dirty="0" err="1"/>
              <a:t>Oleh</a:t>
            </a:r>
            <a:r>
              <a:rPr lang="en-US" sz="2800" dirty="0"/>
              <a:t> </a:t>
            </a:r>
            <a:r>
              <a:rPr lang="en-US" sz="2800" dirty="0" err="1"/>
              <a:t>karena</a:t>
            </a:r>
            <a:r>
              <a:rPr lang="en-US" sz="2800" dirty="0"/>
              <a:t> </a:t>
            </a:r>
            <a:r>
              <a:rPr lang="en-US" sz="2800" dirty="0" err="1"/>
              <a:t>itu</a:t>
            </a:r>
            <a:r>
              <a:rPr lang="en-US" sz="2800" dirty="0"/>
              <a:t>, </a:t>
            </a:r>
            <a:r>
              <a:rPr lang="en-US" sz="2800" dirty="0" err="1"/>
              <a:t>konsep</a:t>
            </a:r>
            <a:r>
              <a:rPr lang="en-US" sz="2800" dirty="0"/>
              <a:t> </a:t>
            </a:r>
            <a:r>
              <a:rPr lang="en-US" sz="2800" dirty="0" err="1"/>
              <a:t>probabilitas</a:t>
            </a:r>
            <a:r>
              <a:rPr lang="en-US" sz="2800" dirty="0"/>
              <a:t> modern </a:t>
            </a:r>
            <a:r>
              <a:rPr lang="en-US" sz="2800" dirty="0" err="1"/>
              <a:t>dikembangkan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memakai</a:t>
            </a:r>
            <a:r>
              <a:rPr lang="en-US" sz="2800" dirty="0"/>
              <a:t> </a:t>
            </a:r>
            <a:r>
              <a:rPr lang="en-US" sz="2800" dirty="0" err="1"/>
              <a:t>pendekatan</a:t>
            </a:r>
            <a:r>
              <a:rPr lang="en-US" sz="2800" dirty="0"/>
              <a:t> </a:t>
            </a:r>
            <a:r>
              <a:rPr lang="en-US" sz="2800" dirty="0" err="1"/>
              <a:t>aksiomatis</a:t>
            </a:r>
            <a:r>
              <a:rPr lang="en-US" sz="2800" dirty="0"/>
              <a:t>, </a:t>
            </a:r>
            <a:r>
              <a:rPr lang="en-US" sz="2800" dirty="0" err="1"/>
              <a:t>yaitu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kebenaran</a:t>
            </a:r>
            <a:r>
              <a:rPr lang="en-US" sz="2800" dirty="0"/>
              <a:t> yang </a:t>
            </a:r>
            <a:r>
              <a:rPr lang="en-US" sz="2800" dirty="0" err="1"/>
              <a:t>diterima</a:t>
            </a:r>
            <a:r>
              <a:rPr lang="en-US" sz="2800" dirty="0"/>
              <a:t> </a:t>
            </a:r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dirty="0" err="1"/>
              <a:t>apa</a:t>
            </a:r>
            <a:r>
              <a:rPr lang="en-US" sz="2800" dirty="0"/>
              <a:t> </a:t>
            </a:r>
            <a:r>
              <a:rPr lang="en-US" sz="2800" dirty="0" err="1"/>
              <a:t>adanya</a:t>
            </a:r>
            <a:r>
              <a:rPr lang="en-US" sz="2800" dirty="0"/>
              <a:t> </a:t>
            </a:r>
            <a:r>
              <a:rPr lang="en-US" sz="2800" dirty="0" err="1"/>
              <a:t>tanpa</a:t>
            </a:r>
            <a:r>
              <a:rPr lang="en-US" sz="2800" dirty="0"/>
              <a:t> </a:t>
            </a:r>
            <a:r>
              <a:rPr lang="en-US" sz="2800" dirty="0" err="1"/>
              <a:t>memerlukan</a:t>
            </a:r>
            <a:r>
              <a:rPr lang="en-US" sz="2800" dirty="0"/>
              <a:t> </a:t>
            </a:r>
            <a:r>
              <a:rPr lang="en-US" sz="2800" dirty="0" err="1"/>
              <a:t>bukti</a:t>
            </a:r>
            <a:r>
              <a:rPr lang="en-US" sz="2800" dirty="0"/>
              <a:t> </a:t>
            </a:r>
            <a:r>
              <a:rPr lang="en-US" sz="2800" dirty="0" err="1"/>
              <a:t>matematis</a:t>
            </a:r>
            <a:r>
              <a:rPr lang="en-US" sz="2800" dirty="0"/>
              <a:t>, </a:t>
            </a:r>
            <a:r>
              <a:rPr lang="en-US" sz="2800" dirty="0" err="1"/>
              <a:t>dimana</a:t>
            </a:r>
            <a:r>
              <a:rPr lang="en-US" sz="2800" dirty="0"/>
              <a:t> </a:t>
            </a:r>
            <a:r>
              <a:rPr lang="en-US" sz="2800" dirty="0" err="1"/>
              <a:t>konsep</a:t>
            </a:r>
            <a:r>
              <a:rPr lang="en-US" sz="2800" dirty="0"/>
              <a:t> </a:t>
            </a:r>
            <a:r>
              <a:rPr lang="en-US" sz="2800" dirty="0" err="1"/>
              <a:t>probabilitas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didefinisikan</a:t>
            </a:r>
            <a:r>
              <a:rPr lang="en-US" sz="2800" dirty="0"/>
              <a:t>, </a:t>
            </a:r>
            <a:r>
              <a:rPr lang="en-US" sz="2800" dirty="0" err="1"/>
              <a:t>seperti</a:t>
            </a:r>
            <a:r>
              <a:rPr lang="en-US" sz="2800" dirty="0"/>
              <a:t> </a:t>
            </a:r>
            <a:r>
              <a:rPr lang="en-US" sz="2800" dirty="0" err="1"/>
              <a:t>konsep</a:t>
            </a:r>
            <a:r>
              <a:rPr lang="en-US" sz="2800" dirty="0"/>
              <a:t> </a:t>
            </a:r>
            <a:r>
              <a:rPr lang="en-US" sz="2800" dirty="0" err="1"/>
              <a:t>titik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konsep</a:t>
            </a:r>
            <a:r>
              <a:rPr lang="en-US" sz="2800" dirty="0"/>
              <a:t> </a:t>
            </a:r>
            <a:r>
              <a:rPr lang="en-US" sz="2800" dirty="0" err="1"/>
              <a:t>garis</a:t>
            </a:r>
            <a:r>
              <a:rPr lang="en-US" sz="2800" dirty="0"/>
              <a:t> yang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didefinisikan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ilmu</a:t>
            </a:r>
            <a:r>
              <a:rPr lang="en-US" sz="2800" dirty="0"/>
              <a:t> </a:t>
            </a:r>
            <a:r>
              <a:rPr lang="en-US" sz="2800" dirty="0" err="1"/>
              <a:t>geometri</a:t>
            </a:r>
            <a:r>
              <a:rPr lang="en-US" sz="2800" dirty="0"/>
              <a:t> (</a:t>
            </a:r>
            <a:r>
              <a:rPr lang="en-US" sz="2800" dirty="0" err="1"/>
              <a:t>Boediono</a:t>
            </a:r>
            <a:r>
              <a:rPr lang="en-US" sz="2800" dirty="0"/>
              <a:t>, 2006).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58335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7104" y="750628"/>
            <a:ext cx="9162749" cy="5497772"/>
          </a:xfrm>
        </p:spPr>
        <p:txBody>
          <a:bodyPr>
            <a:normAutofit/>
          </a:bodyPr>
          <a:lstStyle/>
          <a:p>
            <a:r>
              <a:rPr lang="en-US" dirty="0" err="1"/>
              <a:t>Contoh</a:t>
            </a:r>
            <a:r>
              <a:rPr lang="en-US" dirty="0"/>
              <a:t> :</a:t>
            </a:r>
          </a:p>
          <a:p>
            <a:r>
              <a:rPr lang="en-US" dirty="0"/>
              <a:t>1.	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statistic,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pelemparan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dadu</a:t>
            </a:r>
            <a:r>
              <a:rPr lang="en-US" dirty="0"/>
              <a:t> yang </a:t>
            </a:r>
            <a:r>
              <a:rPr lang="en-US" dirty="0" err="1"/>
              <a:t>diulang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1000 kali (n=1000),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munculnya</a:t>
            </a:r>
            <a:r>
              <a:rPr lang="en-US" dirty="0"/>
              <a:t> </a:t>
            </a:r>
            <a:r>
              <a:rPr lang="en-US" dirty="0" err="1"/>
              <a:t>muka</a:t>
            </a:r>
            <a:r>
              <a:rPr lang="en-US" dirty="0"/>
              <a:t> </a:t>
            </a:r>
            <a:r>
              <a:rPr lang="en-US" dirty="0" err="1"/>
              <a:t>dadu</a:t>
            </a:r>
            <a:r>
              <a:rPr lang="en-US" dirty="0"/>
              <a:t> X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Muka</a:t>
            </a:r>
            <a:r>
              <a:rPr lang="en-US" dirty="0" smtClean="0"/>
              <a:t> </a:t>
            </a:r>
            <a:r>
              <a:rPr lang="en-US" dirty="0" err="1"/>
              <a:t>dadu</a:t>
            </a:r>
            <a:r>
              <a:rPr lang="en-US" dirty="0"/>
              <a:t> (X)	1	2	3	4	5	6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Frekuensi</a:t>
            </a:r>
            <a:r>
              <a:rPr lang="en-US" dirty="0" smtClean="0"/>
              <a:t> </a:t>
            </a:r>
            <a:r>
              <a:rPr lang="en-US" dirty="0"/>
              <a:t>(f</a:t>
            </a:r>
            <a:r>
              <a:rPr lang="en-US" dirty="0" smtClean="0"/>
              <a:t>)  </a:t>
            </a:r>
            <a:r>
              <a:rPr lang="en-US" dirty="0"/>
              <a:t>	164	165	166	167	168	169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Bila</a:t>
            </a:r>
            <a:r>
              <a:rPr lang="en-US" dirty="0"/>
              <a:t> E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</a:t>
            </a:r>
            <a:r>
              <a:rPr lang="en-US" dirty="0" err="1"/>
              <a:t>munculnya</a:t>
            </a:r>
            <a:r>
              <a:rPr lang="en-US" dirty="0"/>
              <a:t> </a:t>
            </a:r>
            <a:r>
              <a:rPr lang="en-US" dirty="0" err="1"/>
              <a:t>muka-muka</a:t>
            </a:r>
            <a:r>
              <a:rPr lang="en-US" dirty="0"/>
              <a:t> </a:t>
            </a:r>
            <a:r>
              <a:rPr lang="en-US" dirty="0" err="1"/>
              <a:t>dadu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masing-masing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munculnya</a:t>
            </a:r>
            <a:r>
              <a:rPr lang="en-US" dirty="0"/>
              <a:t> </a:t>
            </a:r>
            <a:r>
              <a:rPr lang="en-US" dirty="0" err="1"/>
              <a:t>muka</a:t>
            </a:r>
            <a:r>
              <a:rPr lang="en-US" dirty="0"/>
              <a:t> </a:t>
            </a:r>
            <a:r>
              <a:rPr lang="en-US" dirty="0" err="1"/>
              <a:t>dadu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adalah</a:t>
            </a:r>
            <a:endParaRPr lang="en-US" dirty="0"/>
          </a:p>
          <a:p>
            <a:r>
              <a:rPr lang="en-US" dirty="0"/>
              <a:t>P(E) = P(1) = 164/1000	P(E) = P(2) = 165/1000	P(E) = P(3) = 166/1000, </a:t>
            </a:r>
            <a:r>
              <a:rPr lang="en-US" dirty="0" err="1"/>
              <a:t>dst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929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4000" dirty="0" smtClean="0"/>
              <a:t>TERIMA KASIH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71098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84</TotalTime>
  <Words>394</Words>
  <Application>Microsoft Office PowerPoint</Application>
  <PresentationFormat>Widescreen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Times New Roman</vt:lpstr>
      <vt:lpstr>Wingdings 3</vt:lpstr>
      <vt:lpstr>Ion</vt:lpstr>
      <vt:lpstr>BAB 1 KONSEP STATISTIKA DAN PROBABILITAS</vt:lpstr>
      <vt:lpstr>Capaian Pembelajaran :</vt:lpstr>
      <vt:lpstr>A. Pengertian Statistika</vt:lpstr>
      <vt:lpstr>B. Jenis Statistika</vt:lpstr>
      <vt:lpstr> </vt:lpstr>
      <vt:lpstr>B. Jenis Statistika</vt:lpstr>
      <vt:lpstr>C. Penerapan Statistika</vt:lpstr>
      <vt:lpstr>D. Data Statistika</vt:lpstr>
      <vt:lpstr>E. Pengertian Probabilitas</vt:lpstr>
      <vt:lpstr>E. Perumusan Probabilitas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STATISTIKA DAN PROBABILITAS</dc:title>
  <dc:creator>Windows User</dc:creator>
  <cp:lastModifiedBy>Windows User</cp:lastModifiedBy>
  <cp:revision>11</cp:revision>
  <dcterms:created xsi:type="dcterms:W3CDTF">2022-09-16T02:10:10Z</dcterms:created>
  <dcterms:modified xsi:type="dcterms:W3CDTF">2023-09-13T21:00:32Z</dcterms:modified>
</cp:coreProperties>
</file>