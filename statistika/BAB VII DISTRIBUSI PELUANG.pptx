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4" autoAdjust="0"/>
    <p:restoredTop sz="94660"/>
  </p:normalViewPr>
  <p:slideViewPr>
    <p:cSldViewPr snapToGrid="0">
      <p:cViewPr varScale="1">
        <p:scale>
          <a:sx n="69" d="100"/>
          <a:sy n="69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B7D-8631-4E6D-B870-5761F061B2A1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6386-907B-445C-9400-B3B42EC9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25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B7D-8631-4E6D-B870-5761F061B2A1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6386-907B-445C-9400-B3B42EC9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62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B7D-8631-4E6D-B870-5761F061B2A1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6386-907B-445C-9400-B3B42EC9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87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B7D-8631-4E6D-B870-5761F061B2A1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6386-907B-445C-9400-B3B42EC9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66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B7D-8631-4E6D-B870-5761F061B2A1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6386-907B-445C-9400-B3B42EC9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47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B7D-8631-4E6D-B870-5761F061B2A1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6386-907B-445C-9400-B3B42EC9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41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B7D-8631-4E6D-B870-5761F061B2A1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6386-907B-445C-9400-B3B42EC9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84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B7D-8631-4E6D-B870-5761F061B2A1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6386-907B-445C-9400-B3B42EC9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83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B7D-8631-4E6D-B870-5761F061B2A1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6386-907B-445C-9400-B3B42EC9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355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B7D-8631-4E6D-B870-5761F061B2A1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6386-907B-445C-9400-B3B42EC9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638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B7D-8631-4E6D-B870-5761F061B2A1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6386-907B-445C-9400-B3B42EC9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9345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10/28/2022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73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10/28/2022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8219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10/28/2022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3909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2049780"/>
            <a:ext cx="546100" cy="252476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3900" y="1292859"/>
            <a:ext cx="543560" cy="412242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37460" y="787400"/>
            <a:ext cx="546100" cy="513334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83560" y="1292859"/>
            <a:ext cx="543560" cy="412242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27120" y="2049780"/>
            <a:ext cx="543559" cy="252476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70679" y="1292859"/>
            <a:ext cx="546100" cy="412242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16779" y="787400"/>
            <a:ext cx="543560" cy="513334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60340" y="1292859"/>
            <a:ext cx="543560" cy="412242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803900" y="2049780"/>
            <a:ext cx="546100" cy="252476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350000" y="1376680"/>
            <a:ext cx="543559" cy="412242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893559" y="787400"/>
            <a:ext cx="546100" cy="513334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439659" y="1376680"/>
            <a:ext cx="543560" cy="412242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983219" y="2133600"/>
            <a:ext cx="543559" cy="2524760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526780" y="1376680"/>
            <a:ext cx="546100" cy="4122420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072880" y="787400"/>
            <a:ext cx="543560" cy="5133340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616440" y="1376680"/>
            <a:ext cx="543559" cy="4122420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160000" y="2133600"/>
            <a:ext cx="546100" cy="2524760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039619" y="2138680"/>
            <a:ext cx="8067294" cy="26164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10/28/2022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4976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10/28/2022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145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51B7D-8631-4E6D-B870-5761F061B2A1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F6386-907B-445C-9400-B3B42EC9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7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143510" y="168910"/>
            <a:ext cx="11887200" cy="6459220"/>
          </a:xfrm>
          <a:custGeom>
            <a:avLst/>
            <a:gdLst/>
            <a:ahLst/>
            <a:cxnLst/>
            <a:rect l="l" t="t" r="r" b="b"/>
            <a:pathLst>
              <a:path w="11887200" h="6459220">
                <a:moveTo>
                  <a:pt x="11887200" y="0"/>
                </a:moveTo>
                <a:lnTo>
                  <a:pt x="0" y="0"/>
                </a:lnTo>
                <a:lnTo>
                  <a:pt x="0" y="6459220"/>
                </a:lnTo>
                <a:lnTo>
                  <a:pt x="11887200" y="6459220"/>
                </a:lnTo>
                <a:lnTo>
                  <a:pt x="11887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143510" y="168910"/>
            <a:ext cx="11887200" cy="6459220"/>
          </a:xfrm>
          <a:custGeom>
            <a:avLst/>
            <a:gdLst/>
            <a:ahLst/>
            <a:cxnLst/>
            <a:rect l="l" t="t" r="r" b="b"/>
            <a:pathLst>
              <a:path w="11887200" h="6459220">
                <a:moveTo>
                  <a:pt x="0" y="6459220"/>
                </a:moveTo>
                <a:lnTo>
                  <a:pt x="11887200" y="6459220"/>
                </a:lnTo>
                <a:lnTo>
                  <a:pt x="11887200" y="0"/>
                </a:lnTo>
                <a:lnTo>
                  <a:pt x="0" y="0"/>
                </a:lnTo>
                <a:lnTo>
                  <a:pt x="0" y="645922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53383" y="352171"/>
            <a:ext cx="5285232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4527" y="3411947"/>
            <a:ext cx="11191240" cy="137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10/28/2022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34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BAB VII </a:t>
            </a:r>
            <a:r>
              <a:rPr lang="en-US" dirty="0" smtClean="0"/>
              <a:t>DISTRIBUSI </a:t>
            </a:r>
            <a:r>
              <a:rPr lang="en-US" dirty="0" smtClean="0"/>
              <a:t>PELUANG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Ir. </a:t>
            </a:r>
            <a:r>
              <a:rPr lang="en-US" dirty="0" err="1" smtClean="0"/>
              <a:t>Masruki</a:t>
            </a:r>
            <a:r>
              <a:rPr lang="en-US" dirty="0" smtClean="0"/>
              <a:t> </a:t>
            </a:r>
            <a:r>
              <a:rPr lang="en-US" dirty="0" err="1" smtClean="0"/>
              <a:t>Kabib</a:t>
            </a:r>
            <a:r>
              <a:rPr lang="en-US" dirty="0" smtClean="0"/>
              <a:t> , MT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365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CAPAIAN PEMBELAJARAN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dirty="0" err="1" smtClean="0"/>
              <a:t>Mahasiswa</a:t>
            </a:r>
            <a:r>
              <a:rPr lang="en-US" dirty="0" smtClean="0"/>
              <a:t> </a:t>
            </a:r>
            <a:r>
              <a:rPr lang="en-US" dirty="0" err="1" smtClean="0"/>
              <a:t>memahami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menjelaskan</a:t>
            </a:r>
            <a:r>
              <a:rPr lang="en-US" dirty="0" smtClean="0"/>
              <a:t> </a:t>
            </a:r>
            <a:r>
              <a:rPr lang="en-US" dirty="0" err="1" smtClean="0"/>
              <a:t>berbagai</a:t>
            </a:r>
            <a:r>
              <a:rPr lang="en-US" dirty="0" smtClean="0"/>
              <a:t> </a:t>
            </a:r>
            <a:r>
              <a:rPr lang="en-US" dirty="0" err="1" smtClean="0"/>
              <a:t>macam</a:t>
            </a:r>
            <a:r>
              <a:rPr lang="en-US" dirty="0" smtClean="0"/>
              <a:t> </a:t>
            </a:r>
            <a:r>
              <a:rPr lang="en-US" dirty="0" err="1" smtClean="0"/>
              <a:t>distribusi</a:t>
            </a:r>
            <a:r>
              <a:rPr lang="en-US" dirty="0" smtClean="0"/>
              <a:t> </a:t>
            </a:r>
            <a:r>
              <a:rPr lang="en-US" dirty="0" err="1" smtClean="0"/>
              <a:t>peluang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668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4720" y="167639"/>
            <a:ext cx="5173980" cy="9169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25596" y="352171"/>
            <a:ext cx="48272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0" dirty="0"/>
              <a:t>DISTRIBUSI</a:t>
            </a:r>
            <a:r>
              <a:rPr spc="20" dirty="0"/>
              <a:t> </a:t>
            </a:r>
            <a:r>
              <a:rPr spc="185" dirty="0"/>
              <a:t>PELUANG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572759" y="1115060"/>
            <a:ext cx="980440" cy="299720"/>
            <a:chOff x="5572759" y="1115060"/>
            <a:chExt cx="980440" cy="299720"/>
          </a:xfrm>
        </p:grpSpPr>
        <p:sp>
          <p:nvSpPr>
            <p:cNvPr id="5" name="object 5"/>
            <p:cNvSpPr/>
            <p:nvPr/>
          </p:nvSpPr>
          <p:spPr>
            <a:xfrm>
              <a:off x="5579109" y="1121410"/>
              <a:ext cx="967740" cy="287020"/>
            </a:xfrm>
            <a:custGeom>
              <a:avLst/>
              <a:gdLst/>
              <a:ahLst/>
              <a:cxnLst/>
              <a:rect l="l" t="t" r="r" b="b"/>
              <a:pathLst>
                <a:path w="967740" h="287019">
                  <a:moveTo>
                    <a:pt x="725804" y="0"/>
                  </a:moveTo>
                  <a:lnTo>
                    <a:pt x="241935" y="0"/>
                  </a:lnTo>
                  <a:lnTo>
                    <a:pt x="241935" y="143510"/>
                  </a:lnTo>
                  <a:lnTo>
                    <a:pt x="0" y="143510"/>
                  </a:lnTo>
                  <a:lnTo>
                    <a:pt x="483869" y="287019"/>
                  </a:lnTo>
                  <a:lnTo>
                    <a:pt x="967739" y="143510"/>
                  </a:lnTo>
                  <a:lnTo>
                    <a:pt x="725804" y="143510"/>
                  </a:lnTo>
                  <a:lnTo>
                    <a:pt x="725804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579109" y="1121410"/>
              <a:ext cx="967740" cy="287020"/>
            </a:xfrm>
            <a:custGeom>
              <a:avLst/>
              <a:gdLst/>
              <a:ahLst/>
              <a:cxnLst/>
              <a:rect l="l" t="t" r="r" b="b"/>
              <a:pathLst>
                <a:path w="967740" h="287019">
                  <a:moveTo>
                    <a:pt x="0" y="143510"/>
                  </a:moveTo>
                  <a:lnTo>
                    <a:pt x="241935" y="143510"/>
                  </a:lnTo>
                  <a:lnTo>
                    <a:pt x="241935" y="0"/>
                  </a:lnTo>
                  <a:lnTo>
                    <a:pt x="725804" y="0"/>
                  </a:lnTo>
                  <a:lnTo>
                    <a:pt x="725804" y="143510"/>
                  </a:lnTo>
                  <a:lnTo>
                    <a:pt x="967739" y="143510"/>
                  </a:lnTo>
                  <a:lnTo>
                    <a:pt x="483869" y="287019"/>
                  </a:lnTo>
                  <a:lnTo>
                    <a:pt x="0" y="143510"/>
                  </a:lnTo>
                  <a:close/>
                </a:path>
              </a:pathLst>
            </a:custGeom>
            <a:ln w="12700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4939" y="1447800"/>
            <a:ext cx="1174496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538235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2347595" marR="121920" indent="-2212975">
              <a:spcBef>
                <a:spcPts val="310"/>
              </a:spcBef>
            </a:pP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Peristiwa</a:t>
            </a:r>
            <a:r>
              <a:rPr spc="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atau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 kejadian</a:t>
            </a:r>
            <a:r>
              <a:rPr spc="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adalah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peluang</a:t>
            </a:r>
            <a:r>
              <a:rPr spc="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,munculnya</a:t>
            </a:r>
            <a:r>
              <a:rPr spc="7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suatu peristiwa</a:t>
            </a:r>
            <a:r>
              <a:rPr spc="5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terjadi</a:t>
            </a:r>
            <a:r>
              <a:rPr spc="-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atau</a:t>
            </a:r>
            <a:r>
              <a:rPr spc="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tidak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terjadi.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Jika</a:t>
            </a:r>
            <a:r>
              <a:rPr spc="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kejadian</a:t>
            </a:r>
            <a:r>
              <a:rPr spc="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itu</a:t>
            </a:r>
            <a:r>
              <a:rPr spc="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berlaku</a:t>
            </a:r>
            <a:r>
              <a:rPr spc="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berkali- </a:t>
            </a:r>
            <a:r>
              <a:rPr spc="-43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kali</a:t>
            </a:r>
            <a:r>
              <a:rPr spc="3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atau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 banyak</a:t>
            </a:r>
            <a:r>
              <a:rPr spc="6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sekali,</a:t>
            </a:r>
            <a:r>
              <a:rPr spc="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maka</a:t>
            </a:r>
            <a:r>
              <a:rPr spc="3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peluang</a:t>
            </a:r>
            <a:r>
              <a:rPr spc="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dapat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 disusun</a:t>
            </a:r>
            <a:r>
              <a:rPr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dalam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bentuk </a:t>
            </a:r>
            <a:r>
              <a:rPr spc="-5" dirty="0">
                <a:solidFill>
                  <a:srgbClr val="FF0000"/>
                </a:solidFill>
                <a:latin typeface="Times New Roman"/>
                <a:cs typeface="Times New Roman"/>
              </a:rPr>
              <a:t>distribusi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endParaRPr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4007" y="2229802"/>
            <a:ext cx="6376670" cy="1667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2140"/>
              </a:lnSpc>
              <a:spcBef>
                <a:spcPts val="100"/>
              </a:spcBef>
            </a:pPr>
            <a:r>
              <a:rPr spc="-5" dirty="0">
                <a:solidFill>
                  <a:srgbClr val="FF0000"/>
                </a:solidFill>
                <a:latin typeface="Impact"/>
                <a:cs typeface="Impact"/>
              </a:rPr>
              <a:t>Contoh</a:t>
            </a:r>
            <a:r>
              <a:rPr spc="-25" dirty="0">
                <a:solidFill>
                  <a:srgbClr val="FF0000"/>
                </a:solidFill>
                <a:latin typeface="Impact"/>
                <a:cs typeface="Impact"/>
              </a:rPr>
              <a:t> </a:t>
            </a:r>
            <a:r>
              <a:rPr spc="-10" dirty="0">
                <a:solidFill>
                  <a:srgbClr val="FF0000"/>
                </a:solidFill>
                <a:latin typeface="Impact"/>
                <a:cs typeface="Impact"/>
              </a:rPr>
              <a:t>Peristiwa:</a:t>
            </a:r>
            <a:endParaRPr>
              <a:solidFill>
                <a:prstClr val="black"/>
              </a:solidFill>
              <a:latin typeface="Impact"/>
              <a:cs typeface="Impact"/>
            </a:endParaRPr>
          </a:p>
          <a:p>
            <a:pPr marL="12700" marR="5715" algn="just">
              <a:lnSpc>
                <a:spcPts val="2160"/>
              </a:lnSpc>
              <a:spcBef>
                <a:spcPts val="55"/>
              </a:spcBef>
            </a:pP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Seorang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siswa mengerjakan satu tes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butir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soal pilihan Benar-Salah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(B-S)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yang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 diberikan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 oleh</a:t>
            </a:r>
            <a:r>
              <a:rPr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gurunya,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maka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peluang</a:t>
            </a:r>
            <a:r>
              <a:rPr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(P)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menjawab </a:t>
            </a:r>
            <a:r>
              <a:rPr spc="-43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benar</a:t>
            </a:r>
            <a:r>
              <a:rPr spc="55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(B)</a:t>
            </a:r>
            <a:r>
              <a:rPr spc="55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=</a:t>
            </a:r>
            <a:r>
              <a:rPr spc="55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Peluang</a:t>
            </a:r>
            <a:r>
              <a:rPr spc="5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(P)</a:t>
            </a:r>
            <a:r>
              <a:rPr spc="5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menjawab</a:t>
            </a:r>
            <a:r>
              <a:rPr spc="54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salah</a:t>
            </a:r>
            <a:r>
              <a:rPr spc="55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(S)</a:t>
            </a:r>
            <a:r>
              <a:rPr spc="58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yaitu</a:t>
            </a:r>
            <a:r>
              <a:rPr spc="57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sebersar</a:t>
            </a:r>
            <a:r>
              <a:rPr spc="55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½.</a:t>
            </a:r>
            <a:endParaRPr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ts val="2160"/>
              </a:lnSpc>
            </a:pP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Apabila</a:t>
            </a:r>
            <a:r>
              <a:rPr spc="1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jawaban</a:t>
            </a:r>
            <a:r>
              <a:rPr spc="13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benar</a:t>
            </a:r>
            <a:r>
              <a:rPr spc="1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(B)</a:t>
            </a:r>
            <a:r>
              <a:rPr spc="10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diberi</a:t>
            </a:r>
            <a:r>
              <a:rPr spc="11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tanda</a:t>
            </a:r>
            <a:r>
              <a:rPr spc="1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pc="1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dan</a:t>
            </a:r>
            <a:r>
              <a:rPr spc="10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salah</a:t>
            </a:r>
            <a:r>
              <a:rPr spc="1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(S)</a:t>
            </a:r>
            <a:r>
              <a:rPr spc="10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diberi</a:t>
            </a:r>
            <a:r>
              <a:rPr spc="1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tanda </a:t>
            </a:r>
            <a:r>
              <a:rPr spc="-43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0</a:t>
            </a:r>
            <a:r>
              <a:rPr spc="3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notasi</a:t>
            </a:r>
            <a:r>
              <a:rPr spc="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jawaban</a:t>
            </a:r>
            <a:r>
              <a:rPr spc="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dilambangkan</a:t>
            </a:r>
            <a:r>
              <a:rPr spc="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dengan</a:t>
            </a:r>
            <a:r>
              <a:rPr spc="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X,</a:t>
            </a:r>
            <a:r>
              <a:rPr spc="4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maka</a:t>
            </a:r>
            <a:r>
              <a:rPr spc="3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notasi</a:t>
            </a:r>
            <a:r>
              <a:rPr spc="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peluang</a:t>
            </a:r>
            <a:r>
              <a:rPr spc="6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yang</a:t>
            </a:r>
            <a:endParaRPr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4007" y="3871277"/>
            <a:ext cx="46596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339340" algn="l"/>
              </a:tabLst>
            </a:pP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baru</a:t>
            </a:r>
            <a:r>
              <a:rPr spc="5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adalah	untuk</a:t>
            </a:r>
            <a:r>
              <a:rPr spc="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jawaban</a:t>
            </a:r>
            <a:r>
              <a:rPr spc="3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benar</a:t>
            </a:r>
            <a:r>
              <a:rPr spc="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dan</a:t>
            </a:r>
            <a:endParaRPr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4640" y="3871277"/>
            <a:ext cx="5461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untuk</a:t>
            </a:r>
            <a:endParaRPr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4007" y="4146295"/>
            <a:ext cx="6375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jawaban</a:t>
            </a:r>
            <a:r>
              <a:rPr spc="35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salah.</a:t>
            </a:r>
            <a:r>
              <a:rPr spc="36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Apabila</a:t>
            </a:r>
            <a:r>
              <a:rPr spc="35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butir</a:t>
            </a:r>
            <a:r>
              <a:rPr spc="35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soal</a:t>
            </a:r>
            <a:r>
              <a:rPr spc="35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benar-salah</a:t>
            </a:r>
            <a:r>
              <a:rPr spc="39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yang</a:t>
            </a:r>
            <a:r>
              <a:rPr spc="3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dijawab</a:t>
            </a:r>
            <a:r>
              <a:rPr spc="35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siswa </a:t>
            </a:r>
            <a:r>
              <a:rPr spc="-43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ada</a:t>
            </a:r>
            <a:r>
              <a:rPr spc="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dua</a:t>
            </a:r>
            <a:r>
              <a:rPr spc="5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20" dirty="0">
                <a:solidFill>
                  <a:prstClr val="black"/>
                </a:solidFill>
                <a:latin typeface="Times New Roman"/>
                <a:cs typeface="Times New Roman"/>
              </a:rPr>
              <a:t>butir,</a:t>
            </a:r>
            <a:r>
              <a:rPr spc="6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maka</a:t>
            </a:r>
            <a:r>
              <a:rPr spc="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akan</a:t>
            </a:r>
            <a:r>
              <a:rPr spc="5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tejadi</a:t>
            </a:r>
            <a:r>
              <a:rPr spc="5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pasangan-pasngan</a:t>
            </a:r>
            <a:r>
              <a:rPr spc="9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yaitu</a:t>
            </a:r>
            <a:r>
              <a:rPr spc="5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BB,</a:t>
            </a:r>
            <a:r>
              <a:rPr spc="6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BS,</a:t>
            </a:r>
            <a:r>
              <a:rPr spc="5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SB,</a:t>
            </a:r>
            <a:endParaRPr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4007" y="4694491"/>
            <a:ext cx="35394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dan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SS</a:t>
            </a:r>
            <a:r>
              <a:rPr spc="-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dalam</a:t>
            </a:r>
            <a:r>
              <a:rPr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bentuk</a:t>
            </a:r>
            <a:r>
              <a:rPr spc="-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peluang</a:t>
            </a:r>
            <a:r>
              <a:rPr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didapat:</a:t>
            </a:r>
            <a:endParaRPr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4007" y="4969509"/>
            <a:ext cx="6370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Untuk</a:t>
            </a:r>
            <a:r>
              <a:rPr spc="48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jawaban</a:t>
            </a:r>
            <a:r>
              <a:rPr spc="50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benar</a:t>
            </a:r>
            <a:r>
              <a:rPr spc="50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(B)</a:t>
            </a:r>
            <a:r>
              <a:rPr spc="48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pada</a:t>
            </a:r>
            <a:r>
              <a:rPr spc="48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dua</a:t>
            </a:r>
            <a:r>
              <a:rPr spc="48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butir</a:t>
            </a:r>
            <a:r>
              <a:rPr spc="48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benar-salah</a:t>
            </a:r>
            <a:r>
              <a:rPr spc="50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dinyatakan</a:t>
            </a:r>
            <a:endParaRPr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43872" y="3954945"/>
            <a:ext cx="167005" cy="233679"/>
          </a:xfrm>
          <a:custGeom>
            <a:avLst/>
            <a:gdLst/>
            <a:ahLst/>
            <a:cxnLst/>
            <a:rect l="l" t="t" r="r" b="b"/>
            <a:pathLst>
              <a:path w="167004" h="233679">
                <a:moveTo>
                  <a:pt x="166653" y="0"/>
                </a:moveTo>
                <a:lnTo>
                  <a:pt x="0" y="233285"/>
                </a:lnTo>
              </a:path>
            </a:pathLst>
          </a:custGeom>
          <a:ln w="7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33997" y="3907678"/>
            <a:ext cx="453453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spcBef>
                <a:spcPts val="125"/>
              </a:spcBef>
              <a:tabLst>
                <a:tab pos="3560445" algn="l"/>
              </a:tabLst>
            </a:pPr>
            <a:r>
              <a:rPr sz="1200" i="1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i="1" spc="-16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325" spc="-187" baseline="-3584" dirty="0">
                <a:solidFill>
                  <a:prstClr val="black"/>
                </a:solidFill>
                <a:latin typeface="Symbol"/>
                <a:cs typeface="Symbol"/>
              </a:rPr>
              <a:t></a:t>
            </a:r>
            <a:r>
              <a:rPr sz="2325" spc="-292" baseline="-358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prstClr val="black"/>
                </a:solidFill>
                <a:latin typeface="Times New Roman"/>
                <a:cs typeface="Times New Roman"/>
              </a:rPr>
              <a:t>X </a:t>
            </a:r>
            <a:r>
              <a:rPr sz="1200" i="1" spc="-14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prstClr val="black"/>
                </a:solidFill>
                <a:latin typeface="Symbol"/>
                <a:cs typeface="Symbol"/>
              </a:rPr>
              <a:t></a:t>
            </a:r>
            <a:r>
              <a:rPr sz="1200" spc="-16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200" spc="-3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2325" spc="-187" baseline="-3584" dirty="0">
                <a:solidFill>
                  <a:prstClr val="black"/>
                </a:solidFill>
                <a:latin typeface="Symbol"/>
                <a:cs typeface="Symbol"/>
              </a:rPr>
              <a:t></a:t>
            </a:r>
            <a:r>
              <a:rPr sz="2325" baseline="-3584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i="1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i="1" spc="-240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550" spc="-125" dirty="0">
                <a:solidFill>
                  <a:prstClr val="black"/>
                </a:solidFill>
                <a:latin typeface="Symbol"/>
                <a:cs typeface="Symbol"/>
              </a:rPr>
              <a:t></a:t>
            </a:r>
            <a:r>
              <a:rPr sz="1550" spc="-19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i="1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X </a:t>
            </a:r>
            <a:r>
              <a:rPr i="1" spc="-209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aseline="4629" dirty="0">
                <a:solidFill>
                  <a:prstClr val="black"/>
                </a:solidFill>
                <a:latin typeface="Symbol"/>
                <a:cs typeface="Symbol"/>
              </a:rPr>
              <a:t></a:t>
            </a:r>
            <a:r>
              <a:rPr spc="-67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82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0</a:t>
            </a:r>
            <a:r>
              <a:rPr sz="1550" spc="-125" dirty="0">
                <a:solidFill>
                  <a:prstClr val="black"/>
                </a:solidFill>
                <a:latin typeface="Symbol"/>
                <a:cs typeface="Symbol"/>
              </a:rPr>
              <a:t></a:t>
            </a:r>
            <a:r>
              <a:rPr sz="1550" spc="-1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aseline="4629" dirty="0">
                <a:solidFill>
                  <a:prstClr val="black"/>
                </a:solidFill>
                <a:latin typeface="Symbol"/>
                <a:cs typeface="Symbol"/>
              </a:rPr>
              <a:t></a:t>
            </a:r>
            <a:r>
              <a:rPr spc="157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112" baseline="18518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baseline="-25462" dirty="0">
                <a:solidFill>
                  <a:prstClr val="black"/>
                </a:solidFill>
                <a:latin typeface="Times New Roman"/>
                <a:cs typeface="Times New Roman"/>
              </a:rPr>
              <a:t>2</a:t>
            </a:r>
            <a:endParaRPr baseline="-25462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3207" y="5243829"/>
            <a:ext cx="643763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spcBef>
                <a:spcPts val="100"/>
              </a:spcBef>
              <a:tabLst>
                <a:tab pos="4471035" algn="l"/>
              </a:tabLst>
            </a:pP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dengan</a:t>
            </a:r>
            <a:r>
              <a:rPr spc="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X,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maka</a:t>
            </a:r>
            <a:r>
              <a:rPr spc="3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50" i="1" spc="7" baseline="6410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950" i="1" spc="-254" baseline="64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550" spc="-209" baseline="3267" dirty="0">
                <a:solidFill>
                  <a:prstClr val="black"/>
                </a:solidFill>
                <a:latin typeface="Symbol"/>
                <a:cs typeface="Symbol"/>
              </a:rPr>
              <a:t></a:t>
            </a:r>
            <a:r>
              <a:rPr sz="2550" spc="-419" baseline="3267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50" i="1" spc="-22" baseline="6410" dirty="0">
                <a:solidFill>
                  <a:prstClr val="black"/>
                </a:solidFill>
                <a:latin typeface="Times New Roman"/>
                <a:cs typeface="Times New Roman"/>
              </a:rPr>
              <a:t>BB</a:t>
            </a:r>
            <a:r>
              <a:rPr sz="2550" spc="-22" baseline="3267" dirty="0">
                <a:solidFill>
                  <a:prstClr val="black"/>
                </a:solidFill>
                <a:latin typeface="Symbol"/>
                <a:cs typeface="Symbol"/>
              </a:rPr>
              <a:t></a:t>
            </a:r>
            <a:r>
              <a:rPr sz="2550" spc="-202" baseline="3267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50" spc="7" baseline="6410" dirty="0">
                <a:solidFill>
                  <a:prstClr val="black"/>
                </a:solidFill>
                <a:latin typeface="Symbol"/>
                <a:cs typeface="Symbol"/>
              </a:rPr>
              <a:t></a:t>
            </a:r>
            <a:r>
              <a:rPr sz="1950" spc="22" baseline="64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50" i="1" spc="7" baseline="6410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950" i="1" spc="-254" baseline="64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550" spc="-209" baseline="3267" dirty="0">
                <a:solidFill>
                  <a:prstClr val="black"/>
                </a:solidFill>
                <a:latin typeface="Symbol"/>
                <a:cs typeface="Symbol"/>
              </a:rPr>
              <a:t></a:t>
            </a:r>
            <a:r>
              <a:rPr sz="2550" spc="-412" baseline="3267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50" i="1" baseline="6410" dirty="0">
                <a:solidFill>
                  <a:prstClr val="black"/>
                </a:solidFill>
                <a:latin typeface="Times New Roman"/>
                <a:cs typeface="Times New Roman"/>
              </a:rPr>
              <a:t>BS</a:t>
            </a:r>
            <a:r>
              <a:rPr sz="1950" i="1" spc="-202" baseline="64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550" spc="-209" baseline="3267" dirty="0">
                <a:solidFill>
                  <a:prstClr val="black"/>
                </a:solidFill>
                <a:latin typeface="Symbol"/>
                <a:cs typeface="Symbol"/>
              </a:rPr>
              <a:t></a:t>
            </a:r>
            <a:r>
              <a:rPr sz="2550" spc="-202" baseline="3267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50" spc="7" baseline="6410" dirty="0">
                <a:solidFill>
                  <a:prstClr val="black"/>
                </a:solidFill>
                <a:latin typeface="Symbol"/>
                <a:cs typeface="Symbol"/>
              </a:rPr>
              <a:t></a:t>
            </a:r>
            <a:r>
              <a:rPr sz="1950" spc="15" baseline="64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50" i="1" spc="7" baseline="6410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950" i="1" spc="-240" baseline="64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550" spc="-15" baseline="3267" dirty="0">
                <a:solidFill>
                  <a:prstClr val="black"/>
                </a:solidFill>
                <a:latin typeface="Symbol"/>
                <a:cs typeface="Symbol"/>
              </a:rPr>
              <a:t></a:t>
            </a:r>
            <a:r>
              <a:rPr sz="1950" i="1" spc="-15" baseline="6410" dirty="0">
                <a:solidFill>
                  <a:prstClr val="black"/>
                </a:solidFill>
                <a:latin typeface="Times New Roman"/>
                <a:cs typeface="Times New Roman"/>
              </a:rPr>
              <a:t>S	</a:t>
            </a:r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endParaRPr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3500"/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Secara</a:t>
            </a:r>
            <a:r>
              <a:rPr spc="2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visual</a:t>
            </a:r>
            <a:r>
              <a:rPr spc="2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frekuensi</a:t>
            </a:r>
            <a:r>
              <a:rPr spc="25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jawaban</a:t>
            </a:r>
            <a:r>
              <a:rPr spc="25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benar</a:t>
            </a:r>
            <a:r>
              <a:rPr spc="25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dapat</a:t>
            </a:r>
            <a:r>
              <a:rPr spc="2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disusun</a:t>
            </a:r>
            <a:r>
              <a:rPr spc="2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dalam</a:t>
            </a:r>
            <a:r>
              <a:rPr spc="2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bentuk</a:t>
            </a:r>
            <a:endParaRPr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3500"/>
            <a:r>
              <a:rPr dirty="0">
                <a:solidFill>
                  <a:prstClr val="black"/>
                </a:solidFill>
                <a:latin typeface="Times New Roman"/>
                <a:cs typeface="Times New Roman"/>
              </a:rPr>
              <a:t>tabel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sebagai</a:t>
            </a:r>
            <a:r>
              <a:rPr spc="-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prstClr val="black"/>
                </a:solidFill>
                <a:latin typeface="Times New Roman"/>
                <a:cs typeface="Times New Roman"/>
              </a:rPr>
              <a:t>berikut:</a:t>
            </a:r>
            <a:endParaRPr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33820" y="4766966"/>
            <a:ext cx="9169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i="1" dirty="0">
                <a:solidFill>
                  <a:prstClr val="black"/>
                </a:solidFill>
                <a:latin typeface="Times New Roman"/>
                <a:cs typeface="Times New Roman"/>
              </a:rPr>
              <a:t>X </a:t>
            </a:r>
            <a:r>
              <a:rPr sz="1200" i="1" spc="-14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prstClr val="black"/>
                </a:solidFill>
                <a:latin typeface="Symbol"/>
                <a:cs typeface="Symbol"/>
              </a:rPr>
              <a:t></a:t>
            </a:r>
            <a:r>
              <a:rPr sz="1200" spc="-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prstClr val="black"/>
                </a:solidFill>
                <a:latin typeface="Times New Roman"/>
                <a:cs typeface="Times New Roman"/>
              </a:rPr>
              <a:t>0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,</a:t>
            </a:r>
            <a:r>
              <a:rPr sz="1200" spc="-6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prstClr val="black"/>
                </a:solidFill>
                <a:latin typeface="Times New Roman"/>
                <a:cs typeface="Times New Roman"/>
              </a:rPr>
              <a:t>X </a:t>
            </a:r>
            <a:r>
              <a:rPr sz="1200" i="1" spc="-14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prstClr val="black"/>
                </a:solidFill>
                <a:latin typeface="Symbol"/>
                <a:cs typeface="Symbol"/>
              </a:rPr>
              <a:t></a:t>
            </a:r>
            <a:r>
              <a:rPr sz="1200" spc="-16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200" spc="-114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,</a:t>
            </a:r>
            <a:r>
              <a:rPr sz="1200" spc="-6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60540" y="2123439"/>
            <a:ext cx="4709159" cy="1432560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7786041" y="4666033"/>
            <a:ext cx="90805" cy="0"/>
          </a:xfrm>
          <a:custGeom>
            <a:avLst/>
            <a:gdLst/>
            <a:ahLst/>
            <a:cxnLst/>
            <a:rect l="l" t="t" r="r" b="b"/>
            <a:pathLst>
              <a:path w="90804">
                <a:moveTo>
                  <a:pt x="0" y="0"/>
                </a:moveTo>
                <a:lnTo>
                  <a:pt x="90477" y="0"/>
                </a:lnTo>
              </a:path>
            </a:pathLst>
          </a:custGeom>
          <a:ln w="75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678984" y="4666033"/>
            <a:ext cx="90805" cy="0"/>
          </a:xfrm>
          <a:custGeom>
            <a:avLst/>
            <a:gdLst/>
            <a:ahLst/>
            <a:cxnLst/>
            <a:rect l="l" t="t" r="r" b="b"/>
            <a:pathLst>
              <a:path w="90804">
                <a:moveTo>
                  <a:pt x="0" y="0"/>
                </a:moveTo>
                <a:lnTo>
                  <a:pt x="90477" y="0"/>
                </a:lnTo>
              </a:path>
            </a:pathLst>
          </a:custGeom>
          <a:ln w="75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869589" y="4666034"/>
            <a:ext cx="90805" cy="0"/>
          </a:xfrm>
          <a:custGeom>
            <a:avLst/>
            <a:gdLst/>
            <a:ahLst/>
            <a:cxnLst/>
            <a:rect l="l" t="t" r="r" b="b"/>
            <a:pathLst>
              <a:path w="90804">
                <a:moveTo>
                  <a:pt x="0" y="0"/>
                </a:moveTo>
                <a:lnTo>
                  <a:pt x="90477" y="0"/>
                </a:lnTo>
              </a:path>
            </a:pathLst>
          </a:custGeom>
          <a:ln w="75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71918" y="3465195"/>
            <a:ext cx="4761230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spcBef>
                <a:spcPts val="100"/>
              </a:spcBef>
            </a:pPr>
            <a:r>
              <a:rPr sz="1600" dirty="0">
                <a:solidFill>
                  <a:prstClr val="black"/>
                </a:solidFill>
                <a:latin typeface="Times New Roman"/>
                <a:cs typeface="Times New Roman"/>
              </a:rPr>
              <a:t>Ditinjau dari jawaban </a:t>
            </a:r>
            <a:r>
              <a:rPr sz="1600" spc="-10" dirty="0">
                <a:solidFill>
                  <a:prstClr val="black"/>
                </a:solidFill>
                <a:latin typeface="Times New Roman"/>
                <a:cs typeface="Times New Roman"/>
              </a:rPr>
              <a:t>benar, </a:t>
            </a:r>
            <a:r>
              <a:rPr sz="1600" dirty="0">
                <a:solidFill>
                  <a:prstClr val="black"/>
                </a:solidFill>
                <a:latin typeface="Times New Roman"/>
                <a:cs typeface="Times New Roman"/>
              </a:rPr>
              <a:t>terdapat 0, 1, dan 2, </a:t>
            </a:r>
            <a:r>
              <a:rPr sz="1600" spc="-10" dirty="0">
                <a:solidFill>
                  <a:prstClr val="black"/>
                </a:solidFill>
                <a:latin typeface="Times New Roman"/>
                <a:cs typeface="Times New Roman"/>
              </a:rPr>
              <a:t>masing- </a:t>
            </a:r>
            <a:r>
              <a:rPr sz="1600" spc="-38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prstClr val="black"/>
                </a:solidFill>
                <a:latin typeface="Times New Roman"/>
                <a:cs typeface="Times New Roman"/>
              </a:rPr>
              <a:t>masing</a:t>
            </a:r>
            <a:r>
              <a:rPr sz="1600" spc="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prstClr val="black"/>
                </a:solidFill>
                <a:latin typeface="Times New Roman"/>
                <a:cs typeface="Times New Roman"/>
              </a:rPr>
              <a:t>frekuensi</a:t>
            </a:r>
            <a:r>
              <a:rPr sz="1600" spc="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prstClr val="black"/>
                </a:solidFill>
                <a:latin typeface="Times New Roman"/>
                <a:cs typeface="Times New Roman"/>
              </a:rPr>
              <a:t>jawaban</a:t>
            </a:r>
            <a:r>
              <a:rPr sz="1600" spc="-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prstClr val="black"/>
                </a:solidFill>
                <a:latin typeface="Times New Roman"/>
                <a:cs typeface="Times New Roman"/>
              </a:rPr>
              <a:t>benar</a:t>
            </a:r>
            <a:r>
              <a:rPr sz="1600" spc="-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prstClr val="black"/>
                </a:solidFill>
                <a:latin typeface="Times New Roman"/>
                <a:cs typeface="Times New Roman"/>
              </a:rPr>
              <a:t>(B)</a:t>
            </a:r>
            <a:r>
              <a:rPr sz="160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prstClr val="black"/>
                </a:solidFill>
                <a:latin typeface="Times New Roman"/>
                <a:cs typeface="Times New Roman"/>
              </a:rPr>
              <a:t>skor</a:t>
            </a:r>
            <a:r>
              <a:rPr sz="1600" spc="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prstClr val="black"/>
                </a:solidFill>
                <a:latin typeface="Times New Roman"/>
                <a:cs typeface="Times New Roman"/>
              </a:rPr>
              <a:t>=</a:t>
            </a:r>
            <a:r>
              <a:rPr sz="1600" spc="-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prstClr val="black"/>
                </a:solidFill>
                <a:latin typeface="Times New Roman"/>
                <a:cs typeface="Times New Roman"/>
              </a:rPr>
              <a:t>0</a:t>
            </a:r>
            <a:r>
              <a:rPr sz="1600" spc="-5" dirty="0">
                <a:solidFill>
                  <a:prstClr val="black"/>
                </a:solidFill>
                <a:latin typeface="Times New Roman"/>
                <a:cs typeface="Times New Roman"/>
              </a:rPr>
              <a:t> sebanyak</a:t>
            </a:r>
            <a:r>
              <a:rPr sz="1600" spc="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prstClr val="black"/>
                </a:solidFill>
                <a:latin typeface="Times New Roman"/>
                <a:cs typeface="Times New Roman"/>
              </a:rPr>
              <a:t>1, </a:t>
            </a:r>
            <a:r>
              <a:rPr sz="1600" spc="-38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prstClr val="black"/>
                </a:solidFill>
                <a:latin typeface="Times New Roman"/>
                <a:cs typeface="Times New Roman"/>
              </a:rPr>
              <a:t>skor</a:t>
            </a:r>
            <a:r>
              <a:rPr sz="1600" spc="4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prstClr val="black"/>
                </a:solidFill>
                <a:latin typeface="Times New Roman"/>
                <a:cs typeface="Times New Roman"/>
              </a:rPr>
              <a:t>= 1</a:t>
            </a:r>
            <a:r>
              <a:rPr sz="1600" spc="-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prstClr val="black"/>
                </a:solidFill>
                <a:latin typeface="Times New Roman"/>
                <a:cs typeface="Times New Roman"/>
              </a:rPr>
              <a:t>sebanyak</a:t>
            </a:r>
            <a:r>
              <a:rPr sz="1600" spc="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prstClr val="black"/>
                </a:solidFill>
                <a:latin typeface="Times New Roman"/>
                <a:cs typeface="Times New Roman"/>
              </a:rPr>
              <a:t>2, dan</a:t>
            </a:r>
            <a:r>
              <a:rPr sz="1600" spc="-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prstClr val="black"/>
                </a:solidFill>
                <a:latin typeface="Times New Roman"/>
                <a:cs typeface="Times New Roman"/>
              </a:rPr>
              <a:t>skor</a:t>
            </a:r>
            <a:r>
              <a:rPr sz="1600" spc="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prstClr val="black"/>
                </a:solidFill>
                <a:latin typeface="Times New Roman"/>
                <a:cs typeface="Times New Roman"/>
              </a:rPr>
              <a:t>= 2</a:t>
            </a:r>
            <a:r>
              <a:rPr sz="1600" spc="-5" dirty="0">
                <a:solidFill>
                  <a:prstClr val="black"/>
                </a:solidFill>
                <a:latin typeface="Times New Roman"/>
                <a:cs typeface="Times New Roman"/>
              </a:rPr>
              <a:t> sebanyak</a:t>
            </a:r>
            <a:r>
              <a:rPr sz="1600" spc="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prstClr val="black"/>
                </a:solidFill>
                <a:latin typeface="Times New Roman"/>
                <a:cs typeface="Times New Roman"/>
              </a:rPr>
              <a:t>2. Dalam </a:t>
            </a:r>
            <a:r>
              <a:rPr sz="1600"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prstClr val="black"/>
                </a:solidFill>
                <a:latin typeface="Times New Roman"/>
                <a:cs typeface="Times New Roman"/>
              </a:rPr>
              <a:t>bentuk</a:t>
            </a:r>
            <a:r>
              <a:rPr sz="1600" spc="-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prstClr val="black"/>
                </a:solidFill>
                <a:latin typeface="Times New Roman"/>
                <a:cs typeface="Times New Roman"/>
              </a:rPr>
              <a:t>peluang terdapat</a:t>
            </a:r>
            <a:endParaRPr sz="1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8580">
              <a:lnSpc>
                <a:spcPts val="1635"/>
              </a:lnSpc>
              <a:spcBef>
                <a:spcPts val="509"/>
              </a:spcBef>
            </a:pPr>
            <a:r>
              <a:rPr i="1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i="1" spc="-240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550" spc="-125" dirty="0">
                <a:solidFill>
                  <a:prstClr val="black"/>
                </a:solidFill>
                <a:latin typeface="Symbol"/>
                <a:cs typeface="Symbol"/>
              </a:rPr>
              <a:t></a:t>
            </a:r>
            <a:r>
              <a:rPr sz="1550" spc="-19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i="1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X </a:t>
            </a:r>
            <a:r>
              <a:rPr i="1" spc="-209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aseline="4629" dirty="0">
                <a:solidFill>
                  <a:prstClr val="black"/>
                </a:solidFill>
                <a:latin typeface="Symbol"/>
                <a:cs typeface="Symbol"/>
              </a:rPr>
              <a:t></a:t>
            </a:r>
            <a:r>
              <a:rPr spc="-67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82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0</a:t>
            </a:r>
            <a:r>
              <a:rPr sz="1550" spc="-125" dirty="0">
                <a:solidFill>
                  <a:prstClr val="black"/>
                </a:solidFill>
                <a:latin typeface="Symbol"/>
                <a:cs typeface="Symbol"/>
              </a:rPr>
              <a:t></a:t>
            </a:r>
            <a:r>
              <a:rPr sz="1550" spc="-1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aseline="4629" dirty="0">
                <a:solidFill>
                  <a:prstClr val="black"/>
                </a:solidFill>
                <a:latin typeface="Symbol"/>
                <a:cs typeface="Symbol"/>
              </a:rPr>
              <a:t></a:t>
            </a:r>
            <a:r>
              <a:rPr spc="75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aseline="39351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pc="-120" baseline="39351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aseline="4629" dirty="0">
                <a:solidFill>
                  <a:prstClr val="black"/>
                </a:solidFill>
                <a:latin typeface="Times New Roman"/>
                <a:cs typeface="Times New Roman"/>
              </a:rPr>
              <a:t>,</a:t>
            </a:r>
            <a:r>
              <a:rPr spc="-172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i="1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i="1" spc="-232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550" spc="-125" dirty="0">
                <a:solidFill>
                  <a:prstClr val="black"/>
                </a:solidFill>
                <a:latin typeface="Symbol"/>
                <a:cs typeface="Symbol"/>
              </a:rPr>
              <a:t></a:t>
            </a:r>
            <a:r>
              <a:rPr sz="1550" spc="-20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i="1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X </a:t>
            </a:r>
            <a:r>
              <a:rPr i="1" spc="-209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aseline="4629" dirty="0">
                <a:solidFill>
                  <a:prstClr val="black"/>
                </a:solidFill>
                <a:latin typeface="Symbol"/>
                <a:cs typeface="Symbol"/>
              </a:rPr>
              <a:t></a:t>
            </a:r>
            <a:r>
              <a:rPr spc="-240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-52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550" spc="-125" dirty="0">
                <a:solidFill>
                  <a:prstClr val="black"/>
                </a:solidFill>
                <a:latin typeface="Symbol"/>
                <a:cs typeface="Symbol"/>
              </a:rPr>
              <a:t></a:t>
            </a:r>
            <a:r>
              <a:rPr sz="1550" spc="-13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aseline="4629" dirty="0">
                <a:solidFill>
                  <a:prstClr val="black"/>
                </a:solidFill>
                <a:latin typeface="Symbol"/>
                <a:cs typeface="Symbol"/>
              </a:rPr>
              <a:t></a:t>
            </a:r>
            <a:r>
              <a:rPr spc="104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aseline="39351" dirty="0">
                <a:solidFill>
                  <a:prstClr val="black"/>
                </a:solidFill>
                <a:latin typeface="Times New Roman"/>
                <a:cs typeface="Times New Roman"/>
              </a:rPr>
              <a:t>2</a:t>
            </a:r>
            <a:r>
              <a:rPr spc="-150" baseline="39351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aseline="4629" dirty="0">
                <a:solidFill>
                  <a:prstClr val="black"/>
                </a:solidFill>
                <a:latin typeface="Times New Roman"/>
                <a:cs typeface="Times New Roman"/>
              </a:rPr>
              <a:t>,</a:t>
            </a:r>
            <a:r>
              <a:rPr spc="-232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i="1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i="1" spc="-15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a</a:t>
            </a:r>
            <a:r>
              <a:rPr i="1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i="1" spc="75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i="1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i="1" spc="-232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550" spc="-125" dirty="0">
                <a:solidFill>
                  <a:prstClr val="black"/>
                </a:solidFill>
                <a:latin typeface="Symbol"/>
                <a:cs typeface="Symbol"/>
              </a:rPr>
              <a:t></a:t>
            </a:r>
            <a:r>
              <a:rPr sz="1550" spc="-20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i="1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X </a:t>
            </a:r>
            <a:r>
              <a:rPr i="1" spc="-202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aseline="4629" dirty="0">
                <a:solidFill>
                  <a:prstClr val="black"/>
                </a:solidFill>
                <a:latin typeface="Symbol"/>
                <a:cs typeface="Symbol"/>
              </a:rPr>
              <a:t></a:t>
            </a:r>
            <a:r>
              <a:rPr spc="-44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97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2</a:t>
            </a:r>
            <a:r>
              <a:rPr sz="1550" spc="-125" dirty="0">
                <a:solidFill>
                  <a:prstClr val="black"/>
                </a:solidFill>
                <a:latin typeface="Symbol"/>
                <a:cs typeface="Symbol"/>
              </a:rPr>
              <a:t></a:t>
            </a:r>
            <a:r>
              <a:rPr sz="1550" spc="-13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aseline="4629" dirty="0">
                <a:solidFill>
                  <a:prstClr val="black"/>
                </a:solidFill>
                <a:latin typeface="Symbol"/>
                <a:cs typeface="Symbol"/>
              </a:rPr>
              <a:t></a:t>
            </a:r>
            <a:r>
              <a:rPr spc="75" baseline="46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aseline="39351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endParaRPr baseline="39351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8100">
              <a:lnSpc>
                <a:spcPts val="1695"/>
              </a:lnSpc>
            </a:pPr>
            <a:r>
              <a:rPr sz="1600" spc="-5" dirty="0">
                <a:solidFill>
                  <a:prstClr val="black"/>
                </a:solidFill>
                <a:latin typeface="Times New Roman"/>
                <a:cs typeface="Times New Roman"/>
              </a:rPr>
              <a:t>Dengan</a:t>
            </a:r>
            <a:r>
              <a:rPr sz="1600"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spc="-95" dirty="0">
                <a:solidFill>
                  <a:prstClr val="black"/>
                </a:solidFill>
                <a:latin typeface="Times New Roman"/>
                <a:cs typeface="Times New Roman"/>
              </a:rPr>
              <a:t>vi</a:t>
            </a:r>
            <a:r>
              <a:rPr spc="-142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4</a:t>
            </a:r>
            <a:r>
              <a:rPr sz="1600" spc="-95" dirty="0">
                <a:solidFill>
                  <a:prstClr val="black"/>
                </a:solidFill>
                <a:latin typeface="Times New Roman"/>
                <a:cs typeface="Times New Roman"/>
              </a:rPr>
              <a:t>sual</a:t>
            </a:r>
            <a:r>
              <a:rPr sz="1600" spc="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spc="-75" dirty="0">
                <a:solidFill>
                  <a:prstClr val="black"/>
                </a:solidFill>
                <a:latin typeface="Times New Roman"/>
                <a:cs typeface="Times New Roman"/>
              </a:rPr>
              <a:t>peluan</a:t>
            </a:r>
            <a:r>
              <a:rPr spc="-112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4</a:t>
            </a:r>
            <a:r>
              <a:rPr sz="1600" spc="-75" dirty="0">
                <a:solidFill>
                  <a:prstClr val="black"/>
                </a:solidFill>
                <a:latin typeface="Times New Roman"/>
                <a:cs typeface="Times New Roman"/>
              </a:rPr>
              <a:t>g</a:t>
            </a:r>
            <a:r>
              <a:rPr sz="1600" spc="-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spc="-60" dirty="0">
                <a:solidFill>
                  <a:prstClr val="black"/>
                </a:solidFill>
                <a:latin typeface="Times New Roman"/>
                <a:cs typeface="Times New Roman"/>
              </a:rPr>
              <a:t>kemungkina</a:t>
            </a:r>
            <a:r>
              <a:rPr spc="-89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4</a:t>
            </a:r>
            <a:r>
              <a:rPr sz="1600" spc="-60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sz="1600" spc="10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prstClr val="black"/>
                </a:solidFill>
                <a:latin typeface="Times New Roman"/>
                <a:cs typeface="Times New Roman"/>
              </a:rPr>
              <a:t>yang</a:t>
            </a:r>
            <a:r>
              <a:rPr sz="1600" spc="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prstClr val="black"/>
                </a:solidFill>
                <a:latin typeface="Times New Roman"/>
                <a:cs typeface="Times New Roman"/>
              </a:rPr>
              <a:t>terjadinya</a:t>
            </a:r>
            <a:endParaRPr sz="1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8100">
              <a:spcBef>
                <a:spcPts val="5"/>
              </a:spcBef>
            </a:pPr>
            <a:r>
              <a:rPr sz="1600" spc="-5" dirty="0">
                <a:solidFill>
                  <a:prstClr val="black"/>
                </a:solidFill>
                <a:latin typeface="Times New Roman"/>
                <a:cs typeface="Times New Roman"/>
              </a:rPr>
              <a:t>pasangan</a:t>
            </a:r>
            <a:r>
              <a:rPr sz="1600" spc="-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prstClr val="black"/>
                </a:solidFill>
                <a:latin typeface="Times New Roman"/>
                <a:cs typeface="Times New Roman"/>
              </a:rPr>
              <a:t>jawaban</a:t>
            </a:r>
            <a:r>
              <a:rPr sz="1600" spc="-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prstClr val="black"/>
                </a:solidFill>
                <a:latin typeface="Times New Roman"/>
                <a:cs typeface="Times New Roman"/>
              </a:rPr>
              <a:t>benar</a:t>
            </a:r>
            <a:r>
              <a:rPr sz="1600" spc="-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prstClr val="black"/>
                </a:solidFill>
                <a:latin typeface="Times New Roman"/>
                <a:cs typeface="Times New Roman"/>
              </a:rPr>
              <a:t>adalah:</a:t>
            </a:r>
            <a:endParaRPr sz="16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45119" y="5209540"/>
            <a:ext cx="2903220" cy="138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14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DISTRIBUSI PELUANG SERAGAM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603" y="1953595"/>
            <a:ext cx="10426506" cy="322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03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CONTOH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51" y="1288906"/>
            <a:ext cx="10416862" cy="24795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26" y="4148513"/>
            <a:ext cx="9802092" cy="285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645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DISTRIBUSI PELUANG BINOMIAL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33" y="1982508"/>
            <a:ext cx="9264532" cy="332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26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524" y="1027905"/>
            <a:ext cx="10853648" cy="401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482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125"/>
            <a:ext cx="10431607" cy="57638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33905"/>
            <a:ext cx="10304452" cy="139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41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447" y="624823"/>
            <a:ext cx="7354754" cy="37402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" y="4552274"/>
            <a:ext cx="7035649" cy="209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04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DISTRIBUSI PELUANG POISSON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14" y="1825625"/>
            <a:ext cx="9406803" cy="30757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47" y="5043949"/>
            <a:ext cx="11244653" cy="99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022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09" y="1145738"/>
            <a:ext cx="6994536" cy="355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281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8" y="616252"/>
            <a:ext cx="8174860" cy="22654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8" y="3132872"/>
            <a:ext cx="7508730" cy="310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461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TERIMA KASIH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269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305</Words>
  <Application>Microsoft Office PowerPoint</Application>
  <PresentationFormat>Widescreen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Georgia</vt:lpstr>
      <vt:lpstr>Impact</vt:lpstr>
      <vt:lpstr>Symbol</vt:lpstr>
      <vt:lpstr>Times New Roman</vt:lpstr>
      <vt:lpstr>Office Theme</vt:lpstr>
      <vt:lpstr>1_Office Theme</vt:lpstr>
      <vt:lpstr>BAB VII DISTRIBUSI PELUANG</vt:lpstr>
      <vt:lpstr>CAPAIAN PEMBELAJARAN</vt:lpstr>
      <vt:lpstr>DISTRIBUSI PELUANG</vt:lpstr>
      <vt:lpstr>1. DISTRIBUSI PELUANG SERAGAM</vt:lpstr>
      <vt:lpstr>CONTOH</vt:lpstr>
      <vt:lpstr>2. DISTRIBUSI PELUANG BINOMIAL</vt:lpstr>
      <vt:lpstr> </vt:lpstr>
      <vt:lpstr> </vt:lpstr>
      <vt:lpstr> </vt:lpstr>
      <vt:lpstr>3. DISTRIBUSI PELUANG POISSON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VII PELUANG KEJADIAN</dc:title>
  <dc:creator>Windows User</dc:creator>
  <cp:lastModifiedBy>Windows User</cp:lastModifiedBy>
  <cp:revision>12</cp:revision>
  <dcterms:created xsi:type="dcterms:W3CDTF">2022-10-27T23:53:44Z</dcterms:created>
  <dcterms:modified xsi:type="dcterms:W3CDTF">2022-10-28T00:57:57Z</dcterms:modified>
</cp:coreProperties>
</file>